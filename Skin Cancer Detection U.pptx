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8" r:id="rId2"/>
    <p:sldId id="280" r:id="rId3"/>
    <p:sldId id="281" r:id="rId4"/>
    <p:sldId id="257" r:id="rId5"/>
    <p:sldId id="258" r:id="rId6"/>
    <p:sldId id="261" r:id="rId7"/>
    <p:sldId id="259" r:id="rId8"/>
    <p:sldId id="268" r:id="rId9"/>
    <p:sldId id="287" r:id="rId10"/>
    <p:sldId id="262" r:id="rId11"/>
    <p:sldId id="263" r:id="rId12"/>
    <p:sldId id="264" r:id="rId13"/>
    <p:sldId id="284" r:id="rId14"/>
    <p:sldId id="283" r:id="rId15"/>
    <p:sldId id="265" r:id="rId16"/>
    <p:sldId id="266" r:id="rId17"/>
    <p:sldId id="285" r:id="rId18"/>
    <p:sldId id="28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C82C1F-3E3A-469A-814F-FF5639AEA8EF}" v="5" dt="2026-06-10T16:29:20.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 gowda" userId="b03ce751c8503c45" providerId="LiveId" clId="{A255DAA9-5AEC-43B7-811C-AF78A558783E}"/>
    <pc:docChg chg="undo custSel delSld modSld">
      <pc:chgData name="jayanth gowda" userId="b03ce751c8503c45" providerId="LiveId" clId="{A255DAA9-5AEC-43B7-811C-AF78A558783E}" dt="2026-06-10T16:29:40.401" v="105" actId="27636"/>
      <pc:docMkLst>
        <pc:docMk/>
      </pc:docMkLst>
      <pc:sldChg chg="del">
        <pc:chgData name="jayanth gowda" userId="b03ce751c8503c45" providerId="LiveId" clId="{A255DAA9-5AEC-43B7-811C-AF78A558783E}" dt="2026-06-10T16:21:46.538" v="4" actId="47"/>
        <pc:sldMkLst>
          <pc:docMk/>
          <pc:sldMk cId="930039963" sldId="282"/>
        </pc:sldMkLst>
      </pc:sldChg>
      <pc:sldChg chg="addSp delSp modSp mod">
        <pc:chgData name="jayanth gowda" userId="b03ce751c8503c45" providerId="LiveId" clId="{A255DAA9-5AEC-43B7-811C-AF78A558783E}" dt="2026-06-10T16:22:21.615" v="10" actId="20577"/>
        <pc:sldMkLst>
          <pc:docMk/>
          <pc:sldMk cId="1927664620" sldId="283"/>
        </pc:sldMkLst>
        <pc:spChg chg="mod">
          <ac:chgData name="jayanth gowda" userId="b03ce751c8503c45" providerId="LiveId" clId="{A255DAA9-5AEC-43B7-811C-AF78A558783E}" dt="2026-06-10T16:22:21.615" v="10" actId="20577"/>
          <ac:spMkLst>
            <pc:docMk/>
            <pc:sldMk cId="1927664620" sldId="283"/>
            <ac:spMk id="2" creationId="{E381A2F3-8C74-CAEE-C279-A99D92C7DE76}"/>
          </ac:spMkLst>
        </pc:spChg>
        <pc:spChg chg="add del mod">
          <ac:chgData name="jayanth gowda" userId="b03ce751c8503c45" providerId="LiveId" clId="{A255DAA9-5AEC-43B7-811C-AF78A558783E}" dt="2026-06-10T16:22:13.786" v="8" actId="931"/>
          <ac:spMkLst>
            <pc:docMk/>
            <pc:sldMk cId="1927664620" sldId="283"/>
            <ac:spMk id="4" creationId="{35A69267-368A-023A-D6F1-D1BB5DD8DC32}"/>
          </ac:spMkLst>
        </pc:spChg>
        <pc:picChg chg="add mod ord">
          <ac:chgData name="jayanth gowda" userId="b03ce751c8503c45" providerId="LiveId" clId="{A255DAA9-5AEC-43B7-811C-AF78A558783E}" dt="2026-06-10T16:22:16.114" v="9" actId="1076"/>
          <ac:picMkLst>
            <pc:docMk/>
            <pc:sldMk cId="1927664620" sldId="283"/>
            <ac:picMk id="6" creationId="{7EB9EECD-2296-5638-851C-8A4549610C09}"/>
          </ac:picMkLst>
        </pc:picChg>
        <pc:picChg chg="del">
          <ac:chgData name="jayanth gowda" userId="b03ce751c8503c45" providerId="LiveId" clId="{A255DAA9-5AEC-43B7-811C-AF78A558783E}" dt="2026-06-10T16:21:50.575" v="5" actId="478"/>
          <ac:picMkLst>
            <pc:docMk/>
            <pc:sldMk cId="1927664620" sldId="283"/>
            <ac:picMk id="17" creationId="{6EDA520F-798B-643E-4A51-1ACA7AD84201}"/>
          </ac:picMkLst>
        </pc:picChg>
        <pc:picChg chg="del">
          <ac:chgData name="jayanth gowda" userId="b03ce751c8503c45" providerId="LiveId" clId="{A255DAA9-5AEC-43B7-811C-AF78A558783E}" dt="2026-06-10T16:21:54.514" v="6" actId="478"/>
          <ac:picMkLst>
            <pc:docMk/>
            <pc:sldMk cId="1927664620" sldId="283"/>
            <ac:picMk id="19" creationId="{026145FF-853B-7584-8A3A-148166279E31}"/>
          </ac:picMkLst>
        </pc:picChg>
        <pc:picChg chg="del">
          <ac:chgData name="jayanth gowda" userId="b03ce751c8503c45" providerId="LiveId" clId="{A255DAA9-5AEC-43B7-811C-AF78A558783E}" dt="2026-06-10T16:22:04.793" v="7" actId="478"/>
          <ac:picMkLst>
            <pc:docMk/>
            <pc:sldMk cId="1927664620" sldId="283"/>
            <ac:picMk id="21" creationId="{78FE3712-4338-4264-4BDB-8A492314AC7C}"/>
          </ac:picMkLst>
        </pc:picChg>
      </pc:sldChg>
      <pc:sldChg chg="modSp mod">
        <pc:chgData name="jayanth gowda" userId="b03ce751c8503c45" providerId="LiveId" clId="{A255DAA9-5AEC-43B7-811C-AF78A558783E}" dt="2026-06-10T16:29:40.401" v="105" actId="27636"/>
        <pc:sldMkLst>
          <pc:docMk/>
          <pc:sldMk cId="2060128412" sldId="285"/>
        </pc:sldMkLst>
        <pc:spChg chg="mod">
          <ac:chgData name="jayanth gowda" userId="b03ce751c8503c45" providerId="LiveId" clId="{A255DAA9-5AEC-43B7-811C-AF78A558783E}" dt="2026-06-10T16:29:40.401" v="105" actId="27636"/>
          <ac:spMkLst>
            <pc:docMk/>
            <pc:sldMk cId="2060128412" sldId="285"/>
            <ac:spMk id="3" creationId="{F352F8C2-412A-1217-9E85-32CDEAF46E9D}"/>
          </ac:spMkLst>
        </pc:spChg>
      </pc:sldChg>
      <pc:sldChg chg="addSp delSp modSp mod">
        <pc:chgData name="jayanth gowda" userId="b03ce751c8503c45" providerId="LiveId" clId="{A255DAA9-5AEC-43B7-811C-AF78A558783E}" dt="2026-06-10T16:21:36.840" v="3" actId="1036"/>
        <pc:sldMkLst>
          <pc:docMk/>
          <pc:sldMk cId="2593492646" sldId="287"/>
        </pc:sldMkLst>
        <pc:spChg chg="add del mod">
          <ac:chgData name="jayanth gowda" userId="b03ce751c8503c45" providerId="LiveId" clId="{A255DAA9-5AEC-43B7-811C-AF78A558783E}" dt="2026-06-10T16:21:32.337" v="1" actId="931"/>
          <ac:spMkLst>
            <pc:docMk/>
            <pc:sldMk cId="2593492646" sldId="287"/>
            <ac:spMk id="4" creationId="{7BB1959B-05CB-D4A6-0860-86BD449A1CCD}"/>
          </ac:spMkLst>
        </pc:spChg>
        <pc:picChg chg="del">
          <ac:chgData name="jayanth gowda" userId="b03ce751c8503c45" providerId="LiveId" clId="{A255DAA9-5AEC-43B7-811C-AF78A558783E}" dt="2026-06-10T16:21:02.917" v="0" actId="478"/>
          <ac:picMkLst>
            <pc:docMk/>
            <pc:sldMk cId="2593492646" sldId="287"/>
            <ac:picMk id="5" creationId="{8A8E34BB-02AF-734C-BA4B-CB3D746708DC}"/>
          </ac:picMkLst>
        </pc:picChg>
        <pc:picChg chg="add mod ord">
          <ac:chgData name="jayanth gowda" userId="b03ce751c8503c45" providerId="LiveId" clId="{A255DAA9-5AEC-43B7-811C-AF78A558783E}" dt="2026-06-10T16:21:36.840" v="3" actId="1036"/>
          <ac:picMkLst>
            <pc:docMk/>
            <pc:sldMk cId="2593492646" sldId="287"/>
            <ac:picMk id="7" creationId="{F1D9CAD7-1B96-B37C-16A8-42C5E73175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6C0F07-511A-497C-84B1-DA14B7A2B2CD}" type="datetimeFigureOut">
              <a:rPr lang="en-US" smtClean="0"/>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E1FB32-6FCB-48BE-A4B6-A0508FB6E0A8}" type="slidenum">
              <a:rPr lang="en-US" smtClean="0"/>
              <a:t>‹#›</a:t>
            </a:fld>
            <a:endParaRPr lang="en-US"/>
          </a:p>
        </p:txBody>
      </p:sp>
    </p:spTree>
    <p:extLst>
      <p:ext uri="{BB962C8B-B14F-4D97-AF65-F5344CB8AC3E}">
        <p14:creationId xmlns:p14="http://schemas.microsoft.com/office/powerpoint/2010/main" val="2011224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8370CB03-6079-2691-554E-C895FCE8EB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81ABBCB3-C07C-C2F9-F4AD-CBE6AAE2CC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0964" name="Slide Number Placeholder 3">
            <a:extLst>
              <a:ext uri="{FF2B5EF4-FFF2-40B4-BE49-F238E27FC236}">
                <a16:creationId xmlns:a16="http://schemas.microsoft.com/office/drawing/2014/main" id="{3D190D53-853B-1342-83FB-F98B9B263F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Nobel-Book"/>
                <a:ea typeface="レクサスロダン Pro L"/>
                <a:cs typeface="レクサスロダン Pro L"/>
              </a:defRPr>
            </a:lvl1pPr>
            <a:lvl2pPr marL="742950" indent="-28575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fld id="{59786AA5-1827-49FE-8471-1EAD70D90365}" type="slidenum">
              <a:rPr lang="en-NZ" altLang="en-US">
                <a:ea typeface="MS PGothic" panose="020B0600070205080204" pitchFamily="34" charset="-128"/>
              </a:rPr>
              <a:pPr/>
              <a:t>1</a:t>
            </a:fld>
            <a:endParaRPr lang="en-NZ" altLang="en-US">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White">
    <p:spTree>
      <p:nvGrpSpPr>
        <p:cNvPr id="1" name=""/>
        <p:cNvGrpSpPr/>
        <p:nvPr/>
      </p:nvGrpSpPr>
      <p:grpSpPr>
        <a:xfrm>
          <a:off x="0" y="0"/>
          <a:ext cx="0" cy="0"/>
          <a:chOff x="0" y="0"/>
          <a:chExt cx="0" cy="0"/>
        </a:xfrm>
      </p:grpSpPr>
      <p:pic>
        <p:nvPicPr>
          <p:cNvPr id="2" name="Picture 2" descr="C:\Users\Admin\Downloads\ilovepdf_pages-to-jpg (1)\RU_PPT Template-White Blank_page-0001.jpg">
            <a:extLst>
              <a:ext uri="{FF2B5EF4-FFF2-40B4-BE49-F238E27FC236}">
                <a16:creationId xmlns:a16="http://schemas.microsoft.com/office/drawing/2014/main" id="{B0137560-109E-CF15-2AEF-21F901E97ED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35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0">
            <a:extLst>
              <a:ext uri="{FF2B5EF4-FFF2-40B4-BE49-F238E27FC236}">
                <a16:creationId xmlns:a16="http://schemas.microsoft.com/office/drawing/2014/main" id="{F86864C2-268C-C922-6492-2AC7663992FF}"/>
              </a:ext>
            </a:extLst>
          </p:cNvPr>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11">
            <a:extLst>
              <a:ext uri="{FF2B5EF4-FFF2-40B4-BE49-F238E27FC236}">
                <a16:creationId xmlns:a16="http://schemas.microsoft.com/office/drawing/2014/main" id="{06F613C8-1AF2-C4E5-DFCF-9C9DF5A7570C}"/>
              </a:ext>
            </a:extLst>
          </p:cNvPr>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12">
            <a:extLst>
              <a:ext uri="{FF2B5EF4-FFF2-40B4-BE49-F238E27FC236}">
                <a16:creationId xmlns:a16="http://schemas.microsoft.com/office/drawing/2014/main" id="{F6A0EFE1-CB99-AA9E-8FF1-408B6E2D7A2D}"/>
              </a:ext>
            </a:extLst>
          </p:cNvPr>
          <p:cNvGrpSpPr>
            <a:grpSpLocks/>
          </p:cNvGrpSpPr>
          <p:nvPr userDrawn="1"/>
        </p:nvGrpSpPr>
        <p:grpSpPr bwMode="auto">
          <a:xfrm>
            <a:off x="9220200" y="5410200"/>
            <a:ext cx="2601913" cy="1082675"/>
            <a:chOff x="10616154" y="97913"/>
            <a:chExt cx="3619726" cy="1349912"/>
          </a:xfrm>
        </p:grpSpPr>
        <p:pic>
          <p:nvPicPr>
            <p:cNvPr id="6" name="Picture 2" descr="NIRF — SAVEETHA SCHOOL OF MANAGEMENT">
              <a:extLst>
                <a:ext uri="{FF2B5EF4-FFF2-40B4-BE49-F238E27FC236}">
                  <a16:creationId xmlns:a16="http://schemas.microsoft.com/office/drawing/2014/main" id="{4A419D02-8D5E-CBD1-BE72-347FC6BE40E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27518" t="4378" r="28922" b="7150"/>
            <a:stretch>
              <a:fillRect/>
            </a:stretch>
          </p:blipFill>
          <p:spPr bwMode="auto">
            <a:xfrm>
              <a:off x="12122688" y="97913"/>
              <a:ext cx="843474" cy="592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Bharath University - Top University In India">
              <a:extLst>
                <a:ext uri="{FF2B5EF4-FFF2-40B4-BE49-F238E27FC236}">
                  <a16:creationId xmlns:a16="http://schemas.microsoft.com/office/drawing/2014/main" id="{3A5D98B8-5103-4B4E-82D2-3616CF6B95E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CREDISAPP for Ratings - Eloit">
              <a:extLst>
                <a:ext uri="{FF2B5EF4-FFF2-40B4-BE49-F238E27FC236}">
                  <a16:creationId xmlns:a16="http://schemas.microsoft.com/office/drawing/2014/main" id="{AFC31F99-3030-191C-309D-3F6990CD8ACD}"/>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MHRD | Innovation Cell - Home">
              <a:extLst>
                <a:ext uri="{FF2B5EF4-FFF2-40B4-BE49-F238E27FC236}">
                  <a16:creationId xmlns:a16="http://schemas.microsoft.com/office/drawing/2014/main" id="{F72B97DC-84FA-BB5C-7238-6736072C5F2A}"/>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Institution's Innovation Council | MHRD">
              <a:extLst>
                <a:ext uri="{FF2B5EF4-FFF2-40B4-BE49-F238E27FC236}">
                  <a16:creationId xmlns:a16="http://schemas.microsoft.com/office/drawing/2014/main" id="{22CEB752-FE34-2738-DC1D-3D6AF8FBC539}"/>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l="8879" t="20721" r="8879" b="24345"/>
            <a:stretch>
              <a:fillRect/>
            </a:stretch>
          </p:blipFill>
          <p:spPr bwMode="auto">
            <a:xfrm>
              <a:off x="12886182" y="774201"/>
              <a:ext cx="1349698" cy="637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8578" name="Title 1"/>
          <p:cNvSpPr>
            <a:spLocks noGrp="1"/>
          </p:cNvSpPr>
          <p:nvPr>
            <p:ph type="title"/>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US"/>
              <a:t>Click to edit Master title style</a:t>
            </a:r>
            <a:endParaRPr lang="en-NZ" dirty="0"/>
          </a:p>
        </p:txBody>
      </p:sp>
      <p:sp>
        <p:nvSpPr>
          <p:cNvPr id="1048579" name="Text Placeholder 2"/>
          <p:cNvSpPr>
            <a:spLocks noGrp="1"/>
          </p:cNvSpPr>
          <p:nvPr>
            <p:ph type="body" sz="quarter" idx="10"/>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defRPr lang="en-NZ" sz="2500" kern="1200" spc="400" baseline="0" dirty="0">
                <a:solidFill>
                  <a:srgbClr val="FF6600"/>
                </a:solidFill>
                <a:latin typeface="Roboto Medium" pitchFamily="2" charset="0"/>
                <a:ea typeface="Roboto Medium" pitchFamily="2" charset="0"/>
                <a:cs typeface="Roboto Medium" pitchFamily="2" charset="0"/>
              </a:defRPr>
            </a:lvl1pPr>
          </a:lstStyle>
          <a:p>
            <a:pPr lvl="0"/>
            <a:r>
              <a:rPr lang="en-US"/>
              <a:t>Edit Master text styles</a:t>
            </a:r>
          </a:p>
        </p:txBody>
      </p:sp>
    </p:spTree>
    <p:extLst>
      <p:ext uri="{BB962C8B-B14F-4D97-AF65-F5344CB8AC3E}">
        <p14:creationId xmlns:p14="http://schemas.microsoft.com/office/powerpoint/2010/main" val="3606698065"/>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 name="Picture 2" descr="C:\Users\Admin\Downloads\ilovepdf_pages-to-jpg (3)\RU_PPT Template-White Blank (1)_page-0003.jpg">
            <a:extLst>
              <a:ext uri="{FF2B5EF4-FFF2-40B4-BE49-F238E27FC236}">
                <a16:creationId xmlns:a16="http://schemas.microsoft.com/office/drawing/2014/main" id="{71CD29BE-4DA9-8C1D-DF57-0466ECF3CAF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8585" name="Title 1"/>
          <p:cNvSpPr>
            <a:spLocks noGrp="1"/>
          </p:cNvSpPr>
          <p:nvPr>
            <p:ph type="title"/>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a:t>Click to edit Master title style</a:t>
            </a:r>
            <a:endParaRPr lang="en-US" dirty="0"/>
          </a:p>
        </p:txBody>
      </p:sp>
      <p:sp>
        <p:nvSpPr>
          <p:cNvPr id="1048586" name="Text Placeholder 2"/>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405"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defRPr sz="2000">
                <a:solidFill>
                  <a:schemeClr val="bg1"/>
                </a:solidFill>
              </a:defRPr>
            </a:lvl3pPr>
            <a:lvl4pPr marL="890905" indent="0">
              <a:spcBef>
                <a:spcPts val="0"/>
              </a:spcBef>
              <a:spcAft>
                <a:spcPts val="1400"/>
              </a:spcAft>
              <a:buNone/>
              <a:defRPr sz="1800">
                <a:solidFill>
                  <a:schemeClr val="bg1"/>
                </a:solidFill>
              </a:defRPr>
            </a:lvl4pPr>
            <a:lvl5pPr marL="1093470" indent="0">
              <a:spcBef>
                <a:spcPts val="0"/>
              </a:spcBef>
              <a:spcAft>
                <a:spcPts val="1400"/>
              </a:spcAft>
              <a:buNone/>
              <a:defRPr sz="1800">
                <a:solidFill>
                  <a:schemeClr val="bg1"/>
                </a:solidFill>
              </a:defRPr>
            </a:lvl5pPr>
          </a:lstStyle>
          <a:p>
            <a:pPr lvl="0"/>
            <a:r>
              <a:rPr lang="en-US" dirty="0"/>
              <a:t>Edit Master text styles</a:t>
            </a:r>
          </a:p>
          <a:p>
            <a:pPr lvl="1"/>
            <a:endParaRPr lang="en-US" dirty="0"/>
          </a:p>
        </p:txBody>
      </p:sp>
      <p:sp>
        <p:nvSpPr>
          <p:cNvPr id="3" name="Slide Number Placeholder 17">
            <a:extLst>
              <a:ext uri="{FF2B5EF4-FFF2-40B4-BE49-F238E27FC236}">
                <a16:creationId xmlns:a16="http://schemas.microsoft.com/office/drawing/2014/main" id="{36F0DBC9-A1F1-AD58-4470-9264795E2FD1}"/>
              </a:ext>
            </a:extLst>
          </p:cNvPr>
          <p:cNvSpPr>
            <a:spLocks noGrp="1"/>
          </p:cNvSpPr>
          <p:nvPr>
            <p:ph type="sldNum" sz="quarter" idx="18"/>
          </p:nvPr>
        </p:nvSpPr>
        <p:spPr bwMode="gray">
          <a:xfrm>
            <a:off x="11366500" y="6096000"/>
            <a:ext cx="5969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a:latin typeface="Roboto Medium" panose="02000000000000000000" pitchFamily="2" charset="0"/>
                <a:ea typeface="Roboto Medium" panose="02000000000000000000" pitchFamily="2" charset="0"/>
                <a:cs typeface="Roboto Medium" panose="02000000000000000000" pitchFamily="2" charset="0"/>
              </a:defRPr>
            </a:lvl1pPr>
          </a:lstStyle>
          <a:p>
            <a:fld id="{B7F000D4-7CF1-4BEA-9FC0-5BA48320EB8B}" type="slidenum">
              <a:rPr lang="en-NZ" altLang="en-US"/>
              <a:pPr/>
              <a:t>‹#›</a:t>
            </a:fld>
            <a:endParaRPr lang="en-NZ" altLang="en-US"/>
          </a:p>
        </p:txBody>
      </p:sp>
    </p:spTree>
    <p:extLst>
      <p:ext uri="{BB962C8B-B14F-4D97-AF65-F5344CB8AC3E}">
        <p14:creationId xmlns:p14="http://schemas.microsoft.com/office/powerpoint/2010/main" val="53475344"/>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6/10/2026</a:t>
            </a:fld>
            <a:endParaRPr lang="en-US" dirty="0"/>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189"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457189" rtl="0" eaLnBrk="1" latinLnBrk="0" hangingPunct="1">
        <a:spcBef>
          <a:spcPct val="20000"/>
        </a:spcBef>
        <a:buFont typeface="Arial"/>
        <a:buChar char="•"/>
        <a:defRPr sz="3200" kern="1200">
          <a:solidFill>
            <a:schemeClr val="tx1"/>
          </a:solidFill>
          <a:latin typeface="+mn-lt"/>
          <a:ea typeface="+mn-ea"/>
          <a:cs typeface="+mn-cs"/>
        </a:defRPr>
      </a:lvl1pPr>
      <a:lvl2pPr marL="742932" indent="-285744" algn="l" defTabSz="457189" rtl="0" eaLnBrk="1" latinLnBrk="0" hangingPunct="1">
        <a:spcBef>
          <a:spcPct val="20000"/>
        </a:spcBef>
        <a:buFont typeface="Arial"/>
        <a:buChar char="–"/>
        <a:defRPr sz="2800" kern="1200">
          <a:solidFill>
            <a:schemeClr val="tx1"/>
          </a:solidFill>
          <a:latin typeface="+mn-lt"/>
          <a:ea typeface="+mn-ea"/>
          <a:cs typeface="+mn-cs"/>
        </a:defRPr>
      </a:lvl2pPr>
      <a:lvl3pPr marL="1142971" indent="-228594" algn="l" defTabSz="457189" rtl="0" eaLnBrk="1" latinLnBrk="0" hangingPunct="1">
        <a:spcBef>
          <a:spcPct val="20000"/>
        </a:spcBef>
        <a:buFont typeface="Arial"/>
        <a:buChar char="•"/>
        <a:defRPr sz="2400" kern="1200">
          <a:solidFill>
            <a:schemeClr val="tx1"/>
          </a:solidFill>
          <a:latin typeface="+mn-lt"/>
          <a:ea typeface="+mn-ea"/>
          <a:cs typeface="+mn-cs"/>
        </a:defRPr>
      </a:lvl3pPr>
      <a:lvl4pPr marL="1600160" indent="-228594" algn="l" defTabSz="457189" rtl="0" eaLnBrk="1" latinLnBrk="0" hangingPunct="1">
        <a:spcBef>
          <a:spcPct val="20000"/>
        </a:spcBef>
        <a:buFont typeface="Arial"/>
        <a:buChar char="–"/>
        <a:defRPr sz="2000" kern="1200">
          <a:solidFill>
            <a:schemeClr val="tx1"/>
          </a:solidFill>
          <a:latin typeface="+mn-lt"/>
          <a:ea typeface="+mn-ea"/>
          <a:cs typeface="+mn-cs"/>
        </a:defRPr>
      </a:lvl4pPr>
      <a:lvl5pPr marL="2057349" indent="-228594" algn="l" defTabSz="457189" rtl="0" eaLnBrk="1" latinLnBrk="0" hangingPunct="1">
        <a:spcBef>
          <a:spcPct val="20000"/>
        </a:spcBef>
        <a:buFont typeface="Arial"/>
        <a:buChar char="»"/>
        <a:defRPr sz="20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FC8A0010-1B7F-B441-179D-5EF60D3C0BD6}"/>
              </a:ext>
            </a:extLst>
          </p:cNvPr>
          <p:cNvSpPr>
            <a:spLocks noGrp="1"/>
          </p:cNvSpPr>
          <p:nvPr>
            <p:ph type="title"/>
          </p:nvPr>
        </p:nvSpPr>
        <p:spPr>
          <a:xfrm>
            <a:off x="458788" y="2481263"/>
            <a:ext cx="11106150" cy="1179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r>
              <a:rPr lang="en-US" altLang="en-US" sz="2400" b="1" dirty="0">
                <a:solidFill>
                  <a:schemeClr val="tx1"/>
                </a:solidFill>
                <a:latin typeface="Times New Roman" panose="02020603050405020304" pitchFamily="18" charset="0"/>
                <a:cs typeface="Times New Roman" panose="02020603050405020304" pitchFamily="18" charset="0"/>
              </a:rPr>
              <a:t>Topic Name: Skin Cancer Detection</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9939" name="Picture 7" descr="C:\Users\Admin\Downloads\Engineering-&amp;-Tech.png">
            <a:extLst>
              <a:ext uri="{FF2B5EF4-FFF2-40B4-BE49-F238E27FC236}">
                <a16:creationId xmlns:a16="http://schemas.microsoft.com/office/drawing/2014/main" id="{D06A6A60-6AC8-6F36-03B7-3001080C7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2200" y="31242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ext Placeholder 4">
            <a:extLst>
              <a:ext uri="{FF2B5EF4-FFF2-40B4-BE49-F238E27FC236}">
                <a16:creationId xmlns:a16="http://schemas.microsoft.com/office/drawing/2014/main" id="{1F663356-38C5-55DB-88EF-902C34EC3BF6}"/>
              </a:ext>
            </a:extLst>
          </p:cNvPr>
          <p:cNvSpPr txBox="1">
            <a:spLocks noChangeArrowheads="1"/>
          </p:cNvSpPr>
          <p:nvPr/>
        </p:nvSpPr>
        <p:spPr bwMode="auto">
          <a:xfrm>
            <a:off x="530225" y="5417820"/>
            <a:ext cx="90678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Nobel-Book"/>
                <a:ea typeface="レクサスロダン Pro L"/>
                <a:cs typeface="レクサスロダン Pro L"/>
              </a:defRPr>
            </a:lvl1pPr>
            <a:lvl2pPr marL="685800" indent="-22860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pPr eaLnBrk="1" hangingPunct="1">
              <a:lnSpc>
                <a:spcPct val="90000"/>
              </a:lnSpc>
              <a:spcBef>
                <a:spcPts val="1000"/>
              </a:spcBef>
              <a:buFont typeface="Arial" panose="020B0604020202020204" pitchFamily="34" charset="0"/>
              <a:buNone/>
            </a:pPr>
            <a:r>
              <a:rPr lang="en-IN" altLang="en-US" sz="2000" b="1" dirty="0">
                <a:latin typeface="Times New Roman" panose="02020603050405020304" pitchFamily="18" charset="0"/>
                <a:ea typeface="Microsoft JhengHei" panose="020B0604030504040204" pitchFamily="34" charset="-120"/>
                <a:cs typeface="Times New Roman" panose="02020603050405020304" pitchFamily="18" charset="0"/>
              </a:rPr>
              <a:t>Faculty In-charge:                       Prof. Pratima A</a:t>
            </a:r>
          </a:p>
          <a:p>
            <a:pPr algn="ctr" eaLnBrk="1" hangingPunct="1">
              <a:lnSpc>
                <a:spcPct val="90000"/>
              </a:lnSpc>
              <a:spcBef>
                <a:spcPts val="1000"/>
              </a:spcBef>
              <a:buFont typeface="Arial" panose="020B0604020202020204" pitchFamily="34" charset="0"/>
              <a:buNone/>
            </a:pPr>
            <a:r>
              <a:rPr lang="en-IN" altLang="en-US" sz="2000" b="1" dirty="0">
                <a:latin typeface="Times New Roman" panose="02020603050405020304" pitchFamily="18" charset="0"/>
                <a:ea typeface="Microsoft JhengHei" panose="020B0604030504040204" pitchFamily="34" charset="-120"/>
                <a:cs typeface="Times New Roman" panose="02020603050405020304" pitchFamily="18" charset="0"/>
              </a:rPr>
              <a:t>Assistant Professor</a:t>
            </a:r>
          </a:p>
          <a:p>
            <a:pPr algn="ctr" eaLnBrk="1" hangingPunct="1">
              <a:lnSpc>
                <a:spcPct val="90000"/>
              </a:lnSpc>
              <a:spcBef>
                <a:spcPts val="1000"/>
              </a:spcBef>
              <a:buFont typeface="Arial" panose="020B0604020202020204" pitchFamily="34" charset="0"/>
              <a:buNone/>
            </a:pPr>
            <a:r>
              <a:rPr lang="en-IN" altLang="en-US" sz="2000" b="1" dirty="0">
                <a:latin typeface="Times New Roman" panose="02020603050405020304" pitchFamily="18" charset="0"/>
                <a:ea typeface="Microsoft JhengHei" panose="020B0604030504040204" pitchFamily="34" charset="-120"/>
                <a:cs typeface="Times New Roman" panose="02020603050405020304" pitchFamily="18" charset="0"/>
              </a:rPr>
              <a:t>REVA University, Bengaluru</a:t>
            </a:r>
          </a:p>
          <a:p>
            <a:pPr algn="ctr" eaLnBrk="1" hangingPunct="1">
              <a:lnSpc>
                <a:spcPct val="90000"/>
              </a:lnSpc>
              <a:spcBef>
                <a:spcPts val="1000"/>
              </a:spcBef>
              <a:buFont typeface="Arial" panose="020B0604020202020204" pitchFamily="34" charset="0"/>
              <a:buNone/>
            </a:pPr>
            <a:endParaRPr lang="en-IN" altLang="en-US" sz="2000" b="1" dirty="0">
              <a:latin typeface="Times New Roman" panose="02020603050405020304" pitchFamily="18" charset="0"/>
              <a:ea typeface="Microsoft JhengHei" panose="020B0604030504040204" pitchFamily="34" charset="-120"/>
              <a:cs typeface="Times New Roman" panose="02020603050405020304" pitchFamily="18" charset="0"/>
            </a:endParaRPr>
          </a:p>
        </p:txBody>
      </p:sp>
      <p:graphicFrame>
        <p:nvGraphicFramePr>
          <p:cNvPr id="4194304" name="Table 5">
            <a:extLst>
              <a:ext uri="{FF2B5EF4-FFF2-40B4-BE49-F238E27FC236}">
                <a16:creationId xmlns:a16="http://schemas.microsoft.com/office/drawing/2014/main" id="{C3EB09E8-1B55-151A-EA7C-0AA55F014C9B}"/>
              </a:ext>
            </a:extLst>
          </p:cNvPr>
          <p:cNvGraphicFramePr>
            <a:graphicFrameLocks noGrp="1"/>
          </p:cNvGraphicFramePr>
          <p:nvPr>
            <p:extLst>
              <p:ext uri="{D42A27DB-BD31-4B8C-83A1-F6EECF244321}">
                <p14:modId xmlns:p14="http://schemas.microsoft.com/office/powerpoint/2010/main" val="98433431"/>
              </p:ext>
            </p:extLst>
          </p:nvPr>
        </p:nvGraphicFramePr>
        <p:xfrm>
          <a:off x="627062" y="3391500"/>
          <a:ext cx="8458200" cy="1828200"/>
        </p:xfrm>
        <a:graphic>
          <a:graphicData uri="http://schemas.openxmlformats.org/drawingml/2006/table">
            <a:tbl>
              <a:tblPr firstRow="1" bandRow="1">
                <a:tableStyleId>{72833802-FEF1-4C79-8D5D-14CF1EAF98D9}</a:tableStyleId>
              </a:tblPr>
              <a:tblGrid>
                <a:gridCol w="5329178">
                  <a:extLst>
                    <a:ext uri="{9D8B030D-6E8A-4147-A177-3AD203B41FA5}">
                      <a16:colId xmlns:a16="http://schemas.microsoft.com/office/drawing/2014/main" val="20000"/>
                    </a:ext>
                  </a:extLst>
                </a:gridCol>
                <a:gridCol w="3129022">
                  <a:extLst>
                    <a:ext uri="{9D8B030D-6E8A-4147-A177-3AD203B41FA5}">
                      <a16:colId xmlns:a16="http://schemas.microsoft.com/office/drawing/2014/main" val="20001"/>
                    </a:ext>
                  </a:extLst>
                </a:gridCol>
              </a:tblGrid>
              <a:tr h="344369">
                <a:tc>
                  <a:txBody>
                    <a:bodyPr/>
                    <a:lstStyle/>
                    <a:p>
                      <a:pPr algn="ctr"/>
                      <a:r>
                        <a:rPr lang="en-US" sz="1800" dirty="0"/>
                        <a:t>Name of the</a:t>
                      </a:r>
                      <a:r>
                        <a:rPr lang="en-US" sz="1800" baseline="0" dirty="0"/>
                        <a:t> Student</a:t>
                      </a:r>
                      <a:endParaRPr lang="en-US" sz="1800" dirty="0">
                        <a:solidFill>
                          <a:schemeClr val="tx1"/>
                        </a:solidFill>
                        <a:latin typeface="Times New Roman" panose="02020603050405020304" charset="0"/>
                        <a:cs typeface="Times New Roman" panose="02020603050405020304" charset="0"/>
                      </a:endParaRP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bg1"/>
                          </a:solidFill>
                          <a:latin typeface="+mn-lt"/>
                          <a:cs typeface="+mn-cs"/>
                        </a:rPr>
                        <a:t>Application</a:t>
                      </a:r>
                      <a:r>
                        <a:rPr lang="en-US" sz="1800" baseline="0" dirty="0">
                          <a:solidFill>
                            <a:schemeClr val="bg1"/>
                          </a:solidFill>
                          <a:latin typeface="+mn-lt"/>
                          <a:cs typeface="+mn-cs"/>
                        </a:rPr>
                        <a:t> No</a:t>
                      </a:r>
                      <a:endParaRPr lang="en-US" sz="1800" dirty="0">
                        <a:solidFill>
                          <a:schemeClr val="tx1"/>
                        </a:solidFill>
                        <a:latin typeface="Times New Roman" panose="02020603050405020304" charset="0"/>
                        <a:cs typeface="Times New Roman" panose="02020603050405020304" charset="0"/>
                      </a:endParaRP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522">
                <a:tc>
                  <a:txBody>
                    <a:bodyPr/>
                    <a:lstStyle/>
                    <a:p>
                      <a:r>
                        <a:rPr lang="en-US" sz="1800" b="1" dirty="0">
                          <a:solidFill>
                            <a:schemeClr val="tx1"/>
                          </a:solidFill>
                          <a:latin typeface="Times New Roman" panose="02020603050405020304" charset="0"/>
                          <a:cs typeface="Times New Roman" panose="02020603050405020304" charset="0"/>
                        </a:rPr>
                        <a:t>Adithya V</a:t>
                      </a: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sv-SE" sz="1800" dirty="0">
                          <a:solidFill>
                            <a:schemeClr val="tx1"/>
                          </a:solidFill>
                          <a:latin typeface="Times New Roman" panose="02020603050405020304" pitchFamily="18" charset="0"/>
                          <a:cs typeface="Times New Roman" panose="02020603050405020304" pitchFamily="18" charset="0"/>
                        </a:rPr>
                        <a:t>R25EH004</a:t>
                      </a: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522">
                <a:tc>
                  <a:txBody>
                    <a:bodyPr/>
                    <a:lstStyle/>
                    <a:p>
                      <a:r>
                        <a:rPr lang="en-US" sz="1800" b="1" dirty="0">
                          <a:latin typeface="Times New Roman" panose="02020603050405020304" charset="0"/>
                          <a:cs typeface="Times New Roman" panose="02020603050405020304" charset="0"/>
                        </a:rPr>
                        <a:t>Jayanth S</a:t>
                      </a: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sv-SE" sz="1800" dirty="0">
                          <a:solidFill>
                            <a:schemeClr val="tx1"/>
                          </a:solidFill>
                          <a:latin typeface="Times New Roman" panose="02020603050405020304" pitchFamily="18" charset="0"/>
                          <a:cs typeface="Times New Roman" panose="02020603050405020304" pitchFamily="18" charset="0"/>
                        </a:rPr>
                        <a:t>R25EH053</a:t>
                      </a:r>
                      <a:endParaRPr lang="en-US" sz="1800" b="1" dirty="0">
                        <a:solidFill>
                          <a:schemeClr val="tx1"/>
                        </a:solidFill>
                        <a:latin typeface="Times New Roman" panose="02020603050405020304" charset="0"/>
                        <a:cs typeface="Times New Roman" panose="02020603050405020304" charset="0"/>
                      </a:endParaRP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5522">
                <a:tc>
                  <a:txBody>
                    <a:bodyPr/>
                    <a:lstStyle/>
                    <a:p>
                      <a:r>
                        <a:rPr lang="sv-SE" sz="1800" b="1" dirty="0">
                          <a:solidFill>
                            <a:schemeClr val="tx1"/>
                          </a:solidFill>
                          <a:latin typeface="Times New Roman" panose="02020603050405020304" pitchFamily="18" charset="0"/>
                          <a:cs typeface="Times New Roman" panose="02020603050405020304" pitchFamily="18" charset="0"/>
                        </a:rPr>
                        <a:t>Darshan Gowda M</a:t>
                      </a: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sv-SE" sz="1800" dirty="0">
                          <a:solidFill>
                            <a:schemeClr val="tx1"/>
                          </a:solidFill>
                          <a:latin typeface="Times New Roman" panose="02020603050405020304" pitchFamily="18" charset="0"/>
                          <a:cs typeface="Times New Roman" panose="02020603050405020304" pitchFamily="18" charset="0"/>
                        </a:rPr>
                        <a:t>R25EH038</a:t>
                      </a:r>
                      <a:endParaRPr lang="en-US" sz="1800" b="1" dirty="0">
                        <a:solidFill>
                          <a:schemeClr val="tx1"/>
                        </a:solidFill>
                        <a:latin typeface="Times New Roman" panose="02020603050405020304" charset="0"/>
                        <a:cs typeface="Times New Roman" panose="02020603050405020304" charset="0"/>
                      </a:endParaRP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5522">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sv-SE" sz="1800" b="1" dirty="0">
                          <a:solidFill>
                            <a:schemeClr val="tx1"/>
                          </a:solidFill>
                          <a:latin typeface="Times New Roman" panose="02020603050405020304" pitchFamily="18" charset="0"/>
                          <a:cs typeface="Times New Roman" panose="02020603050405020304" pitchFamily="18" charset="0"/>
                        </a:rPr>
                        <a:t>KC Preetham</a:t>
                      </a: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sv-SE" sz="1800" dirty="0">
                          <a:solidFill>
                            <a:schemeClr val="tx1"/>
                          </a:solidFill>
                          <a:latin typeface="Times New Roman" panose="02020603050405020304" pitchFamily="18" charset="0"/>
                          <a:cs typeface="Times New Roman" panose="02020603050405020304" pitchFamily="18" charset="0"/>
                        </a:rPr>
                        <a:t>R25EH054</a:t>
                      </a:r>
                      <a:endParaRPr lang="en-US" sz="1800" b="1" dirty="0">
                        <a:solidFill>
                          <a:schemeClr val="tx1"/>
                        </a:solidFill>
                        <a:latin typeface="Times New Roman" panose="02020603050405020304" charset="0"/>
                        <a:cs typeface="Times New Roman" panose="02020603050405020304" charset="0"/>
                      </a:endParaRPr>
                    </a:p>
                  </a:txBody>
                  <a:tcPr marL="91444" marR="91444" marT="45660" marB="45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7898817"/>
                  </a:ext>
                </a:extLst>
              </a:tr>
            </a:tbl>
          </a:graphicData>
        </a:graphic>
      </p:graphicFrame>
      <p:sp>
        <p:nvSpPr>
          <p:cNvPr id="39958" name="AutoShape 2" descr="File:A9-AT.svg - Wikimedia Commons">
            <a:extLst>
              <a:ext uri="{FF2B5EF4-FFF2-40B4-BE49-F238E27FC236}">
                <a16:creationId xmlns:a16="http://schemas.microsoft.com/office/drawing/2014/main" id="{FB943704-3012-F02D-04FC-C00DF6F41663}"/>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Nobel-Book"/>
                <a:ea typeface="レクサスロダン Pro L"/>
                <a:cs typeface="レクサスロダン Pro L"/>
              </a:defRPr>
            </a:lvl1pPr>
            <a:lvl2pPr marL="742950" indent="-28575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pPr eaLnBrk="1" hangingPunct="1"/>
            <a:endParaRPr lang="en-US" altLang="en-US"/>
          </a:p>
        </p:txBody>
      </p:sp>
      <p:sp>
        <p:nvSpPr>
          <p:cNvPr id="39959" name="AutoShape 4" descr="File:A9-AT.svg - Wikimedia Commons">
            <a:extLst>
              <a:ext uri="{FF2B5EF4-FFF2-40B4-BE49-F238E27FC236}">
                <a16:creationId xmlns:a16="http://schemas.microsoft.com/office/drawing/2014/main" id="{8594745E-CD6E-3CD4-F93C-F2C5CE30EE10}"/>
              </a:ext>
            </a:extLst>
          </p:cNvPr>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Nobel-Book"/>
                <a:ea typeface="レクサスロダン Pro L"/>
                <a:cs typeface="レクサスロダン Pro L"/>
              </a:defRPr>
            </a:lvl1pPr>
            <a:lvl2pPr marL="742950" indent="-28575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pPr eaLnBrk="1" hangingPunct="1"/>
            <a:endParaRPr lang="en-US" altLang="en-US"/>
          </a:p>
        </p:txBody>
      </p:sp>
      <p:sp>
        <p:nvSpPr>
          <p:cNvPr id="39960" name="Title 1">
            <a:extLst>
              <a:ext uri="{FF2B5EF4-FFF2-40B4-BE49-F238E27FC236}">
                <a16:creationId xmlns:a16="http://schemas.microsoft.com/office/drawing/2014/main" id="{8BA88FE2-53E6-18BC-FF4C-5714105F5E0B}"/>
              </a:ext>
            </a:extLst>
          </p:cNvPr>
          <p:cNvSpPr txBox="1">
            <a:spLocks/>
          </p:cNvSpPr>
          <p:nvPr/>
        </p:nvSpPr>
        <p:spPr bwMode="gray">
          <a:xfrm>
            <a:off x="6656704" y="266700"/>
            <a:ext cx="4417695"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Nobel-Book"/>
                <a:ea typeface="レクサスロダン Pro L"/>
                <a:cs typeface="レクサスロダン Pro L"/>
              </a:defRPr>
            </a:lvl1pPr>
            <a:lvl2pPr marL="742950" indent="-28575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pPr algn="ctr" eaLnBrk="1" hangingPunct="1">
              <a:lnSpc>
                <a:spcPct val="90000"/>
              </a:lnSpc>
            </a:pPr>
            <a:r>
              <a:rPr lang="en-US" altLang="en-US" sz="2400" b="1" dirty="0">
                <a:solidFill>
                  <a:srgbClr val="92D050"/>
                </a:solidFill>
                <a:latin typeface="Times New Roman" panose="02020603050405020304" pitchFamily="18" charset="0"/>
                <a:ea typeface="Roboto Medium" panose="02000000000000000000" pitchFamily="2" charset="0"/>
                <a:cs typeface="Times New Roman" panose="02020603050405020304" pitchFamily="18" charset="0"/>
              </a:rPr>
              <a:t>IOT PROJECT  </a:t>
            </a:r>
            <a:endParaRPr lang="en-US" altLang="en-US" sz="2400" dirty="0">
              <a:solidFill>
                <a:srgbClr val="92D050"/>
              </a:solidFill>
              <a:latin typeface="Times New Roman" panose="02020603050405020304" pitchFamily="18" charset="0"/>
              <a:ea typeface="Roboto Medium" panose="02000000000000000000" pitchFamily="2" charset="0"/>
              <a:cs typeface="Times New Roman" panose="02020603050405020304" pitchFamily="18" charset="0"/>
            </a:endParaRPr>
          </a:p>
        </p:txBody>
      </p:sp>
      <p:pic>
        <p:nvPicPr>
          <p:cNvPr id="39961" name="Picture 1">
            <a:extLst>
              <a:ext uri="{FF2B5EF4-FFF2-40B4-BE49-F238E27FC236}">
                <a16:creationId xmlns:a16="http://schemas.microsoft.com/office/drawing/2014/main" id="{8311D77A-5DDB-245A-BF6B-DB19AA8B7D5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39200" y="5410200"/>
            <a:ext cx="322897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6000"/>
            <a:lum/>
          </a:blip>
          <a:srcRect/>
          <a:stretch>
            <a:fillRect t="-69000" b="-69000"/>
          </a:stretch>
        </a:blipFill>
        <a:effectLst/>
      </p:bgPr>
    </p:bg>
    <p:spTree>
      <p:nvGrpSpPr>
        <p:cNvPr id="1" name=""/>
        <p:cNvGrpSpPr/>
        <p:nvPr/>
      </p:nvGrpSpPr>
      <p:grpSpPr>
        <a:xfrm>
          <a:off x="0" y="0"/>
          <a:ext cx="0" cy="0"/>
          <a:chOff x="0" y="0"/>
          <a:chExt cx="0" cy="0"/>
        </a:xfrm>
      </p:grpSpPr>
      <p:sp>
        <p:nvSpPr>
          <p:cNvPr id="41986" name="Slide Number Placeholder 1">
            <a:extLst>
              <a:ext uri="{FF2B5EF4-FFF2-40B4-BE49-F238E27FC236}">
                <a16:creationId xmlns:a16="http://schemas.microsoft.com/office/drawing/2014/main" id="{EA7C72C3-4DA2-E899-41F6-CAEE4B3E2845}"/>
              </a:ext>
            </a:extLst>
          </p:cNvPr>
          <p:cNvSpPr>
            <a:spLocks noGrp="1"/>
          </p:cNvSpPr>
          <p:nvPr>
            <p:ph type="sldNum" sz="quarter" idx="18"/>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Nobel-Book"/>
                <a:ea typeface="レクサスロダン Pro L"/>
                <a:cs typeface="レクサスロダン Pro L"/>
              </a:defRPr>
            </a:lvl1pPr>
            <a:lvl2pPr marL="742950" indent="-28575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fld id="{8B573908-194E-4AF0-8C9A-C34C8B0BB832}" type="slidenum">
              <a:rPr lang="en-NZ" altLang="en-US" smtClean="0">
                <a:latin typeface="Roboto Medium" panose="02000000000000000000" pitchFamily="2" charset="0"/>
                <a:ea typeface="Roboto Medium" panose="02000000000000000000" pitchFamily="2" charset="0"/>
                <a:cs typeface="Roboto Medium" panose="02000000000000000000" pitchFamily="2" charset="0"/>
              </a:rPr>
              <a:pPr/>
              <a:t>2</a:t>
            </a:fld>
            <a:endParaRPr lang="en-NZ" altLang="en-US">
              <a:latin typeface="Roboto Medium" panose="02000000000000000000" pitchFamily="2" charset="0"/>
              <a:ea typeface="Roboto Medium" panose="02000000000000000000" pitchFamily="2" charset="0"/>
              <a:cs typeface="Roboto Medium" panose="02000000000000000000" pitchFamily="2" charset="0"/>
            </a:endParaRPr>
          </a:p>
        </p:txBody>
      </p:sp>
      <p:sp>
        <p:nvSpPr>
          <p:cNvPr id="1048588" name="Title 2">
            <a:extLst>
              <a:ext uri="{FF2B5EF4-FFF2-40B4-BE49-F238E27FC236}">
                <a16:creationId xmlns:a16="http://schemas.microsoft.com/office/drawing/2014/main" id="{E5C1C9BC-2DDC-D88B-0224-19102E18AE37}"/>
              </a:ext>
            </a:extLst>
          </p:cNvPr>
          <p:cNvSpPr>
            <a:spLocks noGrp="1"/>
          </p:cNvSpPr>
          <p:nvPr>
            <p:ph type="title"/>
          </p:nvPr>
        </p:nvSpPr>
        <p:spPr>
          <a:xfrm>
            <a:off x="-944880" y="152400"/>
            <a:ext cx="6211888" cy="838200"/>
          </a:xfrm>
        </p:spPr>
        <p:txBody>
          <a:bodyPr/>
          <a:lstStyle/>
          <a:p>
            <a:pPr eaLnBrk="1" fontAlgn="auto" hangingPunct="1">
              <a:spcAft>
                <a:spcPts val="0"/>
              </a:spcAft>
              <a:defRPr/>
            </a:pPr>
            <a:r>
              <a:rPr lang="en-US" sz="3600" b="1" dirty="0">
                <a:solidFill>
                  <a:schemeClr val="tx2"/>
                </a:solidFill>
                <a:latin typeface="Times New Roman" panose="02020603050405020304" pitchFamily="18" charset="0"/>
                <a:ea typeface="Adobe Gothic Std B" panose="020B0800000000000000" pitchFamily="34" charset="-128"/>
                <a:cs typeface="Times New Roman" panose="02020603050405020304" pitchFamily="18" charset="0"/>
              </a:rPr>
              <a:t>outline</a:t>
            </a:r>
          </a:p>
        </p:txBody>
      </p:sp>
      <p:sp>
        <p:nvSpPr>
          <p:cNvPr id="41988" name="TextBox 3">
            <a:extLst>
              <a:ext uri="{FF2B5EF4-FFF2-40B4-BE49-F238E27FC236}">
                <a16:creationId xmlns:a16="http://schemas.microsoft.com/office/drawing/2014/main" id="{2ACF9424-6294-5CE2-7E62-432EEDAA6360}"/>
              </a:ext>
            </a:extLst>
          </p:cNvPr>
          <p:cNvSpPr txBox="1">
            <a:spLocks noChangeArrowheads="1"/>
          </p:cNvSpPr>
          <p:nvPr/>
        </p:nvSpPr>
        <p:spPr bwMode="auto">
          <a:xfrm>
            <a:off x="1066800" y="885543"/>
            <a:ext cx="6934200" cy="47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Nobel-Book"/>
                <a:ea typeface="レクサスロダン Pro L"/>
                <a:cs typeface="レクサスロダン Pro L"/>
              </a:defRPr>
            </a:lvl1pPr>
            <a:lvl2pPr marL="742950" indent="-285750">
              <a:defRPr>
                <a:solidFill>
                  <a:schemeClr val="tx1"/>
                </a:solidFill>
                <a:latin typeface="Nobel-Book"/>
                <a:ea typeface="レクサスロダン Pro L"/>
                <a:cs typeface="レクサスロダン Pro L"/>
              </a:defRPr>
            </a:lvl2pPr>
            <a:lvl3pPr marL="1143000" indent="-228600">
              <a:defRPr>
                <a:solidFill>
                  <a:schemeClr val="tx1"/>
                </a:solidFill>
                <a:latin typeface="Nobel-Book"/>
                <a:ea typeface="レクサスロダン Pro L"/>
                <a:cs typeface="レクサスロダン Pro L"/>
              </a:defRPr>
            </a:lvl3pPr>
            <a:lvl4pPr marL="1600200" indent="-228600">
              <a:defRPr>
                <a:solidFill>
                  <a:schemeClr val="tx1"/>
                </a:solidFill>
                <a:latin typeface="Nobel-Book"/>
                <a:ea typeface="レクサスロダン Pro L"/>
                <a:cs typeface="レクサスロダン Pro L"/>
              </a:defRPr>
            </a:lvl4pPr>
            <a:lvl5pPr marL="2057400" indent="-228600">
              <a:defRPr>
                <a:solidFill>
                  <a:schemeClr val="tx1"/>
                </a:solidFill>
                <a:latin typeface="Nobel-Book"/>
                <a:ea typeface="レクサスロダン Pro L"/>
                <a:cs typeface="レクサスロダン Pro L"/>
              </a:defRPr>
            </a:lvl5pPr>
            <a:lvl6pPr marL="2514600" indent="-228600" eaLnBrk="0" fontAlgn="base" hangingPunct="0">
              <a:spcBef>
                <a:spcPct val="0"/>
              </a:spcBef>
              <a:spcAft>
                <a:spcPct val="0"/>
              </a:spcAft>
              <a:defRPr>
                <a:solidFill>
                  <a:schemeClr val="tx1"/>
                </a:solidFill>
                <a:latin typeface="Nobel-Book"/>
                <a:ea typeface="レクサスロダン Pro L"/>
                <a:cs typeface="レクサスロダン Pro L"/>
              </a:defRPr>
            </a:lvl6pPr>
            <a:lvl7pPr marL="2971800" indent="-228600" eaLnBrk="0" fontAlgn="base" hangingPunct="0">
              <a:spcBef>
                <a:spcPct val="0"/>
              </a:spcBef>
              <a:spcAft>
                <a:spcPct val="0"/>
              </a:spcAft>
              <a:defRPr>
                <a:solidFill>
                  <a:schemeClr val="tx1"/>
                </a:solidFill>
                <a:latin typeface="Nobel-Book"/>
                <a:ea typeface="レクサスロダン Pro L"/>
                <a:cs typeface="レクサスロダン Pro L"/>
              </a:defRPr>
            </a:lvl7pPr>
            <a:lvl8pPr marL="3429000" indent="-228600" eaLnBrk="0" fontAlgn="base" hangingPunct="0">
              <a:spcBef>
                <a:spcPct val="0"/>
              </a:spcBef>
              <a:spcAft>
                <a:spcPct val="0"/>
              </a:spcAft>
              <a:defRPr>
                <a:solidFill>
                  <a:schemeClr val="tx1"/>
                </a:solidFill>
                <a:latin typeface="Nobel-Book"/>
                <a:ea typeface="レクサスロダン Pro L"/>
                <a:cs typeface="レクサスロダン Pro L"/>
              </a:defRPr>
            </a:lvl8pPr>
            <a:lvl9pPr marL="3886200" indent="-228600" eaLnBrk="0" fontAlgn="base" hangingPunct="0">
              <a:spcBef>
                <a:spcPct val="0"/>
              </a:spcBef>
              <a:spcAft>
                <a:spcPct val="0"/>
              </a:spcAft>
              <a:defRPr>
                <a:solidFill>
                  <a:schemeClr val="tx1"/>
                </a:solidFill>
                <a:latin typeface="Nobel-Book"/>
                <a:ea typeface="レクサスロダン Pro L"/>
                <a:cs typeface="レクサスロダン Pro L"/>
              </a:defRPr>
            </a:lvl9pPr>
          </a:lstStyle>
          <a:p>
            <a:pPr eaLnBrk="1" hangingPunct="1">
              <a:lnSpc>
                <a:spcPct val="150000"/>
              </a:lnSpc>
            </a:pPr>
            <a:r>
              <a:rPr lang="en-US" altLang="en-US" sz="2000" b="1" dirty="0">
                <a:latin typeface="Times New Roman" panose="02020603050405020304" pitchFamily="18" charset="0"/>
                <a:cs typeface="Times New Roman" panose="02020603050405020304" pitchFamily="18" charset="0"/>
              </a:rPr>
              <a:t>1</a:t>
            </a:r>
            <a:r>
              <a:rPr lang="en-US" altLang="en-US" sz="2500" b="1"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Introduction</a:t>
            </a:r>
          </a:p>
          <a:p>
            <a:pPr eaLnBrk="1" hangingPunct="1">
              <a:lnSpc>
                <a:spcPct val="150000"/>
              </a:lnSpc>
            </a:pPr>
            <a:r>
              <a:rPr lang="en-US" altLang="en-US" sz="2000" b="1" dirty="0">
                <a:latin typeface="Times New Roman" panose="02020603050405020304" pitchFamily="18" charset="0"/>
                <a:cs typeface="Times New Roman" panose="02020603050405020304" pitchFamily="18" charset="0"/>
              </a:rPr>
              <a:t>2.     Abstract</a:t>
            </a:r>
          </a:p>
          <a:p>
            <a:pPr marL="457200" indent="-457200" eaLnBrk="1" hangingPunct="1">
              <a:lnSpc>
                <a:spcPct val="150000"/>
              </a:lnSpc>
              <a:buAutoNum type="arabicPeriod" startAt="3"/>
            </a:pPr>
            <a:r>
              <a:rPr lang="en-US" altLang="en-US" sz="2000" b="1" dirty="0">
                <a:latin typeface="Times New Roman" panose="02020603050405020304" pitchFamily="18" charset="0"/>
                <a:cs typeface="Times New Roman" panose="02020603050405020304" pitchFamily="18" charset="0"/>
              </a:rPr>
              <a:t>Objectives</a:t>
            </a:r>
          </a:p>
          <a:p>
            <a:pPr marL="457200" indent="-457200" eaLnBrk="1" hangingPunct="1">
              <a:lnSpc>
                <a:spcPct val="150000"/>
              </a:lnSpc>
              <a:buAutoNum type="arabicPeriod" startAt="3"/>
            </a:pPr>
            <a:r>
              <a:rPr lang="en-US" altLang="en-US" sz="2000" b="1" dirty="0">
                <a:latin typeface="Times New Roman" panose="02020603050405020304" pitchFamily="18" charset="0"/>
                <a:cs typeface="Times New Roman" panose="02020603050405020304" pitchFamily="18" charset="0"/>
              </a:rPr>
              <a:t>Methodology</a:t>
            </a:r>
          </a:p>
          <a:p>
            <a:pPr marL="457200" indent="-457200" eaLnBrk="1" hangingPunct="1">
              <a:lnSpc>
                <a:spcPct val="150000"/>
              </a:lnSpc>
              <a:buAutoNum type="arabicPeriod" startAt="3"/>
            </a:pPr>
            <a:r>
              <a:rPr lang="en-US" altLang="en-US" sz="2000" b="1" dirty="0">
                <a:latin typeface="Times New Roman" panose="02020603050405020304" pitchFamily="18" charset="0"/>
                <a:cs typeface="Times New Roman" panose="02020603050405020304" pitchFamily="18" charset="0"/>
              </a:rPr>
              <a:t>Components Used</a:t>
            </a:r>
          </a:p>
          <a:p>
            <a:pPr eaLnBrk="1" hangingPunct="1">
              <a:lnSpc>
                <a:spcPct val="150000"/>
              </a:lnSpc>
            </a:pPr>
            <a:r>
              <a:rPr lang="en-US" altLang="en-US" sz="2000" b="1" dirty="0">
                <a:latin typeface="Times New Roman" panose="02020603050405020304" pitchFamily="18" charset="0"/>
                <a:cs typeface="Times New Roman" panose="02020603050405020304" pitchFamily="18" charset="0"/>
              </a:rPr>
              <a:t>6.    Working Procedure </a:t>
            </a:r>
          </a:p>
          <a:p>
            <a:pPr eaLnBrk="1" hangingPunct="1">
              <a:lnSpc>
                <a:spcPct val="150000"/>
              </a:lnSpc>
            </a:pPr>
            <a:r>
              <a:rPr lang="en-US" altLang="en-US" sz="2000" b="1" dirty="0">
                <a:latin typeface="Times New Roman" panose="02020603050405020304" pitchFamily="18" charset="0"/>
                <a:cs typeface="Times New Roman" panose="02020603050405020304" pitchFamily="18" charset="0"/>
              </a:rPr>
              <a:t>7.     Applications</a:t>
            </a:r>
          </a:p>
          <a:p>
            <a:pPr marL="457200" indent="-457200" eaLnBrk="1" hangingPunct="1">
              <a:lnSpc>
                <a:spcPct val="150000"/>
              </a:lnSpc>
              <a:buAutoNum type="arabicPeriod" startAt="8"/>
            </a:pPr>
            <a:r>
              <a:rPr lang="en-US" altLang="en-US" sz="2000" b="1" dirty="0">
                <a:latin typeface="Times New Roman" panose="02020603050405020304" pitchFamily="18" charset="0"/>
                <a:cs typeface="Times New Roman" panose="02020603050405020304" pitchFamily="18" charset="0"/>
              </a:rPr>
              <a:t>Advantages</a:t>
            </a:r>
          </a:p>
          <a:p>
            <a:pPr marL="457200" indent="-457200" eaLnBrk="1" hangingPunct="1">
              <a:lnSpc>
                <a:spcPct val="150000"/>
              </a:lnSpc>
              <a:buAutoNum type="arabicPeriod" startAt="8"/>
            </a:pPr>
            <a:r>
              <a:rPr lang="en-US" altLang="en-US" sz="2000" b="1" dirty="0">
                <a:latin typeface="Times New Roman" panose="02020603050405020304" pitchFamily="18" charset="0"/>
                <a:cs typeface="Times New Roman" panose="02020603050405020304" pitchFamily="18" charset="0"/>
              </a:rPr>
              <a:t>Conclusion</a:t>
            </a:r>
          </a:p>
          <a:p>
            <a:pPr eaLnBrk="1" hangingPunct="1">
              <a:lnSpc>
                <a:spcPct val="150000"/>
              </a:lnSpc>
            </a:pPr>
            <a:r>
              <a:rPr lang="en-US" altLang="en-US" sz="2000" b="1" dirty="0">
                <a:latin typeface="Times New Roman" panose="02020603050405020304" pitchFamily="18" charset="0"/>
                <a:cs typeface="Times New Roman" panose="02020603050405020304" pitchFamily="18" charset="0"/>
              </a:rPr>
              <a:t>10.   Future Trend </a:t>
            </a:r>
            <a:endParaRPr lang="en-US" altLang="en-US" sz="2500" b="1"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A163C-1793-6454-A0BC-B8556BA4C093}"/>
              </a:ext>
            </a:extLst>
          </p:cNvPr>
          <p:cNvSpPr>
            <a:spLocks noGrp="1"/>
          </p:cNvSpPr>
          <p:nvPr>
            <p:ph type="title"/>
          </p:nvPr>
        </p:nvSpPr>
        <p:spPr>
          <a:xfrm>
            <a:off x="2990036" y="263706"/>
            <a:ext cx="6211927" cy="838202"/>
          </a:xfrm>
        </p:spPr>
        <p:txBody>
          <a:bodyPr/>
          <a:lstStyle/>
          <a:p>
            <a:r>
              <a:rPr lang="en-US" sz="3600" b="1" cap="none" dirty="0">
                <a:solidFill>
                  <a:schemeClr val="tx2"/>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828D69C5-4BD4-0CD1-F6DD-6DBC2CDF869A}"/>
              </a:ext>
            </a:extLst>
          </p:cNvPr>
          <p:cNvSpPr>
            <a:spLocks noGrp="1"/>
          </p:cNvSpPr>
          <p:nvPr>
            <p:ph type="body" sz="quarter" idx="17"/>
          </p:nvPr>
        </p:nvSpPr>
        <p:spPr>
          <a:xfrm>
            <a:off x="695398" y="1408176"/>
            <a:ext cx="10801201" cy="4320480"/>
          </a:xfrm>
        </p:spPr>
        <p:txBody>
          <a:bodyPr>
            <a:normAutofit fontScale="92500"/>
          </a:bodyPr>
          <a:lstStyle/>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Skin cancer is a major global health concern, with millions of new cases reported every year. It occurs due to the abnormal and uncontrolled growth of skin cells, primarily caused by excessive exposure to ultraviolet (UV) radiation from sunlight or artificial sources such as tanning beds. The most common types of skin cancer include basal cell carcinoma, squamous cell carcinoma, and melanoma. Among these, melanoma is considered the most dangerous form as it can spread rapidly to other parts of the body if not detected at an early stage.</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Traditional methods for detecting skin cancer rely on visual examination by dermatologists followed by biopsy and laboratory analysis. Although these methods are accurate, they are expensive, time-consuming, and require access to specialized medical facilities. In rural and underdeveloped regions, such facilities are often unavailable, leading to delayed diagnosis and increased mortality rates.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Recent advancements in artificial intelligence and machine learning have enabled automated analysis of medical images with high accuracy. AI-based image classification systems can identify patterns related to color, texture, and shape that indicate abnormal skin lesions. Embedded systems such as the ESP32-CAM provide an affordable platform for image acquisition and processing. This project focuses on developing a low-cost AI-powered skin lesion detection system using the ESP32-CAM module to assist in early screening and raise awareness among users.</a:t>
            </a:r>
          </a:p>
          <a:p>
            <a:pPr marL="285750" indent="-285750">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7823697"/>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89113" y="1322223"/>
            <a:ext cx="10972800" cy="4525963"/>
          </a:xfrm>
        </p:spPr>
        <p:txBody>
          <a:bodyPr>
            <a:normAutofit/>
          </a:bodyPr>
          <a:lstStyle/>
          <a:p>
            <a:r>
              <a:rPr lang="en-US" sz="2800" dirty="0">
                <a:latin typeface="Times New Roman" panose="02020603050405020304" pitchFamily="18" charset="0"/>
                <a:cs typeface="Times New Roman" panose="02020603050405020304" pitchFamily="18" charset="0"/>
              </a:rPr>
              <a:t>Skin cancer is one of the fastest-growing cancers worldwide.</a:t>
            </a:r>
          </a:p>
          <a:p>
            <a:r>
              <a:rPr lang="en-US" sz="2800" dirty="0">
                <a:latin typeface="Times New Roman" panose="02020603050405020304" pitchFamily="18" charset="0"/>
                <a:cs typeface="Times New Roman" panose="02020603050405020304" pitchFamily="18" charset="0"/>
              </a:rPr>
              <a:t>Early detection greatly improves treatment success.</a:t>
            </a:r>
          </a:p>
          <a:p>
            <a:r>
              <a:rPr lang="en-US" sz="2800" dirty="0">
                <a:latin typeface="Times New Roman" panose="02020603050405020304" pitchFamily="18" charset="0"/>
                <a:cs typeface="Times New Roman" panose="02020603050405020304" pitchFamily="18" charset="0"/>
              </a:rPr>
              <a:t>Access to dermatologists is limited in many rural areas.</a:t>
            </a:r>
          </a:p>
          <a:p>
            <a:r>
              <a:rPr lang="en-US" sz="2800" dirty="0">
                <a:latin typeface="Times New Roman" panose="02020603050405020304" pitchFamily="18" charset="0"/>
                <a:cs typeface="Times New Roman" panose="02020603050405020304" pitchFamily="18" charset="0"/>
              </a:rPr>
              <a:t>This project uses an ESP32-CAM and AI for skin lesion screening.</a:t>
            </a:r>
          </a:p>
          <a:p>
            <a:r>
              <a:rPr lang="en-US" sz="2800" dirty="0">
                <a:latin typeface="Times New Roman" panose="02020603050405020304" pitchFamily="18" charset="0"/>
                <a:cs typeface="Times New Roman" panose="02020603050405020304" pitchFamily="18" charset="0"/>
              </a:rPr>
              <a:t>The system captures images and classifies lesions as normal or suspicious.</a:t>
            </a:r>
          </a:p>
          <a:p>
            <a:r>
              <a:rPr lang="en-US" sz="2800" dirty="0">
                <a:latin typeface="Times New Roman" panose="02020603050405020304" pitchFamily="18" charset="0"/>
                <a:cs typeface="Times New Roman" panose="02020603050405020304" pitchFamily="18" charset="0"/>
              </a:rPr>
              <a:t>It is low-cost, portable, and easy to use.</a:t>
            </a:r>
          </a:p>
          <a:p>
            <a:r>
              <a:rPr lang="en-US" sz="2800" dirty="0">
                <a:latin typeface="Times New Roman" panose="02020603050405020304" pitchFamily="18" charset="0"/>
                <a:cs typeface="Times New Roman" panose="02020603050405020304" pitchFamily="18" charset="0"/>
              </a:rPr>
              <a:t>The solution can support early diagnosis and improve healthcare accessibility.</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81161" y="1942111"/>
            <a:ext cx="10972800" cy="4525963"/>
          </a:xfrm>
        </p:spPr>
        <p:txBody>
          <a:bodyPr>
            <a:normAutofit/>
          </a:bodyPr>
          <a:lstStyle/>
          <a:p>
            <a:r>
              <a:rPr lang="en-US" sz="2400" dirty="0">
                <a:latin typeface="Times New Roman" panose="02020603050405020304" pitchFamily="18" charset="0"/>
                <a:cs typeface="Times New Roman" panose="02020603050405020304" pitchFamily="18" charset="0"/>
              </a:rPr>
              <a:t>To design and develop an AI-powered system for early detection of skin cancer</a:t>
            </a:r>
          </a:p>
          <a:p>
            <a:r>
              <a:rPr lang="en-US" sz="2400" dirty="0">
                <a:latin typeface="Times New Roman" panose="02020603050405020304" pitchFamily="18" charset="0"/>
                <a:cs typeface="Times New Roman" panose="02020603050405020304" pitchFamily="18" charset="0"/>
              </a:rPr>
              <a:t>To capture images of skin lesions using the ESP32-CAM module</a:t>
            </a:r>
          </a:p>
          <a:p>
            <a:r>
              <a:rPr lang="en-US" sz="2400" dirty="0">
                <a:latin typeface="Times New Roman" panose="02020603050405020304" pitchFamily="18" charset="0"/>
                <a:cs typeface="Times New Roman" panose="02020603050405020304" pitchFamily="18" charset="0"/>
              </a:rPr>
              <a:t>To preprocess and analyze images using a trained machine learning model</a:t>
            </a:r>
          </a:p>
          <a:p>
            <a:r>
              <a:rPr lang="en-US" sz="2400" dirty="0">
                <a:latin typeface="Times New Roman" panose="02020603050405020304" pitchFamily="18" charset="0"/>
                <a:cs typeface="Times New Roman" panose="02020603050405020304" pitchFamily="18" charset="0"/>
              </a:rPr>
              <a:t>To classify skin lesions as normal or suspicious</a:t>
            </a:r>
          </a:p>
          <a:p>
            <a:r>
              <a:rPr lang="en-US" sz="2400" dirty="0">
                <a:latin typeface="Times New Roman" panose="02020603050405020304" pitchFamily="18" charset="0"/>
                <a:cs typeface="Times New Roman" panose="02020603050405020304" pitchFamily="18" charset="0"/>
              </a:rPr>
              <a:t>To provide a low-cost, portable, and efficient preliminary screening tool</a:t>
            </a:r>
          </a:p>
          <a:p>
            <a:r>
              <a:rPr lang="en-US" sz="2400" dirty="0">
                <a:latin typeface="Times New Roman" panose="02020603050405020304" pitchFamily="18" charset="0"/>
                <a:cs typeface="Times New Roman" panose="02020603050405020304" pitchFamily="18" charset="0"/>
              </a:rPr>
              <a:t>To demonstrate the integration of artificial intelligence with embedded hardware</a:t>
            </a:r>
          </a:p>
          <a:p>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Components Used</a:t>
            </a:r>
          </a:p>
        </p:txBody>
      </p:sp>
      <p:sp>
        <p:nvSpPr>
          <p:cNvPr id="3" name="Content Placeholder 2"/>
          <p:cNvSpPr>
            <a:spLocks noGrp="1"/>
          </p:cNvSpPr>
          <p:nvPr>
            <p:ph idx="1"/>
          </p:nvPr>
        </p:nvSpPr>
        <p:spPr>
          <a:xfrm>
            <a:off x="832236" y="2260164"/>
            <a:ext cx="10527527" cy="1572366"/>
          </a:xfrm>
        </p:spPr>
        <p:txBody>
          <a:bodyPr>
            <a:normAutofit/>
          </a:bodyPr>
          <a:lstStyle/>
          <a:p>
            <a:r>
              <a:rPr lang="en-US" sz="2400" dirty="0">
                <a:latin typeface="Times New Roman" panose="02020603050405020304" pitchFamily="18" charset="0"/>
                <a:cs typeface="Times New Roman" panose="02020603050405020304" pitchFamily="18" charset="0"/>
              </a:rPr>
              <a:t>ESP32-CAM Module – Used for capturing skin lesion images</a:t>
            </a:r>
          </a:p>
          <a:p>
            <a:r>
              <a:rPr lang="en-US" sz="2400" dirty="0">
                <a:latin typeface="Times New Roman" panose="02020603050405020304" pitchFamily="18" charset="0"/>
                <a:cs typeface="Times New Roman" panose="02020603050405020304" pitchFamily="18" charset="0"/>
              </a:rPr>
              <a:t>USB-to-TTL Programmer – Used for programming the ESP32-CAM</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Methodology </a:t>
            </a:r>
            <a:r>
              <a:rPr lang="en-US" sz="3600" b="1" dirty="0">
                <a:solidFill>
                  <a:schemeClr val="tx2"/>
                </a:solidFill>
                <a:latin typeface="Times New Roman" panose="02020603050405020304" pitchFamily="18" charset="0"/>
                <a:cs typeface="Times New Roman" panose="02020603050405020304" pitchFamily="18" charset="0"/>
              </a:rPr>
              <a:t>–</a:t>
            </a:r>
            <a:r>
              <a:rPr sz="3600" b="1" dirty="0">
                <a:solidFill>
                  <a:schemeClr val="tx2"/>
                </a:solidFill>
                <a:latin typeface="Times New Roman" panose="02020603050405020304" pitchFamily="18" charset="0"/>
                <a:cs typeface="Times New Roman" panose="02020603050405020304" pitchFamily="18" charset="0"/>
              </a:rPr>
              <a:t> </a:t>
            </a:r>
            <a:r>
              <a:rPr lang="en-US" sz="3600" b="1" dirty="0">
                <a:solidFill>
                  <a:schemeClr val="tx2"/>
                </a:solidFill>
                <a:latin typeface="Times New Roman" panose="02020603050405020304" pitchFamily="18" charset="0"/>
                <a:cs typeface="Times New Roman" panose="02020603050405020304" pitchFamily="18" charset="0"/>
              </a:rPr>
              <a:t>Skin Cancer Detection</a:t>
            </a:r>
            <a:endParaRPr sz="3600" b="1"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989819"/>
            <a:ext cx="10972800" cy="3981611"/>
          </a:xfrm>
        </p:spPr>
        <p:txBody>
          <a:bodyPr>
            <a:normAutofit/>
          </a:bodyPr>
          <a:lstStyle/>
          <a:p>
            <a:r>
              <a:rPr sz="2400" dirty="0">
                <a:latin typeface="Times New Roman" panose="02020603050405020304" pitchFamily="18" charset="0"/>
                <a:cs typeface="Times New Roman" panose="02020603050405020304" pitchFamily="18" charset="0"/>
              </a:rPr>
              <a:t>Power Supply:</a:t>
            </a:r>
            <a:r>
              <a:rPr lang="en-US" sz="2400" dirty="0">
                <a:latin typeface="Times New Roman" panose="02020603050405020304" pitchFamily="18" charset="0"/>
                <a:cs typeface="Times New Roman" panose="02020603050405020304" pitchFamily="18" charset="0"/>
              </a:rPr>
              <a:t> USB Supply</a:t>
            </a:r>
            <a:endParaRPr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Image Acquisition: ESP32-CAM Module</a:t>
            </a:r>
          </a:p>
          <a:p>
            <a:r>
              <a:rPr lang="en-US" sz="2400" dirty="0">
                <a:latin typeface="Times New Roman" panose="02020603050405020304" pitchFamily="18" charset="0"/>
                <a:cs typeface="Times New Roman" panose="02020603050405020304" pitchFamily="18" charset="0"/>
              </a:rPr>
              <a:t>Image Processing: OpenCV </a:t>
            </a:r>
          </a:p>
          <a:p>
            <a:r>
              <a:rPr lang="en-US" sz="2400" dirty="0">
                <a:latin typeface="Times New Roman" panose="02020603050405020304" pitchFamily="18" charset="0"/>
                <a:cs typeface="Times New Roman" panose="02020603050405020304" pitchFamily="18" charset="0"/>
              </a:rPr>
              <a:t>AI Processing: TensorFlow/TensorFlow lite</a:t>
            </a:r>
            <a:endParaRPr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Output: Normal / Suspicious Classification</a:t>
            </a:r>
            <a:endParaRPr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Workflow: ESP32-CAM </a:t>
            </a: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Preprocessing </a:t>
            </a:r>
            <a:r>
              <a:rPr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AI Model → Prediction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14A60994-D102-D6E6-293B-4CE5D6E560ED}"/>
              </a:ext>
            </a:extLst>
          </p:cNvPr>
          <p:cNvPicPr>
            <a:picLocks noChangeAspect="1"/>
          </p:cNvPicPr>
          <p:nvPr/>
        </p:nvPicPr>
        <p:blipFill rotWithShape="1">
          <a:blip r:embed="rId2"/>
          <a:srcRect b="13205"/>
          <a:stretch/>
        </p:blipFill>
        <p:spPr>
          <a:xfrm>
            <a:off x="0" y="352422"/>
            <a:ext cx="9672629" cy="5381901"/>
          </a:xfrm>
          <a:prstGeom prst="rect">
            <a:avLst/>
          </a:prstGeom>
        </p:spPr>
      </p:pic>
      <p:pic>
        <p:nvPicPr>
          <p:cNvPr id="3" name="Picture 2">
            <a:extLst>
              <a:ext uri="{FF2B5EF4-FFF2-40B4-BE49-F238E27FC236}">
                <a16:creationId xmlns:a16="http://schemas.microsoft.com/office/drawing/2014/main" id="{BA0203E7-40F8-41D6-961E-B725D8C05BBB}"/>
              </a:ext>
            </a:extLst>
          </p:cNvPr>
          <p:cNvPicPr>
            <a:picLocks noChangeAspect="1"/>
          </p:cNvPicPr>
          <p:nvPr/>
        </p:nvPicPr>
        <p:blipFill rotWithShape="1">
          <a:blip r:embed="rId3"/>
          <a:srcRect b="11023"/>
          <a:stretch/>
        </p:blipFill>
        <p:spPr>
          <a:xfrm>
            <a:off x="8883905" y="843135"/>
            <a:ext cx="3308095" cy="4400473"/>
          </a:xfrm>
          <a:prstGeom prst="rect">
            <a:avLst/>
          </a:prstGeom>
        </p:spPr>
      </p:pic>
    </p:spTree>
    <p:extLst>
      <p:ext uri="{BB962C8B-B14F-4D97-AF65-F5344CB8AC3E}">
        <p14:creationId xmlns:p14="http://schemas.microsoft.com/office/powerpoint/2010/main" val="1509309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40C7-E35F-84D7-9BBD-D67D691BFE10}"/>
              </a:ext>
            </a:extLst>
          </p:cNvPr>
          <p:cNvSpPr>
            <a:spLocks noGrp="1"/>
          </p:cNvSpPr>
          <p:nvPr>
            <p:ph type="title"/>
          </p:nvPr>
        </p:nvSpPr>
        <p:spPr>
          <a:xfrm>
            <a:off x="609600" y="20638"/>
            <a:ext cx="10972800" cy="1143000"/>
          </a:xfrm>
        </p:spPr>
        <p:txBody>
          <a:bodyPr>
            <a:normAutofit/>
          </a:bodyPr>
          <a:lstStyle/>
          <a:p>
            <a:r>
              <a:rPr lang="en-US" sz="3600" b="1" dirty="0">
                <a:solidFill>
                  <a:schemeClr val="tx2"/>
                </a:solidFill>
                <a:latin typeface="Times New Roman" panose="02020603050405020304" pitchFamily="18" charset="0"/>
                <a:cs typeface="Times New Roman" panose="02020603050405020304" pitchFamily="18" charset="0"/>
              </a:rPr>
              <a:t>Connections</a:t>
            </a:r>
          </a:p>
        </p:txBody>
      </p:sp>
      <p:pic>
        <p:nvPicPr>
          <p:cNvPr id="6" name="Content Placeholder 5">
            <a:extLst>
              <a:ext uri="{FF2B5EF4-FFF2-40B4-BE49-F238E27FC236}">
                <a16:creationId xmlns:a16="http://schemas.microsoft.com/office/drawing/2014/main" id="{8E1412C5-5B35-7500-3951-44C8F51BF72D}"/>
              </a:ext>
            </a:extLst>
          </p:cNvPr>
          <p:cNvPicPr>
            <a:picLocks noGrp="1" noChangeAspect="1"/>
          </p:cNvPicPr>
          <p:nvPr>
            <p:ph idx="1"/>
          </p:nvPr>
        </p:nvPicPr>
        <p:blipFill>
          <a:blip r:embed="rId2"/>
          <a:stretch>
            <a:fillRect/>
          </a:stretch>
        </p:blipFill>
        <p:spPr>
          <a:xfrm>
            <a:off x="2463800" y="1600200"/>
            <a:ext cx="7264399" cy="4525963"/>
          </a:xfrm>
          <a:prstGeom prst="rect">
            <a:avLst/>
          </a:prstGeom>
        </p:spPr>
      </p:pic>
    </p:spTree>
    <p:extLst>
      <p:ext uri="{BB962C8B-B14F-4D97-AF65-F5344CB8AC3E}">
        <p14:creationId xmlns:p14="http://schemas.microsoft.com/office/powerpoint/2010/main" val="2593492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Working Principle</a:t>
            </a:r>
          </a:p>
        </p:txBody>
      </p:sp>
      <p:sp>
        <p:nvSpPr>
          <p:cNvPr id="3" name="Content Placeholder 2"/>
          <p:cNvSpPr>
            <a:spLocks noGrp="1"/>
          </p:cNvSpPr>
          <p:nvPr>
            <p:ph idx="1"/>
          </p:nvPr>
        </p:nvSpPr>
        <p:spPr>
          <a:xfrm>
            <a:off x="609600" y="1854205"/>
            <a:ext cx="10972800" cy="4525963"/>
          </a:xfrm>
        </p:spPr>
        <p:txBody>
          <a:bodyPr>
            <a:normAutofit/>
          </a:bodyPr>
          <a:lstStyle/>
          <a:p>
            <a:r>
              <a:rPr lang="en-US" sz="2400" dirty="0">
                <a:latin typeface="Times New Roman" panose="02020603050405020304" pitchFamily="18" charset="0"/>
                <a:cs typeface="Times New Roman" panose="02020603050405020304" pitchFamily="18" charset="0"/>
              </a:rPr>
              <a:t>ESP32-CAM captures the lesion image.</a:t>
            </a:r>
          </a:p>
          <a:p>
            <a:r>
              <a:rPr lang="en-US" sz="2400" dirty="0">
                <a:latin typeface="Times New Roman" panose="02020603050405020304" pitchFamily="18" charset="0"/>
                <a:cs typeface="Times New Roman" panose="02020603050405020304" pitchFamily="18" charset="0"/>
              </a:rPr>
              <a:t>The image is transferred for processing.</a:t>
            </a:r>
          </a:p>
          <a:p>
            <a:r>
              <a:rPr lang="en-US" sz="2400" dirty="0">
                <a:latin typeface="Times New Roman" panose="02020603050405020304" pitchFamily="18" charset="0"/>
                <a:cs typeface="Times New Roman" panose="02020603050405020304" pitchFamily="18" charset="0"/>
              </a:rPr>
              <a:t>OpenCV preprocesses the image.</a:t>
            </a:r>
          </a:p>
          <a:p>
            <a:r>
              <a:rPr lang="en-US" sz="2400" dirty="0">
                <a:latin typeface="Times New Roman" panose="02020603050405020304" pitchFamily="18" charset="0"/>
                <a:cs typeface="Times New Roman" panose="02020603050405020304" pitchFamily="18" charset="0"/>
              </a:rPr>
              <a:t>TensorFlow extracts lesion features.</a:t>
            </a:r>
          </a:p>
          <a:p>
            <a:r>
              <a:rPr lang="en-US" sz="2400" dirty="0">
                <a:latin typeface="Times New Roman" panose="02020603050405020304" pitchFamily="18" charset="0"/>
                <a:cs typeface="Times New Roman" panose="02020603050405020304" pitchFamily="18" charset="0"/>
              </a:rPr>
              <a:t>The AI model predicts the lesion type.</a:t>
            </a:r>
          </a:p>
          <a:p>
            <a:r>
              <a:rPr lang="en-US" sz="2400" dirty="0">
                <a:latin typeface="Times New Roman" panose="02020603050405020304" pitchFamily="18" charset="0"/>
                <a:cs typeface="Times New Roman" panose="02020603050405020304" pitchFamily="18" charset="0"/>
              </a:rPr>
              <a:t>Results are displayed to the user.</a:t>
            </a:r>
          </a:p>
          <a:p>
            <a:r>
              <a:rPr lang="en-US" sz="2400" dirty="0">
                <a:latin typeface="Times New Roman" panose="02020603050405020304" pitchFamily="18" charset="0"/>
                <a:cs typeface="Times New Roman" panose="02020603050405020304" pitchFamily="18" charset="0"/>
              </a:rPr>
              <a:t>Suspicious cases are advised for medical consultation.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Applications</a:t>
            </a:r>
          </a:p>
        </p:txBody>
      </p:sp>
      <p:sp>
        <p:nvSpPr>
          <p:cNvPr id="3" name="Content Placeholder 2"/>
          <p:cNvSpPr>
            <a:spLocks noGrp="1"/>
          </p:cNvSpPr>
          <p:nvPr>
            <p:ph idx="1"/>
          </p:nvPr>
        </p:nvSpPr>
        <p:spPr>
          <a:xfrm>
            <a:off x="497840" y="1671319"/>
            <a:ext cx="10972800" cy="4525963"/>
          </a:xfrm>
        </p:spPr>
        <p:txBody>
          <a:bodyPr>
            <a:normAutofit/>
          </a:bodyPr>
          <a:lstStyle/>
          <a:p>
            <a:r>
              <a:rPr lang="en-US" sz="2400" dirty="0">
                <a:latin typeface="Times New Roman" panose="02020603050405020304" pitchFamily="18" charset="0"/>
                <a:cs typeface="Times New Roman" panose="02020603050405020304" pitchFamily="18" charset="0"/>
              </a:rPr>
              <a:t>Preliminary skin cancer screening.</a:t>
            </a:r>
          </a:p>
          <a:p>
            <a:r>
              <a:rPr lang="en-US" sz="2400" dirty="0">
                <a:latin typeface="Times New Roman" panose="02020603050405020304" pitchFamily="18" charset="0"/>
                <a:cs typeface="Times New Roman" panose="02020603050405020304" pitchFamily="18" charset="0"/>
              </a:rPr>
              <a:t>Rural healthcare centers.</a:t>
            </a:r>
          </a:p>
          <a:p>
            <a:r>
              <a:rPr lang="en-US" sz="2400" dirty="0">
                <a:latin typeface="Times New Roman" panose="02020603050405020304" pitchFamily="18" charset="0"/>
                <a:cs typeface="Times New Roman" panose="02020603050405020304" pitchFamily="18" charset="0"/>
              </a:rPr>
              <a:t>Telemedicine support.</a:t>
            </a:r>
          </a:p>
          <a:p>
            <a:r>
              <a:rPr lang="en-US" sz="2400" dirty="0">
                <a:latin typeface="Times New Roman" panose="02020603050405020304" pitchFamily="18" charset="0"/>
                <a:cs typeface="Times New Roman" panose="02020603050405020304" pitchFamily="18" charset="0"/>
              </a:rPr>
              <a:t>Community health camps.</a:t>
            </a:r>
          </a:p>
          <a:p>
            <a:r>
              <a:rPr lang="en-US" sz="2400" dirty="0">
                <a:latin typeface="Times New Roman" panose="02020603050405020304" pitchFamily="18" charset="0"/>
                <a:cs typeface="Times New Roman" panose="02020603050405020304" pitchFamily="18" charset="0"/>
              </a:rPr>
              <a:t>Home-based monitoring.</a:t>
            </a:r>
          </a:p>
          <a:p>
            <a:r>
              <a:rPr lang="en-US" sz="2400" dirty="0">
                <a:latin typeface="Times New Roman" panose="02020603050405020304" pitchFamily="18" charset="0"/>
                <a:cs typeface="Times New Roman" panose="02020603050405020304" pitchFamily="18" charset="0"/>
              </a:rPr>
              <a:t>Medical awareness programs.</a:t>
            </a:r>
          </a:p>
          <a:p>
            <a:r>
              <a:rPr lang="en-US" sz="2400" dirty="0">
                <a:latin typeface="Times New Roman" panose="02020603050405020304" pitchFamily="18" charset="0"/>
                <a:cs typeface="Times New Roman" panose="02020603050405020304" pitchFamily="18" charset="0"/>
              </a:rPr>
              <a:t>Educational demonstrations.</a:t>
            </a:r>
            <a:endParaRPr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DAB91E0-0F52-774D-15BD-CF90BE6D7377}"/>
              </a:ext>
            </a:extLst>
          </p:cNvPr>
          <p:cNvSpPr>
            <a:spLocks noChangeArrowheads="1"/>
          </p:cNvSpPr>
          <p:nvPr/>
        </p:nvSpPr>
        <p:spPr bwMode="auto">
          <a:xfrm>
            <a:off x="721360" y="4076114"/>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Low-cost implementation.</a:t>
            </a:r>
          </a:p>
          <a:p>
            <a:r>
              <a:rPr lang="en-US" sz="2400" dirty="0">
                <a:latin typeface="Times New Roman" panose="02020603050405020304" pitchFamily="18" charset="0"/>
                <a:cs typeface="Times New Roman" panose="02020603050405020304" pitchFamily="18" charset="0"/>
              </a:rPr>
              <a:t>Portable and compact.</a:t>
            </a:r>
          </a:p>
          <a:p>
            <a:r>
              <a:rPr lang="en-US" sz="2400" dirty="0">
                <a:latin typeface="Times New Roman" panose="02020603050405020304" pitchFamily="18" charset="0"/>
                <a:cs typeface="Times New Roman" panose="02020603050405020304" pitchFamily="18" charset="0"/>
              </a:rPr>
              <a:t>Easy to operate.</a:t>
            </a:r>
          </a:p>
          <a:p>
            <a:r>
              <a:rPr lang="en-US" sz="2400" dirty="0">
                <a:latin typeface="Times New Roman" panose="02020603050405020304" pitchFamily="18" charset="0"/>
                <a:cs typeface="Times New Roman" panose="02020603050405020304" pitchFamily="18" charset="0"/>
              </a:rPr>
              <a:t>Faster preliminary screening.</a:t>
            </a:r>
          </a:p>
          <a:p>
            <a:r>
              <a:rPr lang="en-US" sz="2400" dirty="0">
                <a:latin typeface="Times New Roman" panose="02020603050405020304" pitchFamily="18" charset="0"/>
                <a:cs typeface="Times New Roman" panose="02020603050405020304" pitchFamily="18" charset="0"/>
              </a:rPr>
              <a:t>Improves healthcare accessibility.</a:t>
            </a:r>
          </a:p>
          <a:p>
            <a:r>
              <a:rPr lang="en-US" sz="2400" dirty="0">
                <a:latin typeface="Times New Roman" panose="02020603050405020304" pitchFamily="18" charset="0"/>
                <a:cs typeface="Times New Roman" panose="02020603050405020304" pitchFamily="18" charset="0"/>
              </a:rPr>
              <a:t>Encourages early diagnosis.</a:t>
            </a:r>
          </a:p>
          <a:p>
            <a:r>
              <a:rPr lang="en-US" sz="2400" dirty="0">
                <a:latin typeface="Times New Roman" panose="02020603050405020304" pitchFamily="18" charset="0"/>
                <a:cs typeface="Times New Roman" panose="02020603050405020304" pitchFamily="18" charset="0"/>
              </a:rPr>
              <a:t>Suitable for remote areas.</a:t>
            </a:r>
          </a:p>
          <a:p>
            <a:r>
              <a:rPr lang="en-US" sz="2400" dirty="0">
                <a:latin typeface="Times New Roman" panose="02020603050405020304" pitchFamily="18" charset="0"/>
                <a:cs typeface="Times New Roman" panose="02020603050405020304" pitchFamily="18" charset="0"/>
              </a:rPr>
              <a:t>Demonstrates AI–IoT integration.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520CE-5356-342A-C55B-8B29012AA28B}"/>
              </a:ext>
            </a:extLst>
          </p:cNvPr>
          <p:cNvSpPr>
            <a:spLocks noGrp="1"/>
          </p:cNvSpPr>
          <p:nvPr>
            <p:ph type="title"/>
          </p:nvPr>
        </p:nvSpPr>
        <p:spPr/>
        <p:txBody>
          <a:bodyPr>
            <a:normAutofit/>
          </a:bodyPr>
          <a:lstStyle/>
          <a:p>
            <a:r>
              <a:rPr lang="en-US" sz="3600" b="1" dirty="0">
                <a:solidFill>
                  <a:schemeClr val="tx2"/>
                </a:solidFill>
                <a:latin typeface="Times New Roman" panose="02020603050405020304" pitchFamily="18" charset="0"/>
                <a:cs typeface="Times New Roman" panose="02020603050405020304" pitchFamily="18" charset="0"/>
              </a:rPr>
              <a:t>Disadvantages</a:t>
            </a:r>
          </a:p>
        </p:txBody>
      </p:sp>
      <p:sp>
        <p:nvSpPr>
          <p:cNvPr id="3" name="Content Placeholder 2">
            <a:extLst>
              <a:ext uri="{FF2B5EF4-FFF2-40B4-BE49-F238E27FC236}">
                <a16:creationId xmlns:a16="http://schemas.microsoft.com/office/drawing/2014/main" id="{EC862DB3-6F45-B998-689D-59B391470065}"/>
              </a:ext>
            </a:extLst>
          </p:cNvPr>
          <p:cNvSpPr>
            <a:spLocks noGrp="1"/>
          </p:cNvSpPr>
          <p:nvPr>
            <p:ph idx="1"/>
          </p:nvPr>
        </p:nvSpPr>
        <p:spPr>
          <a:xfrm>
            <a:off x="689113" y="1703572"/>
            <a:ext cx="10972800" cy="4525963"/>
          </a:xfrm>
        </p:spPr>
        <p:txBody>
          <a:bodyPr>
            <a:normAutofit/>
          </a:bodyPr>
          <a:lstStyle/>
          <a:p>
            <a:r>
              <a:rPr lang="en-US" sz="2400" dirty="0">
                <a:latin typeface="Times New Roman" panose="02020603050405020304" pitchFamily="18" charset="0"/>
                <a:cs typeface="Times New Roman" panose="02020603050405020304" pitchFamily="18" charset="0"/>
              </a:rPr>
              <a:t>Cannot replace dermatologist diagnosis.</a:t>
            </a:r>
          </a:p>
          <a:p>
            <a:r>
              <a:rPr lang="en-US" sz="2400" dirty="0">
                <a:latin typeface="Times New Roman" panose="02020603050405020304" pitchFamily="18" charset="0"/>
                <a:cs typeface="Times New Roman" panose="02020603050405020304" pitchFamily="18" charset="0"/>
              </a:rPr>
              <a:t>Accuracy depends on training dataset.</a:t>
            </a:r>
          </a:p>
          <a:p>
            <a:r>
              <a:rPr lang="en-US" sz="2400" dirty="0">
                <a:latin typeface="Times New Roman" panose="02020603050405020304" pitchFamily="18" charset="0"/>
                <a:cs typeface="Times New Roman" panose="02020603050405020304" pitchFamily="18" charset="0"/>
              </a:rPr>
              <a:t>Lighting variations affect performance.</a:t>
            </a:r>
          </a:p>
          <a:p>
            <a:r>
              <a:rPr lang="en-US" sz="2400" dirty="0">
                <a:latin typeface="Times New Roman" panose="02020603050405020304" pitchFamily="18" charset="0"/>
                <a:cs typeface="Times New Roman" panose="02020603050405020304" pitchFamily="18" charset="0"/>
              </a:rPr>
              <a:t>Limited processing capability of ESP32-CAM.</a:t>
            </a:r>
          </a:p>
          <a:p>
            <a:r>
              <a:rPr lang="en-US" sz="2400" dirty="0">
                <a:latin typeface="Times New Roman" panose="02020603050405020304" pitchFamily="18" charset="0"/>
                <a:cs typeface="Times New Roman" panose="02020603050405020304" pitchFamily="18" charset="0"/>
              </a:rPr>
              <a:t>Restricted to preliminary screening.</a:t>
            </a:r>
          </a:p>
          <a:p>
            <a:r>
              <a:rPr lang="en-US" sz="2400" dirty="0">
                <a:latin typeface="Times New Roman" panose="02020603050405020304" pitchFamily="18" charset="0"/>
                <a:cs typeface="Times New Roman" panose="02020603050405020304" pitchFamily="18" charset="0"/>
              </a:rPr>
              <a:t>Requires further clinical validation.</a:t>
            </a:r>
          </a:p>
        </p:txBody>
      </p:sp>
    </p:spTree>
    <p:extLst>
      <p:ext uri="{BB962C8B-B14F-4D97-AF65-F5344CB8AC3E}">
        <p14:creationId xmlns:p14="http://schemas.microsoft.com/office/powerpoint/2010/main" val="434980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1A2F3-8C74-CAEE-C279-A99D92C7DE76}"/>
              </a:ext>
            </a:extLst>
          </p:cNvPr>
          <p:cNvSpPr>
            <a:spLocks noGrp="1"/>
          </p:cNvSpPr>
          <p:nvPr>
            <p:ph type="title"/>
          </p:nvPr>
        </p:nvSpPr>
        <p:spPr>
          <a:xfrm>
            <a:off x="756745" y="-125003"/>
            <a:ext cx="10972800" cy="1143000"/>
          </a:xfrm>
        </p:spPr>
        <p:txBody>
          <a:bodyPr>
            <a:normAutofit/>
          </a:bodyPr>
          <a:lstStyle/>
          <a:p>
            <a:r>
              <a:rPr lang="en-US" sz="3600" b="1" dirty="0">
                <a:solidFill>
                  <a:schemeClr val="tx2"/>
                </a:solidFill>
                <a:latin typeface="Times New Roman" panose="02020603050405020304" pitchFamily="18" charset="0"/>
                <a:cs typeface="Times New Roman" panose="02020603050405020304" pitchFamily="18" charset="0"/>
              </a:rPr>
              <a:t>Image</a:t>
            </a:r>
          </a:p>
        </p:txBody>
      </p:sp>
      <p:pic>
        <p:nvPicPr>
          <p:cNvPr id="6" name="Content Placeholder 5">
            <a:extLst>
              <a:ext uri="{FF2B5EF4-FFF2-40B4-BE49-F238E27FC236}">
                <a16:creationId xmlns:a16="http://schemas.microsoft.com/office/drawing/2014/main" id="{7EB9EECD-2296-5638-851C-8A4549610C09}"/>
              </a:ext>
            </a:extLst>
          </p:cNvPr>
          <p:cNvPicPr>
            <a:picLocks noGrp="1" noChangeAspect="1"/>
          </p:cNvPicPr>
          <p:nvPr>
            <p:ph idx="1"/>
          </p:nvPr>
        </p:nvPicPr>
        <p:blipFill>
          <a:blip r:embed="rId2"/>
          <a:stretch>
            <a:fillRect/>
          </a:stretch>
        </p:blipFill>
        <p:spPr>
          <a:xfrm>
            <a:off x="4535234" y="1017997"/>
            <a:ext cx="3415821" cy="4525963"/>
          </a:xfrm>
          <a:prstGeom prst="rect">
            <a:avLst/>
          </a:prstGeom>
        </p:spPr>
      </p:pic>
    </p:spTree>
    <p:extLst>
      <p:ext uri="{BB962C8B-B14F-4D97-AF65-F5344CB8AC3E}">
        <p14:creationId xmlns:p14="http://schemas.microsoft.com/office/powerpoint/2010/main" val="1927664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09600" y="1844045"/>
            <a:ext cx="10972800" cy="4525963"/>
          </a:xfrm>
        </p:spPr>
        <p:txBody>
          <a:bodyPr>
            <a:normAutofit/>
          </a:bodyPr>
          <a:lstStyle/>
          <a:p>
            <a:r>
              <a:rPr lang="en-US" sz="2400" dirty="0">
                <a:latin typeface="Times New Roman" panose="02020603050405020304" pitchFamily="18" charset="0"/>
                <a:cs typeface="Times New Roman" panose="02020603050405020304" pitchFamily="18" charset="0"/>
              </a:rPr>
              <a:t>Developed an AI-assisted skin lesion detection prototype.</a:t>
            </a:r>
          </a:p>
          <a:p>
            <a:r>
              <a:rPr lang="en-US" sz="2400" dirty="0">
                <a:latin typeface="Times New Roman" panose="02020603050405020304" pitchFamily="18" charset="0"/>
                <a:cs typeface="Times New Roman" panose="02020603050405020304" pitchFamily="18" charset="0"/>
              </a:rPr>
              <a:t>Successfully integrated ESP32-CAM with machine learning.</a:t>
            </a:r>
          </a:p>
          <a:p>
            <a:r>
              <a:rPr lang="en-US" sz="2400" dirty="0">
                <a:latin typeface="Times New Roman" panose="02020603050405020304" pitchFamily="18" charset="0"/>
                <a:cs typeface="Times New Roman" panose="02020603050405020304" pitchFamily="18" charset="0"/>
              </a:rPr>
              <a:t>Provided a low-cost healthcare screening approach.</a:t>
            </a:r>
          </a:p>
          <a:p>
            <a:r>
              <a:rPr lang="en-US" sz="2400" dirty="0">
                <a:latin typeface="Times New Roman" panose="02020603050405020304" pitchFamily="18" charset="0"/>
                <a:cs typeface="Times New Roman" panose="02020603050405020304" pitchFamily="18" charset="0"/>
              </a:rPr>
              <a:t>Increased awareness regarding early detection.</a:t>
            </a:r>
          </a:p>
          <a:p>
            <a:r>
              <a:rPr lang="en-US" sz="2400" dirty="0">
                <a:latin typeface="Times New Roman" panose="02020603050405020304" pitchFamily="18" charset="0"/>
                <a:cs typeface="Times New Roman" panose="02020603050405020304" pitchFamily="18" charset="0"/>
              </a:rPr>
              <a:t>Demonstrated practical IoT healthcare applications.</a:t>
            </a:r>
          </a:p>
          <a:p>
            <a:r>
              <a:rPr lang="en-US" sz="2400" dirty="0">
                <a:latin typeface="Times New Roman" panose="02020603050405020304" pitchFamily="18" charset="0"/>
                <a:cs typeface="Times New Roman" panose="02020603050405020304" pitchFamily="18" charset="0"/>
              </a:rPr>
              <a:t>Shows potential for real-world implementation.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solidFill>
                  <a:schemeClr val="tx2"/>
                </a:solidFill>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Improve model accuracy using larger datasets.</a:t>
            </a:r>
          </a:p>
          <a:p>
            <a:r>
              <a:rPr lang="en-US" sz="2400" dirty="0">
                <a:latin typeface="Times New Roman" panose="02020603050405020304" pitchFamily="18" charset="0"/>
                <a:cs typeface="Times New Roman" panose="02020603050405020304" pitchFamily="18" charset="0"/>
              </a:rPr>
              <a:t>Detect multiple skin diseases.</a:t>
            </a:r>
          </a:p>
          <a:p>
            <a:r>
              <a:rPr lang="en-US" sz="2400" dirty="0">
                <a:latin typeface="Times New Roman" panose="02020603050405020304" pitchFamily="18" charset="0"/>
                <a:cs typeface="Times New Roman" panose="02020603050405020304" pitchFamily="18" charset="0"/>
              </a:rPr>
              <a:t>Develop a mobile application.</a:t>
            </a:r>
          </a:p>
          <a:p>
            <a:r>
              <a:rPr lang="en-US" sz="2400" dirty="0">
                <a:latin typeface="Times New Roman" panose="02020603050405020304" pitchFamily="18" charset="0"/>
                <a:cs typeface="Times New Roman" panose="02020603050405020304" pitchFamily="18" charset="0"/>
              </a:rPr>
              <a:t>Integrate cloud connectivity.</a:t>
            </a:r>
          </a:p>
          <a:p>
            <a:r>
              <a:rPr lang="en-US" sz="2400" dirty="0">
                <a:latin typeface="Times New Roman" panose="02020603050405020304" pitchFamily="18" charset="0"/>
                <a:cs typeface="Times New Roman" panose="02020603050405020304" pitchFamily="18" charset="0"/>
              </a:rPr>
              <a:t>Enable remote healthcare monitoring.</a:t>
            </a:r>
          </a:p>
          <a:p>
            <a:r>
              <a:rPr lang="en-US" sz="2400" dirty="0">
                <a:latin typeface="Times New Roman" panose="02020603050405020304" pitchFamily="18" charset="0"/>
                <a:cs typeface="Times New Roman" panose="02020603050405020304" pitchFamily="18" charset="0"/>
              </a:rPr>
              <a:t>Support telemedicine platforms.</a:t>
            </a:r>
          </a:p>
          <a:p>
            <a:r>
              <a:rPr lang="en-US" sz="2400" dirty="0">
                <a:latin typeface="Times New Roman" panose="02020603050405020304" pitchFamily="18" charset="0"/>
                <a:cs typeface="Times New Roman" panose="02020603050405020304" pitchFamily="18" charset="0"/>
              </a:rPr>
              <a:t>Generate automated reports.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2FDC6-BC77-E171-1D1D-3366036BB848}"/>
              </a:ext>
            </a:extLst>
          </p:cNvPr>
          <p:cNvSpPr>
            <a:spLocks noGrp="1"/>
          </p:cNvSpPr>
          <p:nvPr>
            <p:ph type="title"/>
          </p:nvPr>
        </p:nvSpPr>
        <p:spPr/>
        <p:txBody>
          <a:bodyPr>
            <a:normAutofit/>
          </a:bodyPr>
          <a:lstStyle/>
          <a:p>
            <a:r>
              <a:rPr lang="en-US" sz="3600" b="1" dirty="0">
                <a:solidFill>
                  <a:schemeClr val="tx2"/>
                </a:solidFill>
                <a:latin typeface="Times New Roman" panose="02020603050405020304" pitchFamily="18" charset="0"/>
                <a:cs typeface="Times New Roman" panose="02020603050405020304" pitchFamily="18" charset="0"/>
              </a:rPr>
              <a:t>References</a:t>
            </a:r>
            <a:endParaRPr lang="en-US" sz="3600"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52F8C2-412A-1217-9E85-32CDEAF46E9D}"/>
              </a:ext>
            </a:extLst>
          </p:cNvPr>
          <p:cNvSpPr>
            <a:spLocks noGrp="1"/>
          </p:cNvSpPr>
          <p:nvPr>
            <p:ph idx="1"/>
          </p:nvPr>
        </p:nvSpPr>
        <p:spPr>
          <a:xfrm>
            <a:off x="609600" y="1336045"/>
            <a:ext cx="10972800" cy="4525963"/>
          </a:xfrm>
        </p:spPr>
        <p:txBody>
          <a:bodyPr>
            <a:normAutofit fontScale="55000" lnSpcReduction="20000"/>
          </a:bodyPr>
          <a:lstStyle/>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Technical Documentation</a:t>
            </a:r>
            <a:endParaRPr lang="en-US" dirty="0">
              <a:latin typeface="Times New Roman" panose="02020603050405020304" pitchFamily="18" charset="0"/>
              <a:cs typeface="Times New Roman" panose="02020603050405020304" pitchFamily="18" charset="0"/>
            </a:endParaRPr>
          </a:p>
          <a:p>
            <a:r>
              <a:rPr lang="en-IN" dirty="0"/>
              <a:t>ESP32-CAM Datasheet – </a:t>
            </a:r>
            <a:r>
              <a:rPr lang="en-IN" dirty="0" err="1"/>
              <a:t>Espressif</a:t>
            </a:r>
            <a:r>
              <a:rPr lang="en-IN" dirty="0"/>
              <a:t> Systems</a:t>
            </a:r>
          </a:p>
          <a:p>
            <a:r>
              <a:rPr lang="en-IN" dirty="0"/>
              <a:t> TensorFlow Lite Documentation – Google</a:t>
            </a:r>
          </a:p>
          <a:p>
            <a:r>
              <a:rPr lang="en-IN" dirty="0"/>
              <a:t> OpenCV Documentation – OpenCV Foundation</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Research Papers</a:t>
            </a:r>
            <a:endParaRPr lang="en-US" dirty="0">
              <a:latin typeface="Times New Roman" panose="02020603050405020304" pitchFamily="18" charset="0"/>
              <a:cs typeface="Times New Roman" panose="02020603050405020304" pitchFamily="18" charset="0"/>
            </a:endParaRPr>
          </a:p>
          <a:p>
            <a:r>
              <a:rPr lang="en-IN" dirty="0"/>
              <a:t>Skin Cancer Classification Using Deep Learning Techniques </a:t>
            </a:r>
          </a:p>
          <a:p>
            <a:r>
              <a:rPr lang="en-IN" dirty="0"/>
              <a:t>Automated Skin Lesion Analysis Using Convolutional Neural Networks (CNN)</a:t>
            </a:r>
          </a:p>
          <a:p>
            <a:r>
              <a:rPr lang="en-IN" dirty="0"/>
              <a:t> AI-Based Skin Disease Detection Systems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Online Resources</a:t>
            </a:r>
            <a:endParaRPr lang="en-US" dirty="0">
              <a:latin typeface="Times New Roman" panose="02020603050405020304" pitchFamily="18" charset="0"/>
              <a:cs typeface="Times New Roman" panose="02020603050405020304" pitchFamily="18" charset="0"/>
            </a:endParaRPr>
          </a:p>
          <a:p>
            <a:r>
              <a:rPr lang="en-IN" dirty="0"/>
              <a:t>ESP32 Official Documentation</a:t>
            </a:r>
          </a:p>
          <a:p>
            <a:r>
              <a:rPr lang="en-IN" dirty="0"/>
              <a:t>TensorFlow Lite Official Website</a:t>
            </a:r>
          </a:p>
          <a:p>
            <a:r>
              <a:rPr lang="en-IN"/>
              <a:t> </a:t>
            </a:r>
            <a:r>
              <a:rPr lang="en-IN" dirty="0"/>
              <a:t>OpenCV </a:t>
            </a:r>
            <a:r>
              <a:rPr lang="en-IN"/>
              <a:t>Official Website</a:t>
            </a:r>
          </a:p>
          <a:p>
            <a:r>
              <a:rPr lang="en-IN"/>
              <a:t> </a:t>
            </a:r>
            <a:r>
              <a:rPr lang="en-IN" dirty="0"/>
              <a:t>Kaggle Skin Cancer Dataset (HAM10000)</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Software Tools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Arduino IDE</a:t>
            </a:r>
            <a:r>
              <a:rPr lang="en-US" dirty="0">
                <a:latin typeface="Times New Roman" panose="02020603050405020304" pitchFamily="18" charset="0"/>
                <a:cs typeface="Times New Roman" panose="02020603050405020304" pitchFamily="18" charset="0"/>
              </a:rPr>
              <a:t> (Programming Environment)</a:t>
            </a:r>
          </a:p>
          <a:p>
            <a:endParaRPr lang="en-US" dirty="0"/>
          </a:p>
        </p:txBody>
      </p:sp>
    </p:spTree>
    <p:extLst>
      <p:ext uri="{BB962C8B-B14F-4D97-AF65-F5344CB8AC3E}">
        <p14:creationId xmlns:p14="http://schemas.microsoft.com/office/powerpoint/2010/main" val="2060128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918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807</Words>
  <Application>Microsoft Office PowerPoint</Application>
  <PresentationFormat>Widescreen</PresentationFormat>
  <Paragraphs>122</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MS PGothic</vt:lpstr>
      <vt:lpstr>Aptos</vt:lpstr>
      <vt:lpstr>Arial</vt:lpstr>
      <vt:lpstr>Calibri</vt:lpstr>
      <vt:lpstr>Roboto Medium</vt:lpstr>
      <vt:lpstr>Times New Roman</vt:lpstr>
      <vt:lpstr>Wingdings</vt:lpstr>
      <vt:lpstr>Office Theme</vt:lpstr>
      <vt:lpstr>Topic Name: Skin Cancer Detection</vt:lpstr>
      <vt:lpstr>outline</vt:lpstr>
      <vt:lpstr>Introduction</vt:lpstr>
      <vt:lpstr>Abstract</vt:lpstr>
      <vt:lpstr>Objectives</vt:lpstr>
      <vt:lpstr>Components Used</vt:lpstr>
      <vt:lpstr>Methodology – Skin Cancer Detection</vt:lpstr>
      <vt:lpstr>PowerPoint Presentation</vt:lpstr>
      <vt:lpstr>Connections</vt:lpstr>
      <vt:lpstr>Working Principle</vt:lpstr>
      <vt:lpstr>Applications</vt:lpstr>
      <vt:lpstr>Advantages</vt:lpstr>
      <vt:lpstr>Disadvantages</vt:lpstr>
      <vt:lpstr>Image</vt:lpstr>
      <vt:lpstr>Conclusion</vt:lpstr>
      <vt:lpstr>Future Scope</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Name: Skin Cancer Detection</dc:title>
  <dc:subject/>
  <dc:creator>Adithya Vijay</dc:creator>
  <cp:keywords/>
  <dc:description>generated using python-pptx</dc:description>
  <cp:lastModifiedBy>jayanth gowda</cp:lastModifiedBy>
  <cp:revision>15</cp:revision>
  <dcterms:created xsi:type="dcterms:W3CDTF">2013-01-27T09:14:16Z</dcterms:created>
  <dcterms:modified xsi:type="dcterms:W3CDTF">2026-06-10T16:40:49Z</dcterms:modified>
  <cp:category/>
</cp:coreProperties>
</file>