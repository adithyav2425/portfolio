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341" r:id="rId3"/>
    <p:sldId id="310" r:id="rId4"/>
    <p:sldId id="271" r:id="rId5"/>
    <p:sldId id="313" r:id="rId6"/>
    <p:sldId id="315" r:id="rId7"/>
    <p:sldId id="273" r:id="rId8"/>
    <p:sldId id="293" r:id="rId9"/>
    <p:sldId id="294" r:id="rId10"/>
    <p:sldId id="336" r:id="rId11"/>
    <p:sldId id="342" r:id="rId12"/>
    <p:sldId id="299" r:id="rId13"/>
    <p:sldId id="268" r:id="rId14"/>
    <p:sldId id="267" r:id="rId15"/>
  </p:sldIdLst>
  <p:sldSz cx="18288000" cy="10287000"/>
  <p:notesSz cx="6858000" cy="9144000"/>
  <p:embeddedFontLst>
    <p:embeddedFont>
      <p:font typeface="Antonio Bold" panose="020B0604020202020204" charset="0"/>
      <p:regular r:id="rId17"/>
    </p:embeddedFont>
    <p:embeddedFont>
      <p:font typeface="Barlow" panose="00000500000000000000" pitchFamily="2" charset="0"/>
      <p:regular r:id="rId18"/>
      <p:bold r:id="rId19"/>
      <p:italic r:id="rId20"/>
      <p:boldItalic r:id="rId21"/>
    </p:embeddedFont>
    <p:embeddedFont>
      <p:font typeface="Calibri" panose="020F0502020204030204" pitchFamily="34" charset="0"/>
      <p:regular r:id="rId22"/>
      <p:bold r:id="rId23"/>
      <p:italic r:id="rId24"/>
      <p:boldItalic r:id="rId25"/>
    </p:embeddedFont>
    <p:embeddedFont>
      <p:font typeface="Montserrat" panose="00000500000000000000" pitchFamily="2" charset="0"/>
      <p:regular r:id="rId26"/>
      <p:bold r:id="rId27"/>
      <p:italic r:id="rId28"/>
      <p:boldItalic r:id="rId29"/>
    </p:embeddedFont>
    <p:embeddedFont>
      <p:font typeface="Raleway" pitchFamily="2" charset="0"/>
      <p:regular r:id="rId30"/>
      <p:bold r:id="rId31"/>
      <p:italic r:id="rId32"/>
      <p:boldItalic r:id="rId33"/>
    </p:embeddedFont>
    <p:embeddedFont>
      <p:font typeface="Verdana" panose="020B0604030504040204" pitchFamily="34" charset="0"/>
      <p:regular r:id="rId34"/>
      <p:bold r:id="rId35"/>
      <p:italic r:id="rId36"/>
      <p:boldItalic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rles Bolton" initials="C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FFCC66"/>
    <a:srgbClr val="FFFFCC"/>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56" autoAdjust="0"/>
    <p:restoredTop sz="95179" autoAdjust="0"/>
  </p:normalViewPr>
  <p:slideViewPr>
    <p:cSldViewPr>
      <p:cViewPr varScale="1">
        <p:scale>
          <a:sx n="65" d="100"/>
          <a:sy n="65" d="100"/>
        </p:scale>
        <p:origin x="72"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presProps" Target="presProps.xml"/><Relationship Id="rId21" Type="http://schemas.openxmlformats.org/officeDocument/2006/relationships/font" Target="fonts/font5.fntdata"/><Relationship Id="rId34" Type="http://schemas.openxmlformats.org/officeDocument/2006/relationships/font" Target="fonts/font18.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344F1D-3325-40CB-A71F-A79307D22CED}" type="doc">
      <dgm:prSet loTypeId="urn:microsoft.com/office/officeart/2005/8/layout/venn2" loCatId="relationship" qsTypeId="urn:microsoft.com/office/officeart/2005/8/quickstyle/simple1" qsCatId="simple" csTypeId="urn:microsoft.com/office/officeart/2005/8/colors/accent6_1" csCatId="accent6" phldr="1"/>
      <dgm:spPr/>
      <dgm:t>
        <a:bodyPr/>
        <a:lstStyle/>
        <a:p>
          <a:endParaRPr lang="en-IN"/>
        </a:p>
      </dgm:t>
    </dgm:pt>
    <dgm:pt modelId="{746B4EF9-BF3A-40BA-AFB2-066011491528}">
      <dgm:prSet phldrT="[Text]"/>
      <dgm:spPr>
        <a:xfrm>
          <a:off x="1391698" y="0"/>
          <a:ext cx="3975621" cy="3975621"/>
        </a:xfrm>
      </dgm:spPr>
      <dgm:t>
        <a:bodyPr/>
        <a:lstStyle/>
        <a:p>
          <a:r>
            <a:rPr lang="en-IN">
              <a:latin typeface="Calibri" panose="020F0502020204030204"/>
              <a:ea typeface="+mn-ea"/>
              <a:cs typeface="+mn-cs"/>
            </a:rPr>
            <a:t>TAM</a:t>
          </a:r>
          <a:endParaRPr lang="en-IN" dirty="0">
            <a:latin typeface="Calibri" panose="020F0502020204030204"/>
            <a:ea typeface="+mn-ea"/>
            <a:cs typeface="+mn-cs"/>
          </a:endParaRPr>
        </a:p>
      </dgm:t>
    </dgm:pt>
    <dgm:pt modelId="{1954D69E-B74F-4B4C-92A9-ACC18C47A984}" type="parTrans" cxnId="{6915F751-B358-4E82-A29A-FC970199FF41}">
      <dgm:prSet/>
      <dgm:spPr/>
      <dgm:t>
        <a:bodyPr/>
        <a:lstStyle/>
        <a:p>
          <a:endParaRPr lang="en-IN"/>
        </a:p>
      </dgm:t>
    </dgm:pt>
    <dgm:pt modelId="{0B14DF90-4A8A-4E4D-9AD4-5A31ECC3D299}" type="sibTrans" cxnId="{6915F751-B358-4E82-A29A-FC970199FF41}">
      <dgm:prSet/>
      <dgm:spPr/>
      <dgm:t>
        <a:bodyPr/>
        <a:lstStyle/>
        <a:p>
          <a:endParaRPr lang="en-IN"/>
        </a:p>
      </dgm:t>
    </dgm:pt>
    <dgm:pt modelId="{C97EDADC-8ECD-42D4-89AC-847633F19078}">
      <dgm:prSet phldrT="[Text]"/>
      <dgm:spPr>
        <a:xfrm>
          <a:off x="1888651" y="993905"/>
          <a:ext cx="2981715" cy="2981715"/>
        </a:xfrm>
      </dgm:spPr>
      <dgm:t>
        <a:bodyPr/>
        <a:lstStyle/>
        <a:p>
          <a:r>
            <a:rPr lang="en-IN">
              <a:latin typeface="Calibri" panose="020F0502020204030204"/>
              <a:ea typeface="+mn-ea"/>
              <a:cs typeface="+mn-cs"/>
            </a:rPr>
            <a:t>SAM</a:t>
          </a:r>
          <a:endParaRPr lang="en-IN" dirty="0">
            <a:latin typeface="Calibri" panose="020F0502020204030204"/>
            <a:ea typeface="+mn-ea"/>
            <a:cs typeface="+mn-cs"/>
          </a:endParaRPr>
        </a:p>
      </dgm:t>
    </dgm:pt>
    <dgm:pt modelId="{A3260F69-CA56-4346-A57E-769087C36739}" type="parTrans" cxnId="{3DEA3B12-D7FA-440A-BE79-775519D6910A}">
      <dgm:prSet/>
      <dgm:spPr/>
      <dgm:t>
        <a:bodyPr/>
        <a:lstStyle/>
        <a:p>
          <a:endParaRPr lang="en-IN"/>
        </a:p>
      </dgm:t>
    </dgm:pt>
    <dgm:pt modelId="{5909561E-9CA8-4668-901B-DE46BDCB26D4}" type="sibTrans" cxnId="{3DEA3B12-D7FA-440A-BE79-775519D6910A}">
      <dgm:prSet/>
      <dgm:spPr/>
      <dgm:t>
        <a:bodyPr/>
        <a:lstStyle/>
        <a:p>
          <a:endParaRPr lang="en-IN"/>
        </a:p>
      </dgm:t>
    </dgm:pt>
    <dgm:pt modelId="{E5EFF1E8-ABE4-4362-A50E-B875D125BD96}">
      <dgm:prSet phldrT="[Text]"/>
      <dgm:spPr>
        <a:xfrm>
          <a:off x="2385603" y="1987810"/>
          <a:ext cx="1987810" cy="1987810"/>
        </a:xfrm>
      </dgm:spPr>
      <dgm:t>
        <a:bodyPr/>
        <a:lstStyle/>
        <a:p>
          <a:r>
            <a:rPr lang="en-IN">
              <a:latin typeface="Calibri" panose="020F0502020204030204"/>
              <a:ea typeface="+mn-ea"/>
              <a:cs typeface="+mn-cs"/>
            </a:rPr>
            <a:t>SOM</a:t>
          </a:r>
          <a:endParaRPr lang="en-IN" dirty="0">
            <a:latin typeface="Calibri" panose="020F0502020204030204"/>
            <a:ea typeface="+mn-ea"/>
            <a:cs typeface="+mn-cs"/>
          </a:endParaRPr>
        </a:p>
      </dgm:t>
    </dgm:pt>
    <dgm:pt modelId="{14B6BEEE-EB27-4CAC-B0EE-383B99B876FC}" type="parTrans" cxnId="{154FA2CE-CAB5-4733-8C08-DDAE9106897D}">
      <dgm:prSet/>
      <dgm:spPr/>
      <dgm:t>
        <a:bodyPr/>
        <a:lstStyle/>
        <a:p>
          <a:endParaRPr lang="en-IN"/>
        </a:p>
      </dgm:t>
    </dgm:pt>
    <dgm:pt modelId="{D5317EF5-6EDB-436F-B2D4-C6A7CD409F02}" type="sibTrans" cxnId="{154FA2CE-CAB5-4733-8C08-DDAE9106897D}">
      <dgm:prSet/>
      <dgm:spPr/>
      <dgm:t>
        <a:bodyPr/>
        <a:lstStyle/>
        <a:p>
          <a:endParaRPr lang="en-IN"/>
        </a:p>
      </dgm:t>
    </dgm:pt>
    <dgm:pt modelId="{F2B9CC1C-BDE6-4CDB-A758-74CC86A3F31F}" type="pres">
      <dgm:prSet presAssocID="{DD344F1D-3325-40CB-A71F-A79307D22CED}" presName="Name0" presStyleCnt="0">
        <dgm:presLayoutVars>
          <dgm:chMax val="7"/>
          <dgm:resizeHandles val="exact"/>
        </dgm:presLayoutVars>
      </dgm:prSet>
      <dgm:spPr/>
    </dgm:pt>
    <dgm:pt modelId="{8451ED41-C590-464C-8723-134AEB39DBB3}" type="pres">
      <dgm:prSet presAssocID="{DD344F1D-3325-40CB-A71F-A79307D22CED}" presName="comp1" presStyleCnt="0"/>
      <dgm:spPr/>
    </dgm:pt>
    <dgm:pt modelId="{2BE2AAFC-BEAE-481D-B557-81DE68A237F7}" type="pres">
      <dgm:prSet presAssocID="{DD344F1D-3325-40CB-A71F-A79307D22CED}" presName="circle1" presStyleLbl="node1" presStyleIdx="0" presStyleCnt="3"/>
      <dgm:spPr>
        <a:prstGeom prst="ellipse">
          <a:avLst/>
        </a:prstGeom>
      </dgm:spPr>
    </dgm:pt>
    <dgm:pt modelId="{ED7C1346-0397-438A-9AAD-8BE2335EC6BB}" type="pres">
      <dgm:prSet presAssocID="{DD344F1D-3325-40CB-A71F-A79307D22CED}" presName="c1text" presStyleLbl="node1" presStyleIdx="0" presStyleCnt="3">
        <dgm:presLayoutVars>
          <dgm:bulletEnabled val="1"/>
        </dgm:presLayoutVars>
      </dgm:prSet>
      <dgm:spPr/>
    </dgm:pt>
    <dgm:pt modelId="{8F11973F-33EE-445B-8E28-2D5EAC0DA289}" type="pres">
      <dgm:prSet presAssocID="{DD344F1D-3325-40CB-A71F-A79307D22CED}" presName="comp2" presStyleCnt="0"/>
      <dgm:spPr/>
    </dgm:pt>
    <dgm:pt modelId="{5783AC22-EAAA-4B02-9505-F9F67BC8F71A}" type="pres">
      <dgm:prSet presAssocID="{DD344F1D-3325-40CB-A71F-A79307D22CED}" presName="circle2" presStyleLbl="node1" presStyleIdx="1" presStyleCnt="3"/>
      <dgm:spPr>
        <a:prstGeom prst="ellipse">
          <a:avLst/>
        </a:prstGeom>
      </dgm:spPr>
    </dgm:pt>
    <dgm:pt modelId="{4871E181-12FC-48FB-9E74-6BA476466234}" type="pres">
      <dgm:prSet presAssocID="{DD344F1D-3325-40CB-A71F-A79307D22CED}" presName="c2text" presStyleLbl="node1" presStyleIdx="1" presStyleCnt="3">
        <dgm:presLayoutVars>
          <dgm:bulletEnabled val="1"/>
        </dgm:presLayoutVars>
      </dgm:prSet>
      <dgm:spPr/>
    </dgm:pt>
    <dgm:pt modelId="{901532F9-DC54-486E-8432-B2395DAF1269}" type="pres">
      <dgm:prSet presAssocID="{DD344F1D-3325-40CB-A71F-A79307D22CED}" presName="comp3" presStyleCnt="0"/>
      <dgm:spPr/>
    </dgm:pt>
    <dgm:pt modelId="{0927306A-DE0F-4C43-94ED-305F00916AD7}" type="pres">
      <dgm:prSet presAssocID="{DD344F1D-3325-40CB-A71F-A79307D22CED}" presName="circle3" presStyleLbl="node1" presStyleIdx="2" presStyleCnt="3"/>
      <dgm:spPr>
        <a:prstGeom prst="ellipse">
          <a:avLst/>
        </a:prstGeom>
      </dgm:spPr>
    </dgm:pt>
    <dgm:pt modelId="{DFA2E1B6-C653-4ECD-AABA-E3551E5267D7}" type="pres">
      <dgm:prSet presAssocID="{DD344F1D-3325-40CB-A71F-A79307D22CED}" presName="c3text" presStyleLbl="node1" presStyleIdx="2" presStyleCnt="3">
        <dgm:presLayoutVars>
          <dgm:bulletEnabled val="1"/>
        </dgm:presLayoutVars>
      </dgm:prSet>
      <dgm:spPr/>
    </dgm:pt>
  </dgm:ptLst>
  <dgm:cxnLst>
    <dgm:cxn modelId="{3DEA3B12-D7FA-440A-BE79-775519D6910A}" srcId="{DD344F1D-3325-40CB-A71F-A79307D22CED}" destId="{C97EDADC-8ECD-42D4-89AC-847633F19078}" srcOrd="1" destOrd="0" parTransId="{A3260F69-CA56-4346-A57E-769087C36739}" sibTransId="{5909561E-9CA8-4668-901B-DE46BDCB26D4}"/>
    <dgm:cxn modelId="{69D89837-AE44-447D-BEBD-713B62821E4E}" type="presOf" srcId="{DD344F1D-3325-40CB-A71F-A79307D22CED}" destId="{F2B9CC1C-BDE6-4CDB-A758-74CC86A3F31F}" srcOrd="0" destOrd="0" presId="urn:microsoft.com/office/officeart/2005/8/layout/venn2"/>
    <dgm:cxn modelId="{5048B446-AC55-441E-A5AC-1FA804A23A0B}" type="presOf" srcId="{746B4EF9-BF3A-40BA-AFB2-066011491528}" destId="{2BE2AAFC-BEAE-481D-B557-81DE68A237F7}" srcOrd="0" destOrd="0" presId="urn:microsoft.com/office/officeart/2005/8/layout/venn2"/>
    <dgm:cxn modelId="{6EF22650-71F8-46AA-B2F3-3FB7C09D1771}" type="presOf" srcId="{C97EDADC-8ECD-42D4-89AC-847633F19078}" destId="{5783AC22-EAAA-4B02-9505-F9F67BC8F71A}" srcOrd="0" destOrd="0" presId="urn:microsoft.com/office/officeart/2005/8/layout/venn2"/>
    <dgm:cxn modelId="{6915F751-B358-4E82-A29A-FC970199FF41}" srcId="{DD344F1D-3325-40CB-A71F-A79307D22CED}" destId="{746B4EF9-BF3A-40BA-AFB2-066011491528}" srcOrd="0" destOrd="0" parTransId="{1954D69E-B74F-4B4C-92A9-ACC18C47A984}" sibTransId="{0B14DF90-4A8A-4E4D-9AD4-5A31ECC3D299}"/>
    <dgm:cxn modelId="{3E5E3453-8B05-494C-B7DD-8F789CE1047E}" type="presOf" srcId="{E5EFF1E8-ABE4-4362-A50E-B875D125BD96}" destId="{DFA2E1B6-C653-4ECD-AABA-E3551E5267D7}" srcOrd="1" destOrd="0" presId="urn:microsoft.com/office/officeart/2005/8/layout/venn2"/>
    <dgm:cxn modelId="{1D633193-84D8-41E9-9BEA-42E4AE88C1C3}" type="presOf" srcId="{746B4EF9-BF3A-40BA-AFB2-066011491528}" destId="{ED7C1346-0397-438A-9AAD-8BE2335EC6BB}" srcOrd="1" destOrd="0" presId="urn:microsoft.com/office/officeart/2005/8/layout/venn2"/>
    <dgm:cxn modelId="{154FA2CE-CAB5-4733-8C08-DDAE9106897D}" srcId="{DD344F1D-3325-40CB-A71F-A79307D22CED}" destId="{E5EFF1E8-ABE4-4362-A50E-B875D125BD96}" srcOrd="2" destOrd="0" parTransId="{14B6BEEE-EB27-4CAC-B0EE-383B99B876FC}" sibTransId="{D5317EF5-6EDB-436F-B2D4-C6A7CD409F02}"/>
    <dgm:cxn modelId="{BC82ABE1-F8A3-46C7-A8A9-E359E0C156F0}" type="presOf" srcId="{E5EFF1E8-ABE4-4362-A50E-B875D125BD96}" destId="{0927306A-DE0F-4C43-94ED-305F00916AD7}" srcOrd="0" destOrd="0" presId="urn:microsoft.com/office/officeart/2005/8/layout/venn2"/>
    <dgm:cxn modelId="{76C1ADE8-3E68-44A1-9298-A83070409F2A}" type="presOf" srcId="{C97EDADC-8ECD-42D4-89AC-847633F19078}" destId="{4871E181-12FC-48FB-9E74-6BA476466234}" srcOrd="1" destOrd="0" presId="urn:microsoft.com/office/officeart/2005/8/layout/venn2"/>
    <dgm:cxn modelId="{D86D7FDC-6353-4BA1-AE90-91314EE84F6A}" type="presParOf" srcId="{F2B9CC1C-BDE6-4CDB-A758-74CC86A3F31F}" destId="{8451ED41-C590-464C-8723-134AEB39DBB3}" srcOrd="0" destOrd="0" presId="urn:microsoft.com/office/officeart/2005/8/layout/venn2"/>
    <dgm:cxn modelId="{79A2FCE8-97C6-47B7-A077-3470F5B7CF5B}" type="presParOf" srcId="{8451ED41-C590-464C-8723-134AEB39DBB3}" destId="{2BE2AAFC-BEAE-481D-B557-81DE68A237F7}" srcOrd="0" destOrd="0" presId="urn:microsoft.com/office/officeart/2005/8/layout/venn2"/>
    <dgm:cxn modelId="{2001E8A0-D926-4888-A220-3D21930627E0}" type="presParOf" srcId="{8451ED41-C590-464C-8723-134AEB39DBB3}" destId="{ED7C1346-0397-438A-9AAD-8BE2335EC6BB}" srcOrd="1" destOrd="0" presId="urn:microsoft.com/office/officeart/2005/8/layout/venn2"/>
    <dgm:cxn modelId="{8227A953-9708-418C-850B-24986FB12064}" type="presParOf" srcId="{F2B9CC1C-BDE6-4CDB-A758-74CC86A3F31F}" destId="{8F11973F-33EE-445B-8E28-2D5EAC0DA289}" srcOrd="1" destOrd="0" presId="urn:microsoft.com/office/officeart/2005/8/layout/venn2"/>
    <dgm:cxn modelId="{63F99341-D2DC-4256-A8D3-412F66819B89}" type="presParOf" srcId="{8F11973F-33EE-445B-8E28-2D5EAC0DA289}" destId="{5783AC22-EAAA-4B02-9505-F9F67BC8F71A}" srcOrd="0" destOrd="0" presId="urn:microsoft.com/office/officeart/2005/8/layout/venn2"/>
    <dgm:cxn modelId="{0BD8D4D5-D41A-4F9B-88FD-86DA00EB0EF8}" type="presParOf" srcId="{8F11973F-33EE-445B-8E28-2D5EAC0DA289}" destId="{4871E181-12FC-48FB-9E74-6BA476466234}" srcOrd="1" destOrd="0" presId="urn:microsoft.com/office/officeart/2005/8/layout/venn2"/>
    <dgm:cxn modelId="{23E4EAB6-377C-4E17-A90D-6389D8FA740D}" type="presParOf" srcId="{F2B9CC1C-BDE6-4CDB-A758-74CC86A3F31F}" destId="{901532F9-DC54-486E-8432-B2395DAF1269}" srcOrd="2" destOrd="0" presId="urn:microsoft.com/office/officeart/2005/8/layout/venn2"/>
    <dgm:cxn modelId="{374D50A8-F5A5-43D6-9CD4-AD2528D84802}" type="presParOf" srcId="{901532F9-DC54-486E-8432-B2395DAF1269}" destId="{0927306A-DE0F-4C43-94ED-305F00916AD7}" srcOrd="0" destOrd="0" presId="urn:microsoft.com/office/officeart/2005/8/layout/venn2"/>
    <dgm:cxn modelId="{301AC02E-0AB1-4E55-A8F9-DF8BF733D4BC}" type="presParOf" srcId="{901532F9-DC54-486E-8432-B2395DAF1269}" destId="{DFA2E1B6-C653-4ECD-AABA-E3551E5267D7}" srcOrd="1" destOrd="0" presId="urn:microsoft.com/office/officeart/2005/8/layout/ven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E2AAFC-BEAE-481D-B557-81DE68A237F7}">
      <dsp:nvSpPr>
        <dsp:cNvPr id="0" name=""/>
        <dsp:cNvSpPr/>
      </dsp:nvSpPr>
      <dsp:spPr>
        <a:xfrm>
          <a:off x="1069175" y="0"/>
          <a:ext cx="5481650" cy="5481650"/>
        </a:xfrm>
        <a:prstGeom prst="ellipse">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IN" sz="2700" kern="1200">
              <a:latin typeface="Calibri" panose="020F0502020204030204"/>
              <a:ea typeface="+mn-ea"/>
              <a:cs typeface="+mn-cs"/>
            </a:rPr>
            <a:t>TAM</a:t>
          </a:r>
          <a:endParaRPr lang="en-IN" sz="2700" kern="1200" dirty="0">
            <a:latin typeface="Calibri" panose="020F0502020204030204"/>
            <a:ea typeface="+mn-ea"/>
            <a:cs typeface="+mn-cs"/>
          </a:endParaRPr>
        </a:p>
      </dsp:txBody>
      <dsp:txXfrm>
        <a:off x="2852081" y="274082"/>
        <a:ext cx="1915836" cy="822247"/>
      </dsp:txXfrm>
    </dsp:sp>
    <dsp:sp modelId="{5783AC22-EAAA-4B02-9505-F9F67BC8F71A}">
      <dsp:nvSpPr>
        <dsp:cNvPr id="0" name=""/>
        <dsp:cNvSpPr/>
      </dsp:nvSpPr>
      <dsp:spPr>
        <a:xfrm>
          <a:off x="1754381" y="1370412"/>
          <a:ext cx="4111237" cy="4111237"/>
        </a:xfrm>
        <a:prstGeom prst="ellipse">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IN" sz="2700" kern="1200">
              <a:latin typeface="Calibri" panose="020F0502020204030204"/>
              <a:ea typeface="+mn-ea"/>
              <a:cs typeface="+mn-cs"/>
            </a:rPr>
            <a:t>SAM</a:t>
          </a:r>
          <a:endParaRPr lang="en-IN" sz="2700" kern="1200" dirty="0">
            <a:latin typeface="Calibri" panose="020F0502020204030204"/>
            <a:ea typeface="+mn-ea"/>
            <a:cs typeface="+mn-cs"/>
          </a:endParaRPr>
        </a:p>
      </dsp:txBody>
      <dsp:txXfrm>
        <a:off x="2852081" y="1627364"/>
        <a:ext cx="1915836" cy="770857"/>
      </dsp:txXfrm>
    </dsp:sp>
    <dsp:sp modelId="{0927306A-DE0F-4C43-94ED-305F00916AD7}">
      <dsp:nvSpPr>
        <dsp:cNvPr id="0" name=""/>
        <dsp:cNvSpPr/>
      </dsp:nvSpPr>
      <dsp:spPr>
        <a:xfrm>
          <a:off x="2439587" y="2740825"/>
          <a:ext cx="2740825" cy="2740825"/>
        </a:xfrm>
        <a:prstGeom prst="ellipse">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IN" sz="2700" kern="1200">
              <a:latin typeface="Calibri" panose="020F0502020204030204"/>
              <a:ea typeface="+mn-ea"/>
              <a:cs typeface="+mn-cs"/>
            </a:rPr>
            <a:t>SOM</a:t>
          </a:r>
          <a:endParaRPr lang="en-IN" sz="2700" kern="1200" dirty="0">
            <a:latin typeface="Calibri" panose="020F0502020204030204"/>
            <a:ea typeface="+mn-ea"/>
            <a:cs typeface="+mn-cs"/>
          </a:endParaRPr>
        </a:p>
      </dsp:txBody>
      <dsp:txXfrm>
        <a:off x="2840972" y="3426031"/>
        <a:ext cx="1938055" cy="1370412"/>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FBF9E8-1F40-410A-A1CC-60BC60DB98B3}" type="datetimeFigureOut">
              <a:rPr lang="en-IN" smtClean="0"/>
              <a:t>03-06-2026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0FE411-3744-4059-A83F-482351BF9D8B}" type="slidenum">
              <a:rPr lang="en-IN" smtClean="0"/>
              <a:t>‹#›</a:t>
            </a:fld>
            <a:endParaRPr lang="en-IN"/>
          </a:p>
        </p:txBody>
      </p:sp>
    </p:spTree>
    <p:extLst>
      <p:ext uri="{BB962C8B-B14F-4D97-AF65-F5344CB8AC3E}">
        <p14:creationId xmlns:p14="http://schemas.microsoft.com/office/powerpoint/2010/main" val="3792907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Time:</a:t>
            </a:r>
            <a:r>
              <a:rPr lang="en-US" b="1" baseline="0" dirty="0"/>
              <a:t> 7 mins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Get students to brainstorm on the customer persona and VPC </a:t>
            </a:r>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0BEB79-93E1-4BD7-A47D-89BD4B78056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7425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Evaluation Criteria</a:t>
            </a:r>
            <a:r>
              <a:rPr lang="en-IN" b="1" baseline="0" dirty="0"/>
              <a:t> for slides 8 and 9</a:t>
            </a:r>
          </a:p>
          <a:p>
            <a:endParaRPr lang="en-IN" b="0" i="1" baseline="0" dirty="0"/>
          </a:p>
          <a:p>
            <a:r>
              <a:rPr lang="en-US" sz="1200" b="0" i="1" u="none" strike="noStrike" kern="1200" dirty="0">
                <a:solidFill>
                  <a:schemeClr val="tx1"/>
                </a:solidFill>
                <a:effectLst/>
                <a:latin typeface="+mn-lt"/>
                <a:ea typeface="+mn-ea"/>
                <a:cs typeface="+mn-cs"/>
              </a:rPr>
              <a:t>Check the following on the correctness</a:t>
            </a:r>
            <a:r>
              <a:rPr lang="en-US" sz="1200" b="0" i="1" u="none" strike="noStrike" kern="1200" baseline="0" dirty="0">
                <a:solidFill>
                  <a:schemeClr val="tx1"/>
                </a:solidFill>
                <a:effectLst/>
                <a:latin typeface="+mn-lt"/>
                <a:ea typeface="+mn-ea"/>
                <a:cs typeface="+mn-cs"/>
              </a:rPr>
              <a:t> of VPC</a:t>
            </a:r>
            <a:r>
              <a:rPr lang="en-US" sz="1200" b="0" i="1" u="none" strike="noStrike" kern="1200" dirty="0">
                <a:solidFill>
                  <a:schemeClr val="tx1"/>
                </a:solidFill>
                <a:effectLst/>
                <a:latin typeface="+mn-lt"/>
                <a:ea typeface="+mn-ea"/>
                <a:cs typeface="+mn-cs"/>
              </a:rPr>
              <a:t>:</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a.  Have you identified the correct pains &amp; gains; pain relievers &amp; gain creators (2 marks)</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b. Have you identified the correct Jobs-to-be-done?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c. Are the pain relievers addressing the customer pains? (1 mark)</a:t>
            </a:r>
            <a:br>
              <a:rPr lang="en-US" sz="1200" b="0" i="1" u="none" strike="noStrike" kern="1200" dirty="0">
                <a:solidFill>
                  <a:schemeClr val="tx1"/>
                </a:solidFill>
                <a:effectLst/>
                <a:latin typeface="+mn-lt"/>
                <a:ea typeface="+mn-ea"/>
                <a:cs typeface="+mn-cs"/>
              </a:rPr>
            </a:br>
            <a:r>
              <a:rPr lang="en-US" sz="1200" b="0" i="1" u="none" strike="noStrike" kern="1200" dirty="0">
                <a:solidFill>
                  <a:schemeClr val="tx1"/>
                </a:solidFill>
                <a:effectLst/>
                <a:latin typeface="+mn-lt"/>
                <a:ea typeface="+mn-ea"/>
                <a:cs typeface="+mn-cs"/>
              </a:rPr>
              <a:t>d. Have you identified the right value proposition so that the solution makes the customer's life better? (1 mark)</a:t>
            </a:r>
            <a:r>
              <a:rPr lang="en-US" b="0" i="1" dirty="0"/>
              <a:t> </a:t>
            </a:r>
            <a:endParaRPr lang="en-IN" b="0" i="1" dirty="0"/>
          </a:p>
        </p:txBody>
      </p:sp>
      <p:sp>
        <p:nvSpPr>
          <p:cNvPr id="4" name="Slide Number Placeholder 3"/>
          <p:cNvSpPr>
            <a:spLocks noGrp="1"/>
          </p:cNvSpPr>
          <p:nvPr>
            <p:ph type="sldNum" sz="quarter" idx="10"/>
          </p:nvPr>
        </p:nvSpPr>
        <p:spPr/>
        <p:txBody>
          <a:bodyPr/>
          <a:lstStyle/>
          <a:p>
            <a:fld id="{565F787C-D8F9-4047-8CC8-08AC13C2A058}" type="slidenum">
              <a:rPr lang="en-US" smtClean="0"/>
              <a:t>8</a:t>
            </a:fld>
            <a:endParaRPr lang="en-US"/>
          </a:p>
        </p:txBody>
      </p:sp>
    </p:spTree>
    <p:extLst>
      <p:ext uri="{BB962C8B-B14F-4D97-AF65-F5344CB8AC3E}">
        <p14:creationId xmlns:p14="http://schemas.microsoft.com/office/powerpoint/2010/main" val="3538269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1" i="0" u="none" strike="noStrike" kern="1200">
                <a:solidFill>
                  <a:schemeClr val="tx1"/>
                </a:solidFill>
                <a:effectLst/>
                <a:latin typeface="+mn-lt"/>
                <a:ea typeface="+mn-ea"/>
                <a:cs typeface="+mn-cs"/>
              </a:rPr>
              <a:t>Evaluation</a:t>
            </a:r>
            <a:r>
              <a:rPr lang="en-US" sz="1200" b="1" i="0" u="none" strike="noStrike" kern="1200" baseline="0">
                <a:solidFill>
                  <a:schemeClr val="tx1"/>
                </a:solidFill>
                <a:effectLst/>
                <a:latin typeface="+mn-lt"/>
                <a:ea typeface="+mn-ea"/>
                <a:cs typeface="+mn-cs"/>
              </a:rPr>
              <a:t> Criteria for slides 12 to 14</a:t>
            </a:r>
            <a:endParaRPr lang="en-US" sz="1200" b="1" i="0" u="none" strike="noStrike" kern="1200">
              <a:solidFill>
                <a:schemeClr val="tx1"/>
              </a:solidFill>
              <a:effectLst/>
              <a:latin typeface="+mn-lt"/>
              <a:ea typeface="+mn-ea"/>
              <a:cs typeface="+mn-cs"/>
            </a:endParaRPr>
          </a:p>
          <a:p>
            <a:endParaRPr lang="en-US" sz="1200" b="1" i="1" u="none" strike="noStrike" kern="1200">
              <a:solidFill>
                <a:schemeClr val="tx1"/>
              </a:solidFill>
              <a:effectLst/>
              <a:latin typeface="+mn-lt"/>
              <a:ea typeface="+mn-ea"/>
              <a:cs typeface="+mn-cs"/>
            </a:endParaRPr>
          </a:p>
          <a:p>
            <a:r>
              <a:rPr lang="en-US" sz="1200" b="0" i="1" u="none" strike="noStrike" kern="1200">
                <a:solidFill>
                  <a:schemeClr val="tx1"/>
                </a:solidFill>
                <a:effectLst/>
                <a:latin typeface="+mn-lt"/>
                <a:ea typeface="+mn-ea"/>
                <a:cs typeface="+mn-cs"/>
              </a:rPr>
              <a:t>Check the following on MVP?</a:t>
            </a:r>
            <a:br>
              <a:rPr lang="en-US" sz="1200" b="0" i="1" u="none" strike="noStrike" kern="1200">
                <a:solidFill>
                  <a:schemeClr val="tx1"/>
                </a:solidFill>
                <a:effectLst/>
                <a:latin typeface="+mn-lt"/>
                <a:ea typeface="+mn-ea"/>
                <a:cs typeface="+mn-cs"/>
              </a:rPr>
            </a:br>
            <a:r>
              <a:rPr lang="en-US" sz="1200" b="0" i="1" u="none" strike="noStrike" kern="1200">
                <a:solidFill>
                  <a:schemeClr val="tx1"/>
                </a:solidFill>
                <a:effectLst/>
                <a:latin typeface="+mn-lt"/>
                <a:ea typeface="+mn-ea"/>
                <a:cs typeface="+mn-cs"/>
              </a:rPr>
              <a:t>1. Does it look credible and </a:t>
            </a:r>
            <a:r>
              <a:rPr lang="en-US" sz="1200" b="0" i="1" u="none" strike="noStrike" kern="1200" err="1">
                <a:solidFill>
                  <a:schemeClr val="tx1"/>
                </a:solidFill>
                <a:effectLst/>
                <a:latin typeface="+mn-lt"/>
                <a:ea typeface="+mn-ea"/>
                <a:cs typeface="+mn-cs"/>
              </a:rPr>
              <a:t>showcasable</a:t>
            </a:r>
            <a:r>
              <a:rPr lang="en-US" sz="1200" b="0" i="1" u="none" strike="noStrike" kern="1200">
                <a:solidFill>
                  <a:schemeClr val="tx1"/>
                </a:solidFill>
                <a:effectLst/>
                <a:latin typeface="+mn-lt"/>
                <a:ea typeface="+mn-ea"/>
                <a:cs typeface="+mn-cs"/>
              </a:rPr>
              <a:t>? Add a picture/video of the MVP? (3 marks)</a:t>
            </a:r>
            <a:br>
              <a:rPr lang="en-US" sz="1200" b="0" i="1" u="none" strike="noStrike" kern="1200">
                <a:solidFill>
                  <a:schemeClr val="tx1"/>
                </a:solidFill>
                <a:effectLst/>
                <a:latin typeface="+mn-lt"/>
                <a:ea typeface="+mn-ea"/>
                <a:cs typeface="+mn-cs"/>
              </a:rPr>
            </a:br>
            <a:r>
              <a:rPr lang="en-US" sz="1200" b="0" i="1" u="none" strike="noStrike" kern="1200">
                <a:solidFill>
                  <a:schemeClr val="tx1"/>
                </a:solidFill>
                <a:effectLst/>
                <a:latin typeface="+mn-lt"/>
                <a:ea typeface="+mn-ea"/>
                <a:cs typeface="+mn-cs"/>
              </a:rPr>
              <a:t>2. Have you validated the product benefits and the price with real customers? Add the MVP interview records in a Google drive and add to the PPT. (1 + 1 marks)</a:t>
            </a:r>
            <a:r>
              <a:rPr lang="en-US" i="1"/>
              <a:t> </a:t>
            </a:r>
            <a:endParaRPr lang="en-IN" i="1"/>
          </a:p>
          <a:p>
            <a:endParaRPr lang="en-IN"/>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565F787C-D8F9-4047-8CC8-08AC13C2A058}" type="slidenum">
              <a:rPr lang="en-US" smtClean="0">
                <a:solidFill>
                  <a:prstClr val="black"/>
                </a:solidFill>
                <a:latin typeface="Calibri" panose="020F0502020204030204"/>
              </a:rPr>
              <a:pPr/>
              <a:t>12</a:t>
            </a:fld>
            <a:endParaRPr lang="en-US">
              <a:solidFill>
                <a:prstClr val="black"/>
              </a:solidFill>
              <a:latin typeface="Calibri" panose="020F0502020204030204"/>
            </a:endParaRPr>
          </a:p>
        </p:txBody>
      </p:sp>
    </p:spTree>
    <p:extLst>
      <p:ext uri="{BB962C8B-B14F-4D97-AF65-F5344CB8AC3E}">
        <p14:creationId xmlns:p14="http://schemas.microsoft.com/office/powerpoint/2010/main" val="30309881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03-Jun-26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03-Jun-26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03-Jun-26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03-Jun-26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03-Jun-26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03-Jun-26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03-Jun-26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03-Jun-26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03-Jun-26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03-Jun-26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03-Jun-26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a:solidFill>
                  <a:schemeClr val="tx1">
                    <a:lumMod val="85000"/>
                    <a:lumOff val="15000"/>
                  </a:schemeClr>
                </a:solidFill>
              </a:defRPr>
            </a:lvl1pPr>
          </a:lstStyle>
          <a:p>
            <a:endParaRPr lang="en-IN"/>
          </a:p>
        </p:txBody>
      </p:sp>
      <p:sp>
        <p:nvSpPr>
          <p:cNvPr id="5" name="Slide Number Placeholder 4"/>
          <p:cNvSpPr>
            <a:spLocks noGrp="1"/>
          </p:cNvSpPr>
          <p:nvPr>
            <p:ph type="sldNum" sz="quarter" idx="12"/>
          </p:nvPr>
        </p:nvSpPr>
        <p:spPr/>
        <p:txBody>
          <a:bodyPr/>
          <a:lstStyle/>
          <a:p>
            <a:pPr marL="39064">
              <a:spcBef>
                <a:spcPts val="113"/>
              </a:spcBef>
            </a:pPr>
            <a:fld id="{81D60167-4931-47E6-BA6A-407CBD079E47}" type="slidenum">
              <a:rPr lang="en-IN" smtClean="0"/>
              <a:pPr marL="39064">
                <a:spcBef>
                  <a:spcPts val="113"/>
                </a:spcBef>
              </a:pPr>
              <a:t>‹#›</a:t>
            </a:fld>
            <a:endParaRPr lang="en-IN" dirty="0"/>
          </a:p>
        </p:txBody>
      </p:sp>
      <p:sp>
        <p:nvSpPr>
          <p:cNvPr id="10" name="Title 1"/>
          <p:cNvSpPr>
            <a:spLocks noGrp="1"/>
          </p:cNvSpPr>
          <p:nvPr>
            <p:ph type="title"/>
          </p:nvPr>
        </p:nvSpPr>
        <p:spPr>
          <a:xfrm>
            <a:off x="716945" y="476343"/>
            <a:ext cx="15304106" cy="729948"/>
          </a:xfrm>
        </p:spPr>
        <p:txBody>
          <a:bodyPr>
            <a:noAutofit/>
          </a:bodyPr>
          <a:lstStyle>
            <a:lvl1pPr algn="l">
              <a:defRPr sz="3600">
                <a:solidFill>
                  <a:srgbClr val="C00000"/>
                </a:solidFill>
              </a:defRPr>
            </a:lvl1pPr>
          </a:lstStyle>
          <a:p>
            <a:r>
              <a:rPr lang="en-US" dirty="0"/>
              <a:t>Click to edit Master title style</a:t>
            </a:r>
            <a:endParaRPr lang="id-ID" dirty="0"/>
          </a:p>
        </p:txBody>
      </p:sp>
      <p:sp>
        <p:nvSpPr>
          <p:cNvPr id="11" name="Subtitle 2"/>
          <p:cNvSpPr>
            <a:spLocks noGrp="1"/>
          </p:cNvSpPr>
          <p:nvPr>
            <p:ph type="subTitle" idx="1"/>
          </p:nvPr>
        </p:nvSpPr>
        <p:spPr>
          <a:xfrm>
            <a:off x="716946" y="1293188"/>
            <a:ext cx="15304107" cy="345113"/>
          </a:xfrm>
        </p:spPr>
        <p:txBody>
          <a:bodyPr>
            <a:noAutofit/>
          </a:bodyPr>
          <a:lstStyle>
            <a:lvl1pPr marL="0" indent="0" algn="l">
              <a:buNone/>
              <a:defRPr sz="1800">
                <a:solidFill>
                  <a:schemeClr val="tx1">
                    <a:lumMod val="65000"/>
                    <a:lumOff val="35000"/>
                  </a:schemeClr>
                </a:solidFill>
              </a:defRPr>
            </a:lvl1pPr>
            <a:lvl2pPr marL="685612" indent="0" algn="ctr">
              <a:buNone/>
              <a:defRPr sz="3000"/>
            </a:lvl2pPr>
            <a:lvl3pPr marL="1371224" indent="0" algn="ctr">
              <a:buNone/>
              <a:defRPr sz="2700"/>
            </a:lvl3pPr>
            <a:lvl4pPr marL="2056835" indent="0" algn="ctr">
              <a:buNone/>
              <a:defRPr sz="2400"/>
            </a:lvl4pPr>
            <a:lvl5pPr marL="2742447" indent="0" algn="ctr">
              <a:buNone/>
              <a:defRPr sz="2400"/>
            </a:lvl5pPr>
            <a:lvl6pPr marL="3428059" indent="0" algn="ctr">
              <a:buNone/>
              <a:defRPr sz="2400"/>
            </a:lvl6pPr>
            <a:lvl7pPr marL="4113669" indent="0" algn="ctr">
              <a:buNone/>
              <a:defRPr sz="2400"/>
            </a:lvl7pPr>
            <a:lvl8pPr marL="4799281" indent="0" algn="ctr">
              <a:buNone/>
              <a:defRPr sz="2400"/>
            </a:lvl8pPr>
            <a:lvl9pPr marL="5484893" indent="0" algn="ctr">
              <a:buNone/>
              <a:defRPr sz="2400"/>
            </a:lvl9pPr>
          </a:lstStyle>
          <a:p>
            <a:r>
              <a:rPr lang="en-US" dirty="0"/>
              <a:t>Click to edit Master subtitle style</a:t>
            </a:r>
          </a:p>
        </p:txBody>
      </p:sp>
    </p:spTree>
    <p:extLst>
      <p:ext uri="{BB962C8B-B14F-4D97-AF65-F5344CB8AC3E}">
        <p14:creationId xmlns:p14="http://schemas.microsoft.com/office/powerpoint/2010/main" val="13985778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6057900" y="9926409"/>
            <a:ext cx="6172200" cy="547687"/>
          </a:xfrm>
        </p:spPr>
        <p:txBody>
          <a:bodyPr/>
          <a:lstStyle>
            <a:lvl1pPr>
              <a:defRPr sz="1500">
                <a:solidFill>
                  <a:schemeClr val="tx1">
                    <a:lumMod val="85000"/>
                    <a:lumOff val="15000"/>
                  </a:schemeClr>
                </a:solidFill>
              </a:defRPr>
            </a:lvl1pPr>
          </a:lstStyle>
          <a:p>
            <a:r>
              <a:rPr lang="en-US">
                <a:solidFill>
                  <a:prstClr val="black">
                    <a:lumMod val="85000"/>
                    <a:lumOff val="15000"/>
                  </a:prstClr>
                </a:solidFill>
              </a:rPr>
              <a:t>© Copyright Wadhwani Foundation</a:t>
            </a:r>
            <a:endParaRPr lang="en-US" dirty="0">
              <a:solidFill>
                <a:prstClr val="black">
                  <a:lumMod val="85000"/>
                  <a:lumOff val="15000"/>
                </a:prstClr>
              </a:solidFill>
            </a:endParaRPr>
          </a:p>
        </p:txBody>
      </p:sp>
      <p:sp>
        <p:nvSpPr>
          <p:cNvPr id="5" name="Slide Number Placeholder 4"/>
          <p:cNvSpPr>
            <a:spLocks noGrp="1"/>
          </p:cNvSpPr>
          <p:nvPr>
            <p:ph type="sldNum" sz="quarter" idx="12"/>
          </p:nvPr>
        </p:nvSpPr>
        <p:spPr>
          <a:xfrm>
            <a:off x="13456258" y="9926410"/>
            <a:ext cx="4114800" cy="547687"/>
          </a:xfrm>
        </p:spPr>
        <p:txBody>
          <a:bodyPr/>
          <a:lstStyle/>
          <a:p>
            <a:fld id="{8632F5CF-2680-48A4-8032-177420087341}" type="slidenum">
              <a:rPr lang="id-ID" smtClean="0">
                <a:solidFill>
                  <a:prstClr val="black">
                    <a:tint val="75000"/>
                  </a:prstClr>
                </a:solidFill>
              </a:rPr>
              <a:pPr/>
              <a:t>‹#›</a:t>
            </a:fld>
            <a:endParaRPr lang="id-ID">
              <a:solidFill>
                <a:prstClr val="black">
                  <a:tint val="75000"/>
                </a:prstClr>
              </a:solidFill>
            </a:endParaRPr>
          </a:p>
        </p:txBody>
      </p:sp>
      <p:sp>
        <p:nvSpPr>
          <p:cNvPr id="10" name="Title 1"/>
          <p:cNvSpPr>
            <a:spLocks noGrp="1"/>
          </p:cNvSpPr>
          <p:nvPr>
            <p:ph type="title"/>
          </p:nvPr>
        </p:nvSpPr>
        <p:spPr>
          <a:xfrm>
            <a:off x="716945" y="476343"/>
            <a:ext cx="15304106" cy="729948"/>
          </a:xfrm>
        </p:spPr>
        <p:txBody>
          <a:bodyPr>
            <a:noAutofit/>
          </a:bodyPr>
          <a:lstStyle>
            <a:lvl1pPr algn="l">
              <a:defRPr sz="3600">
                <a:solidFill>
                  <a:srgbClr val="C00000"/>
                </a:solidFill>
              </a:defRPr>
            </a:lvl1pPr>
          </a:lstStyle>
          <a:p>
            <a:r>
              <a:rPr lang="en-US" dirty="0"/>
              <a:t>Click to edit Master title style</a:t>
            </a:r>
            <a:endParaRPr lang="id-ID" dirty="0"/>
          </a:p>
        </p:txBody>
      </p:sp>
      <p:sp>
        <p:nvSpPr>
          <p:cNvPr id="11" name="Subtitle 2"/>
          <p:cNvSpPr>
            <a:spLocks noGrp="1"/>
          </p:cNvSpPr>
          <p:nvPr>
            <p:ph type="subTitle" idx="1"/>
          </p:nvPr>
        </p:nvSpPr>
        <p:spPr>
          <a:xfrm>
            <a:off x="716945" y="1293187"/>
            <a:ext cx="15304107" cy="345112"/>
          </a:xfrm>
        </p:spPr>
        <p:txBody>
          <a:bodyPr>
            <a:noAutofit/>
          </a:bodyPr>
          <a:lstStyle>
            <a:lvl1pPr marL="0" indent="0" algn="l">
              <a:buNone/>
              <a:defRPr sz="1800">
                <a:solidFill>
                  <a:schemeClr val="tx1">
                    <a:lumMod val="65000"/>
                    <a:lumOff val="35000"/>
                  </a:schemeClr>
                </a:solidFill>
              </a:defRPr>
            </a:lvl1pPr>
            <a:lvl2pPr marL="685636" indent="0" algn="ctr">
              <a:buNone/>
              <a:defRPr sz="3000"/>
            </a:lvl2pPr>
            <a:lvl3pPr marL="1371271" indent="0" algn="ctr">
              <a:buNone/>
              <a:defRPr sz="2700"/>
            </a:lvl3pPr>
            <a:lvl4pPr marL="2056905" indent="0" algn="ctr">
              <a:buNone/>
              <a:defRPr sz="2400"/>
            </a:lvl4pPr>
            <a:lvl5pPr marL="2742540" indent="0" algn="ctr">
              <a:buNone/>
              <a:defRPr sz="2400"/>
            </a:lvl5pPr>
            <a:lvl6pPr marL="3428176" indent="0" algn="ctr">
              <a:buNone/>
              <a:defRPr sz="2400"/>
            </a:lvl6pPr>
            <a:lvl7pPr marL="4113809" indent="0" algn="ctr">
              <a:buNone/>
              <a:defRPr sz="2400"/>
            </a:lvl7pPr>
            <a:lvl8pPr marL="4799445" indent="0" algn="ctr">
              <a:buNone/>
              <a:defRPr sz="2400"/>
            </a:lvl8pPr>
            <a:lvl9pPr marL="5485080" indent="0" algn="ctr">
              <a:buNone/>
              <a:defRPr sz="2400"/>
            </a:lvl9pPr>
          </a:lstStyle>
          <a:p>
            <a:r>
              <a:rPr lang="en-US" dirty="0"/>
              <a:t>Click to edit Master subtitle style</a:t>
            </a:r>
          </a:p>
        </p:txBody>
      </p:sp>
      <p:sp>
        <p:nvSpPr>
          <p:cNvPr id="8" name="Text Placeholder 2"/>
          <p:cNvSpPr>
            <a:spLocks noGrp="1"/>
          </p:cNvSpPr>
          <p:nvPr>
            <p:ph idx="13"/>
          </p:nvPr>
        </p:nvSpPr>
        <p:spPr>
          <a:xfrm>
            <a:off x="716943" y="1924050"/>
            <a:ext cx="16854116" cy="734139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	</a:t>
            </a:r>
          </a:p>
          <a:p>
            <a:pPr lvl="4"/>
            <a:r>
              <a:rPr lang="en-US" dirty="0"/>
              <a:t>Fifth level</a:t>
            </a:r>
          </a:p>
        </p:txBody>
      </p:sp>
    </p:spTree>
    <p:extLst>
      <p:ext uri="{BB962C8B-B14F-4D97-AF65-F5344CB8AC3E}">
        <p14:creationId xmlns:p14="http://schemas.microsoft.com/office/powerpoint/2010/main" val="7424458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716942" y="9534528"/>
            <a:ext cx="4114800" cy="547687"/>
          </a:xfrm>
          <a:prstGeom prst="rect">
            <a:avLst/>
          </a:prstGeom>
        </p:spPr>
        <p:txBody>
          <a:bodyPr/>
          <a:lstStyle/>
          <a:p>
            <a:pPr defTabSz="1371579"/>
            <a:fld id="{14112D9D-64C6-4E47-9018-0DB3950AA54C}" type="datetime1">
              <a:rPr lang="en-US" smtClean="0">
                <a:solidFill>
                  <a:prstClr val="black">
                    <a:tint val="75000"/>
                  </a:prstClr>
                </a:solidFill>
              </a:rPr>
              <a:pPr defTabSz="1371579"/>
              <a:t>03-Jun-26</a:t>
            </a:fld>
            <a:endParaRPr lang="id-ID">
              <a:solidFill>
                <a:prstClr val="black">
                  <a:tint val="75000"/>
                </a:prstClr>
              </a:solidFill>
            </a:endParaRPr>
          </a:p>
        </p:txBody>
      </p:sp>
      <p:sp>
        <p:nvSpPr>
          <p:cNvPr id="4" name="Footer Placeholder 3"/>
          <p:cNvSpPr>
            <a:spLocks noGrp="1"/>
          </p:cNvSpPr>
          <p:nvPr>
            <p:ph type="ftr" sz="quarter" idx="11"/>
          </p:nvPr>
        </p:nvSpPr>
        <p:spPr>
          <a:xfrm>
            <a:off x="6057900" y="9534528"/>
            <a:ext cx="6172200" cy="547687"/>
          </a:xfrm>
          <a:prstGeom prst="rect">
            <a:avLst/>
          </a:prstGeom>
        </p:spPr>
        <p:txBody>
          <a:bodyPr/>
          <a:lstStyle/>
          <a:p>
            <a:pPr defTabSz="1371579"/>
            <a:r>
              <a:rPr lang="en-US" sz="2700">
                <a:solidFill>
                  <a:prstClr val="black">
                    <a:tint val="75000"/>
                  </a:prstClr>
                </a:solidFill>
              </a:rPr>
              <a:t>© Copyright Wadhwani Foundation</a:t>
            </a:r>
          </a:p>
        </p:txBody>
      </p:sp>
      <p:sp>
        <p:nvSpPr>
          <p:cNvPr id="5" name="Slide Number Placeholder 4"/>
          <p:cNvSpPr>
            <a:spLocks noGrp="1"/>
          </p:cNvSpPr>
          <p:nvPr>
            <p:ph type="sldNum" sz="quarter" idx="12"/>
          </p:nvPr>
        </p:nvSpPr>
        <p:spPr>
          <a:xfrm>
            <a:off x="13456259" y="9534528"/>
            <a:ext cx="4114800" cy="547687"/>
          </a:xfrm>
          <a:prstGeom prst="rect">
            <a:avLst/>
          </a:prstGeom>
        </p:spPr>
        <p:txBody>
          <a:bodyPr/>
          <a:lstStyle/>
          <a:p>
            <a:pPr defTabSz="1371579"/>
            <a:fld id="{8632F5CF-2680-48A4-8032-177420087341}" type="slidenum">
              <a:rPr lang="id-ID" sz="2700" smtClean="0">
                <a:solidFill>
                  <a:prstClr val="black">
                    <a:tint val="75000"/>
                  </a:prstClr>
                </a:solidFill>
              </a:rPr>
              <a:pPr defTabSz="1371579"/>
              <a:t>‹#›</a:t>
            </a:fld>
            <a:endParaRPr lang="id-ID" sz="2700">
              <a:solidFill>
                <a:prstClr val="black">
                  <a:tint val="75000"/>
                </a:prstClr>
              </a:solidFill>
            </a:endParaRPr>
          </a:p>
        </p:txBody>
      </p:sp>
    </p:spTree>
    <p:extLst>
      <p:ext uri="{BB962C8B-B14F-4D97-AF65-F5344CB8AC3E}">
        <p14:creationId xmlns:p14="http://schemas.microsoft.com/office/powerpoint/2010/main" val="1364172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sp>
        <p:nvSpPr>
          <p:cNvPr id="11" name="Picture Placeholder 10"/>
          <p:cNvSpPr>
            <a:spLocks noGrp="1"/>
          </p:cNvSpPr>
          <p:nvPr>
            <p:ph type="pic" sz="quarter" idx="11"/>
          </p:nvPr>
        </p:nvSpPr>
        <p:spPr>
          <a:xfrm>
            <a:off x="10972800" y="0"/>
            <a:ext cx="7315200" cy="10287000"/>
          </a:xfrm>
          <a:custGeom>
            <a:avLst/>
            <a:gdLst>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876800" h="6858000">
                <a:moveTo>
                  <a:pt x="0" y="0"/>
                </a:moveTo>
                <a:lnTo>
                  <a:pt x="4876800" y="0"/>
                </a:lnTo>
                <a:lnTo>
                  <a:pt x="4876800" y="6858000"/>
                </a:lnTo>
                <a:lnTo>
                  <a:pt x="0" y="6858000"/>
                </a:lnTo>
                <a:close/>
              </a:path>
            </a:pathLst>
          </a:custGeom>
          <a:pattFill prst="solidDmnd">
            <a:fgClr>
              <a:schemeClr val="bg1">
                <a:lumMod val="85000"/>
              </a:schemeClr>
            </a:fgClr>
            <a:bgClr>
              <a:schemeClr val="bg1"/>
            </a:bgClr>
          </a:pattFill>
        </p:spPr>
        <p:txBody>
          <a:bodyPr wrap="square" anchor="ctr">
            <a:noAutofit/>
          </a:bodyPr>
          <a:lstStyle>
            <a:lvl1pPr algn="ctr">
              <a:defRPr sz="2400"/>
            </a:lvl1pPr>
          </a:lstStyle>
          <a:p>
            <a:endParaRPr lang="en-US"/>
          </a:p>
        </p:txBody>
      </p:sp>
      <p:sp>
        <p:nvSpPr>
          <p:cNvPr id="10" name="Picture Placeholder 9"/>
          <p:cNvSpPr>
            <a:spLocks noGrp="1"/>
          </p:cNvSpPr>
          <p:nvPr>
            <p:ph type="pic" sz="quarter" idx="12"/>
          </p:nvPr>
        </p:nvSpPr>
        <p:spPr>
          <a:xfrm>
            <a:off x="0" y="6715124"/>
            <a:ext cx="3314700" cy="3571876"/>
          </a:xfrm>
          <a:custGeom>
            <a:avLst/>
            <a:gdLst>
              <a:gd name="connsiteX0" fmla="*/ 0 w 2209800"/>
              <a:gd name="connsiteY0" fmla="*/ 0 h 2381250"/>
              <a:gd name="connsiteX1" fmla="*/ 2209800 w 2209800"/>
              <a:gd name="connsiteY1" fmla="*/ 0 h 2381250"/>
              <a:gd name="connsiteX2" fmla="*/ 2209800 w 2209800"/>
              <a:gd name="connsiteY2" fmla="*/ 2381250 h 2381250"/>
              <a:gd name="connsiteX3" fmla="*/ 0 w 2209800"/>
              <a:gd name="connsiteY3" fmla="*/ 2381250 h 2381250"/>
            </a:gdLst>
            <a:ahLst/>
            <a:cxnLst>
              <a:cxn ang="0">
                <a:pos x="connsiteX0" y="connsiteY0"/>
              </a:cxn>
              <a:cxn ang="0">
                <a:pos x="connsiteX1" y="connsiteY1"/>
              </a:cxn>
              <a:cxn ang="0">
                <a:pos x="connsiteX2" y="connsiteY2"/>
              </a:cxn>
              <a:cxn ang="0">
                <a:pos x="connsiteX3" y="connsiteY3"/>
              </a:cxn>
            </a:cxnLst>
            <a:rect l="l" t="t" r="r" b="b"/>
            <a:pathLst>
              <a:path w="2209800" h="2381250">
                <a:moveTo>
                  <a:pt x="0" y="0"/>
                </a:moveTo>
                <a:lnTo>
                  <a:pt x="2209800" y="0"/>
                </a:lnTo>
                <a:lnTo>
                  <a:pt x="2209800" y="2381250"/>
                </a:lnTo>
                <a:lnTo>
                  <a:pt x="0" y="2381250"/>
                </a:lnTo>
                <a:close/>
              </a:path>
            </a:pathLst>
          </a:custGeom>
          <a:pattFill prst="solidDmnd">
            <a:fgClr>
              <a:schemeClr val="bg1">
                <a:lumMod val="85000"/>
              </a:schemeClr>
            </a:fgClr>
            <a:bgClr>
              <a:schemeClr val="bg1"/>
            </a:bgClr>
          </a:pattFill>
        </p:spPr>
        <p:txBody>
          <a:bodyPr wrap="square" anchor="ctr">
            <a:noAutofit/>
          </a:bodyPr>
          <a:lstStyle>
            <a:lvl1pPr algn="ctr">
              <a:defRPr sz="2400"/>
            </a:lvl1pPr>
          </a:lstStyle>
          <a:p>
            <a:endParaRPr lang="en-US"/>
          </a:p>
        </p:txBody>
      </p:sp>
    </p:spTree>
    <p:extLst>
      <p:ext uri="{BB962C8B-B14F-4D97-AF65-F5344CB8AC3E}">
        <p14:creationId xmlns:p14="http://schemas.microsoft.com/office/powerpoint/2010/main" val="10143721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nd Foo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0" y="547691"/>
            <a:ext cx="15773400" cy="652462"/>
          </a:xfrm>
          <a:prstGeom prst="rect">
            <a:avLst/>
          </a:prstGeom>
        </p:spPr>
        <p:txBody>
          <a:bodyPr/>
          <a:lstStyle>
            <a:lvl1pPr>
              <a:defRPr sz="3000" b="1">
                <a:solidFill>
                  <a:srgbClr val="9E0D20"/>
                </a:solidFill>
                <a:latin typeface="Raleway" panose="020B0503030101060003" pitchFamily="34" charset="0"/>
              </a:defRPr>
            </a:lvl1pPr>
          </a:lstStyle>
          <a:p>
            <a:r>
              <a:rPr lang="en-US"/>
              <a:t>CLICK TO EDIT MASTER TITLE STYLE</a:t>
            </a:r>
          </a:p>
        </p:txBody>
      </p:sp>
      <p:grpSp>
        <p:nvGrpSpPr>
          <p:cNvPr id="16" name="Group 15"/>
          <p:cNvGrpSpPr/>
          <p:nvPr userDrawn="1"/>
        </p:nvGrpSpPr>
        <p:grpSpPr>
          <a:xfrm>
            <a:off x="921228" y="9969693"/>
            <a:ext cx="16445552" cy="71646"/>
            <a:chOff x="532000" y="6640224"/>
            <a:chExt cx="9000000" cy="54000"/>
          </a:xfrm>
        </p:grpSpPr>
        <p:sp>
          <p:nvSpPr>
            <p:cNvPr id="11" name="Rectangle 10"/>
            <p:cNvSpPr/>
            <p:nvPr userDrawn="1"/>
          </p:nvSpPr>
          <p:spPr>
            <a:xfrm>
              <a:off x="532000" y="6640224"/>
              <a:ext cx="1800000" cy="54000"/>
            </a:xfrm>
            <a:prstGeom prst="rect">
              <a:avLst/>
            </a:prstGeom>
            <a:solidFill>
              <a:srgbClr val="9E0D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566"/>
              <a:endParaRPr lang="en-IN" sz="2700">
                <a:solidFill>
                  <a:prstClr val="white"/>
                </a:solidFill>
              </a:endParaRPr>
            </a:p>
          </p:txBody>
        </p:sp>
        <p:sp>
          <p:nvSpPr>
            <p:cNvPr id="12" name="Rectangle 11"/>
            <p:cNvSpPr/>
            <p:nvPr userDrawn="1"/>
          </p:nvSpPr>
          <p:spPr>
            <a:xfrm>
              <a:off x="2332000" y="6640224"/>
              <a:ext cx="1800000" cy="54000"/>
            </a:xfrm>
            <a:prstGeom prst="rect">
              <a:avLst/>
            </a:prstGeom>
            <a:solidFill>
              <a:srgbClr val="2874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566"/>
              <a:endParaRPr lang="en-IN" sz="2700">
                <a:solidFill>
                  <a:prstClr val="white"/>
                </a:solidFill>
              </a:endParaRPr>
            </a:p>
          </p:txBody>
        </p:sp>
        <p:sp>
          <p:nvSpPr>
            <p:cNvPr id="13" name="Rectangle 12"/>
            <p:cNvSpPr/>
            <p:nvPr userDrawn="1"/>
          </p:nvSpPr>
          <p:spPr>
            <a:xfrm>
              <a:off x="4132000" y="6640224"/>
              <a:ext cx="1800000" cy="54000"/>
            </a:xfrm>
            <a:prstGeom prst="rect">
              <a:avLst/>
            </a:prstGeom>
            <a:solidFill>
              <a:srgbClr val="F686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566"/>
              <a:endParaRPr lang="en-IN" sz="2700">
                <a:solidFill>
                  <a:prstClr val="white"/>
                </a:solidFill>
              </a:endParaRPr>
            </a:p>
          </p:txBody>
        </p:sp>
        <p:sp>
          <p:nvSpPr>
            <p:cNvPr id="14" name="Rectangle 13"/>
            <p:cNvSpPr/>
            <p:nvPr userDrawn="1"/>
          </p:nvSpPr>
          <p:spPr>
            <a:xfrm>
              <a:off x="5932000" y="6640224"/>
              <a:ext cx="1800000" cy="54000"/>
            </a:xfrm>
            <a:prstGeom prst="rect">
              <a:avLst/>
            </a:prstGeom>
            <a:solidFill>
              <a:srgbClr val="1D43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566"/>
              <a:endParaRPr lang="en-IN" sz="2700">
                <a:solidFill>
                  <a:prstClr val="white"/>
                </a:solidFill>
              </a:endParaRPr>
            </a:p>
          </p:txBody>
        </p:sp>
        <p:sp>
          <p:nvSpPr>
            <p:cNvPr id="15" name="Rectangle 14"/>
            <p:cNvSpPr/>
            <p:nvPr userDrawn="1"/>
          </p:nvSpPr>
          <p:spPr>
            <a:xfrm>
              <a:off x="7732000" y="6640224"/>
              <a:ext cx="1800000" cy="54000"/>
            </a:xfrm>
            <a:prstGeom prst="rect">
              <a:avLst/>
            </a:prstGeom>
            <a:solidFill>
              <a:srgbClr val="2EDA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566"/>
              <a:endParaRPr lang="en-IN" sz="2700">
                <a:solidFill>
                  <a:prstClr val="white"/>
                </a:solidFill>
              </a:endParaRPr>
            </a:p>
          </p:txBody>
        </p:sp>
      </p:grpSp>
    </p:spTree>
    <p:extLst>
      <p:ext uri="{BB962C8B-B14F-4D97-AF65-F5344CB8AC3E}">
        <p14:creationId xmlns:p14="http://schemas.microsoft.com/office/powerpoint/2010/main" val="147758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03-Jun-26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6" r:id="rId12"/>
    <p:sldLayoutId id="2147483677" r:id="rId13"/>
    <p:sldLayoutId id="2147483693" r:id="rId14"/>
    <p:sldLayoutId id="2147483696" r:id="rId15"/>
    <p:sldLayoutId id="2147483697" r:id="rId16"/>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15.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12.xml"/><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5.jpeg"/><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13.emf"/></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6.xml"/><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18.jpeg"/><Relationship Id="rId4" Type="http://schemas.openxmlformats.org/officeDocument/2006/relationships/image" Target="../media/image17.jpe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2669" y="-46893"/>
            <a:ext cx="18310194" cy="10287000"/>
          </a:xfrm>
          <a:prstGeom prst="rect">
            <a:avLst/>
          </a:prstGeom>
        </p:spPr>
      </p:pic>
      <p:grpSp>
        <p:nvGrpSpPr>
          <p:cNvPr id="4" name="Group 4"/>
          <p:cNvGrpSpPr>
            <a:grpSpLocks noChangeAspect="1"/>
          </p:cNvGrpSpPr>
          <p:nvPr/>
        </p:nvGrpSpPr>
        <p:grpSpPr>
          <a:xfrm>
            <a:off x="10228234" y="5024845"/>
            <a:ext cx="495300" cy="495300"/>
            <a:chOff x="0" y="0"/>
            <a:chExt cx="6355080" cy="6355080"/>
          </a:xfrm>
        </p:grpSpPr>
        <p:sp>
          <p:nvSpPr>
            <p:cNvPr id="5" name="Freeform 5"/>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FFFF"/>
            </a:solidFill>
          </p:spPr>
        </p:sp>
      </p:grpSp>
      <p:pic>
        <p:nvPicPr>
          <p:cNvPr id="12" name="Picture 12"/>
          <p:cNvPicPr>
            <a:picLocks noChangeAspect="1"/>
          </p:cNvPicPr>
          <p:nvPr/>
        </p:nvPicPr>
        <p:blipFill>
          <a:blip r:embed="rId4"/>
          <a:srcRect/>
          <a:stretch>
            <a:fillRect/>
          </a:stretch>
        </p:blipFill>
        <p:spPr>
          <a:xfrm>
            <a:off x="15314576" y="509277"/>
            <a:ext cx="2278599" cy="1131276"/>
          </a:xfrm>
          <a:prstGeom prst="rect">
            <a:avLst/>
          </a:prstGeom>
        </p:spPr>
      </p:pic>
      <p:sp>
        <p:nvSpPr>
          <p:cNvPr id="19" name="TextBox 19"/>
          <p:cNvSpPr txBox="1"/>
          <p:nvPr/>
        </p:nvSpPr>
        <p:spPr>
          <a:xfrm>
            <a:off x="1343156" y="3511470"/>
            <a:ext cx="6928588" cy="2851230"/>
          </a:xfrm>
          <a:prstGeom prst="rect">
            <a:avLst/>
          </a:prstGeom>
        </p:spPr>
        <p:txBody>
          <a:bodyPr lIns="0" tIns="0" rIns="0" bIns="0" rtlCol="0" anchor="t">
            <a:spAutoFit/>
          </a:bodyPr>
          <a:lstStyle/>
          <a:p>
            <a:pPr>
              <a:lnSpc>
                <a:spcPts val="11040"/>
              </a:lnSpc>
            </a:pPr>
            <a:r>
              <a:rPr lang="en-US" sz="12000" dirty="0">
                <a:solidFill>
                  <a:srgbClr val="FFFFFF"/>
                </a:solidFill>
                <a:latin typeface="Antonio Bold"/>
              </a:rPr>
              <a:t>IGNITE</a:t>
            </a:r>
          </a:p>
          <a:p>
            <a:pPr>
              <a:lnSpc>
                <a:spcPts val="11040"/>
              </a:lnSpc>
            </a:pPr>
            <a:r>
              <a:rPr lang="en-US" sz="12000" dirty="0">
                <a:solidFill>
                  <a:srgbClr val="FFFFFF"/>
                </a:solidFill>
                <a:latin typeface="Antonio Bold"/>
              </a:rPr>
              <a:t>Pitch Deck</a:t>
            </a:r>
          </a:p>
        </p:txBody>
      </p:sp>
      <p:sp>
        <p:nvSpPr>
          <p:cNvPr id="7" name="Rectangle 6"/>
          <p:cNvSpPr/>
          <p:nvPr/>
        </p:nvSpPr>
        <p:spPr>
          <a:xfrm>
            <a:off x="1343156" y="6953250"/>
            <a:ext cx="8628034" cy="1371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4000" b="1" dirty="0">
                <a:ln w="0"/>
                <a:solidFill>
                  <a:schemeClr val="tx1"/>
                </a:solidFill>
                <a:effectLst>
                  <a:outerShdw blurRad="38100" dist="19050" dir="2700000" algn="tl" rotWithShape="0">
                    <a:schemeClr val="dk1">
                      <a:alpha val="40000"/>
                    </a:schemeClr>
                  </a:outerShdw>
                </a:effectLst>
              </a:rPr>
              <a:t>Milestone 1</a:t>
            </a:r>
          </a:p>
        </p:txBody>
      </p:sp>
      <p:pic>
        <p:nvPicPr>
          <p:cNvPr id="8" name="Picture 7">
            <a:extLst>
              <a:ext uri="{FF2B5EF4-FFF2-40B4-BE49-F238E27FC236}">
                <a16:creationId xmlns:a16="http://schemas.microsoft.com/office/drawing/2014/main" id="{E5FE3D05-CD78-AF39-B1E3-1AC56D3F6E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192000" y="2498685"/>
            <a:ext cx="5229356" cy="4876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55BE9276-DC2F-F843-82A1-22E8A3A5B667}"/>
              </a:ext>
            </a:extLst>
          </p:cNvPr>
          <p:cNvGrpSpPr/>
          <p:nvPr/>
        </p:nvGrpSpPr>
        <p:grpSpPr>
          <a:xfrm>
            <a:off x="704241" y="7442478"/>
            <a:ext cx="1371600" cy="1371600"/>
            <a:chOff x="6821181" y="4608210"/>
            <a:chExt cx="914400" cy="914400"/>
          </a:xfrm>
        </p:grpSpPr>
        <p:sp>
          <p:nvSpPr>
            <p:cNvPr id="41" name="Oval 40"/>
            <p:cNvSpPr/>
            <p:nvPr/>
          </p:nvSpPr>
          <p:spPr>
            <a:xfrm>
              <a:off x="6821181" y="4608210"/>
              <a:ext cx="914400" cy="9144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en-US" sz="2700" dirty="0">
                <a:solidFill>
                  <a:prstClr val="white"/>
                </a:solidFill>
              </a:endParaRPr>
            </a:p>
          </p:txBody>
        </p:sp>
        <p:sp>
          <p:nvSpPr>
            <p:cNvPr id="42" name="Shape 2932">
              <a:extLst>
                <a:ext uri="{FF2B5EF4-FFF2-40B4-BE49-F238E27FC236}">
                  <a16:creationId xmlns:a16="http://schemas.microsoft.com/office/drawing/2014/main" id="{F24913FF-4021-F444-AC80-1D5E7C5340A2}"/>
                </a:ext>
              </a:extLst>
            </p:cNvPr>
            <p:cNvSpPr/>
            <p:nvPr/>
          </p:nvSpPr>
          <p:spPr>
            <a:xfrm>
              <a:off x="7038859" y="4857302"/>
              <a:ext cx="479042" cy="391945"/>
            </a:xfrm>
            <a:custGeom>
              <a:avLst/>
              <a:gdLst/>
              <a:ahLst/>
              <a:cxnLst>
                <a:cxn ang="0">
                  <a:pos x="wd2" y="hd2"/>
                </a:cxn>
                <a:cxn ang="5400000">
                  <a:pos x="wd2" y="hd2"/>
                </a:cxn>
                <a:cxn ang="10800000">
                  <a:pos x="wd2" y="hd2"/>
                </a:cxn>
                <a:cxn ang="16200000">
                  <a:pos x="wd2" y="hd2"/>
                </a:cxn>
              </a:cxnLst>
              <a:rect l="0" t="0" r="r" b="b"/>
              <a:pathLst>
                <a:path w="21600" h="21600" extrusionOk="0">
                  <a:moveTo>
                    <a:pt x="1964" y="12000"/>
                  </a:moveTo>
                  <a:cubicBezTo>
                    <a:pt x="1421" y="12000"/>
                    <a:pt x="982" y="11462"/>
                    <a:pt x="982" y="10800"/>
                  </a:cubicBezTo>
                  <a:cubicBezTo>
                    <a:pt x="982" y="10138"/>
                    <a:pt x="1421" y="9600"/>
                    <a:pt x="1964" y="9600"/>
                  </a:cubicBezTo>
                  <a:cubicBezTo>
                    <a:pt x="2505" y="9600"/>
                    <a:pt x="2945" y="10138"/>
                    <a:pt x="2945" y="10800"/>
                  </a:cubicBezTo>
                  <a:cubicBezTo>
                    <a:pt x="2945" y="11462"/>
                    <a:pt x="2505" y="12000"/>
                    <a:pt x="1964" y="12000"/>
                  </a:cubicBezTo>
                  <a:moveTo>
                    <a:pt x="21456" y="10376"/>
                  </a:moveTo>
                  <a:lnTo>
                    <a:pt x="18511" y="6776"/>
                  </a:lnTo>
                  <a:cubicBezTo>
                    <a:pt x="18422" y="6667"/>
                    <a:pt x="18299" y="6600"/>
                    <a:pt x="18164" y="6600"/>
                  </a:cubicBezTo>
                  <a:cubicBezTo>
                    <a:pt x="17892" y="6600"/>
                    <a:pt x="17673" y="6869"/>
                    <a:pt x="17673" y="7200"/>
                  </a:cubicBezTo>
                  <a:cubicBezTo>
                    <a:pt x="17673" y="7366"/>
                    <a:pt x="17728" y="7516"/>
                    <a:pt x="17817" y="7624"/>
                  </a:cubicBezTo>
                  <a:lnTo>
                    <a:pt x="19924" y="10200"/>
                  </a:lnTo>
                  <a:lnTo>
                    <a:pt x="8058" y="10200"/>
                  </a:lnTo>
                  <a:lnTo>
                    <a:pt x="14727" y="2048"/>
                  </a:lnTo>
                  <a:lnTo>
                    <a:pt x="14727" y="5400"/>
                  </a:lnTo>
                  <a:cubicBezTo>
                    <a:pt x="14727" y="5732"/>
                    <a:pt x="14947" y="6000"/>
                    <a:pt x="15218" y="6000"/>
                  </a:cubicBezTo>
                  <a:cubicBezTo>
                    <a:pt x="15489" y="6000"/>
                    <a:pt x="15709" y="5732"/>
                    <a:pt x="15709" y="5400"/>
                  </a:cubicBezTo>
                  <a:lnTo>
                    <a:pt x="15709" y="600"/>
                  </a:lnTo>
                  <a:cubicBezTo>
                    <a:pt x="15709" y="269"/>
                    <a:pt x="15489" y="0"/>
                    <a:pt x="15218" y="0"/>
                  </a:cubicBezTo>
                  <a:lnTo>
                    <a:pt x="11291" y="0"/>
                  </a:lnTo>
                  <a:cubicBezTo>
                    <a:pt x="11020" y="0"/>
                    <a:pt x="10800" y="269"/>
                    <a:pt x="10800" y="600"/>
                  </a:cubicBezTo>
                  <a:cubicBezTo>
                    <a:pt x="10800" y="932"/>
                    <a:pt x="11020" y="1200"/>
                    <a:pt x="11291" y="1200"/>
                  </a:cubicBezTo>
                  <a:lnTo>
                    <a:pt x="14033" y="1200"/>
                  </a:lnTo>
                  <a:lnTo>
                    <a:pt x="6669" y="10200"/>
                  </a:lnTo>
                  <a:lnTo>
                    <a:pt x="3858" y="10200"/>
                  </a:lnTo>
                  <a:cubicBezTo>
                    <a:pt x="3639" y="9167"/>
                    <a:pt x="2877" y="8400"/>
                    <a:pt x="1964" y="8400"/>
                  </a:cubicBezTo>
                  <a:cubicBezTo>
                    <a:pt x="879" y="8400"/>
                    <a:pt x="0" y="9475"/>
                    <a:pt x="0" y="10800"/>
                  </a:cubicBezTo>
                  <a:cubicBezTo>
                    <a:pt x="0" y="12125"/>
                    <a:pt x="879" y="13200"/>
                    <a:pt x="1964" y="13200"/>
                  </a:cubicBezTo>
                  <a:cubicBezTo>
                    <a:pt x="2877" y="13200"/>
                    <a:pt x="3639" y="12434"/>
                    <a:pt x="3858" y="11400"/>
                  </a:cubicBezTo>
                  <a:lnTo>
                    <a:pt x="6669" y="11400"/>
                  </a:lnTo>
                  <a:lnTo>
                    <a:pt x="14033" y="20400"/>
                  </a:lnTo>
                  <a:lnTo>
                    <a:pt x="11291" y="20400"/>
                  </a:lnTo>
                  <a:cubicBezTo>
                    <a:pt x="11020" y="20400"/>
                    <a:pt x="10800" y="20669"/>
                    <a:pt x="10800" y="21000"/>
                  </a:cubicBezTo>
                  <a:cubicBezTo>
                    <a:pt x="10800" y="21332"/>
                    <a:pt x="11020" y="21600"/>
                    <a:pt x="11291" y="21600"/>
                  </a:cubicBezTo>
                  <a:lnTo>
                    <a:pt x="15218" y="21600"/>
                  </a:lnTo>
                  <a:cubicBezTo>
                    <a:pt x="15489" y="21600"/>
                    <a:pt x="15709" y="21332"/>
                    <a:pt x="15709" y="21000"/>
                  </a:cubicBezTo>
                  <a:lnTo>
                    <a:pt x="15709" y="16200"/>
                  </a:lnTo>
                  <a:cubicBezTo>
                    <a:pt x="15709" y="15869"/>
                    <a:pt x="15489" y="15600"/>
                    <a:pt x="15218" y="15600"/>
                  </a:cubicBezTo>
                  <a:cubicBezTo>
                    <a:pt x="14947" y="15600"/>
                    <a:pt x="14727" y="15869"/>
                    <a:pt x="14727" y="16200"/>
                  </a:cubicBezTo>
                  <a:lnTo>
                    <a:pt x="14727" y="19552"/>
                  </a:lnTo>
                  <a:lnTo>
                    <a:pt x="8058" y="11400"/>
                  </a:lnTo>
                  <a:lnTo>
                    <a:pt x="19924" y="11400"/>
                  </a:lnTo>
                  <a:lnTo>
                    <a:pt x="17817" y="13976"/>
                  </a:lnTo>
                  <a:cubicBezTo>
                    <a:pt x="17728" y="14085"/>
                    <a:pt x="17673" y="14235"/>
                    <a:pt x="17673" y="14400"/>
                  </a:cubicBezTo>
                  <a:cubicBezTo>
                    <a:pt x="17673" y="14732"/>
                    <a:pt x="17892" y="15000"/>
                    <a:pt x="18164" y="15000"/>
                  </a:cubicBezTo>
                  <a:cubicBezTo>
                    <a:pt x="18299" y="15000"/>
                    <a:pt x="18422" y="14933"/>
                    <a:pt x="18511" y="14824"/>
                  </a:cubicBezTo>
                  <a:lnTo>
                    <a:pt x="21456" y="11224"/>
                  </a:lnTo>
                  <a:cubicBezTo>
                    <a:pt x="21545" y="11116"/>
                    <a:pt x="21600" y="10966"/>
                    <a:pt x="21600" y="10800"/>
                  </a:cubicBezTo>
                  <a:cubicBezTo>
                    <a:pt x="21600" y="10635"/>
                    <a:pt x="21545" y="10485"/>
                    <a:pt x="21456" y="10376"/>
                  </a:cubicBezTo>
                </a:path>
              </a:pathLst>
            </a:custGeom>
            <a:solidFill>
              <a:schemeClr val="bg1"/>
            </a:solidFill>
            <a:ln w="12700">
              <a:miter lim="400000"/>
            </a:ln>
          </p:spPr>
          <p:txBody>
            <a:bodyPr lIns="57136" tIns="57136" rIns="57136" bIns="57136" anchor="ctr"/>
            <a:lstStyle/>
            <a:p>
              <a:pPr defTabSz="685594">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4498" dirty="0">
                <a:solidFill>
                  <a:srgbClr val="FFFFFF"/>
                </a:solidFill>
                <a:effectLst>
                  <a:outerShdw blurRad="38100" dist="12700" dir="5400000" rotWithShape="0">
                    <a:srgbClr val="000000">
                      <a:alpha val="50000"/>
                    </a:srgbClr>
                  </a:outerShdw>
                </a:effectLst>
                <a:latin typeface="Gill Sans"/>
                <a:ea typeface="Gill Sans"/>
                <a:cs typeface="Gill Sans"/>
                <a:sym typeface="Gill Sans"/>
              </a:endParaRPr>
            </a:p>
          </p:txBody>
        </p:sp>
      </p:grpSp>
      <p:sp>
        <p:nvSpPr>
          <p:cNvPr id="43" name="TextBox 42"/>
          <p:cNvSpPr txBox="1"/>
          <p:nvPr/>
        </p:nvSpPr>
        <p:spPr>
          <a:xfrm>
            <a:off x="67466" y="-72585"/>
            <a:ext cx="9198340" cy="923330"/>
          </a:xfrm>
          <a:prstGeom prst="rect">
            <a:avLst/>
          </a:prstGeom>
          <a:noFill/>
        </p:spPr>
        <p:txBody>
          <a:bodyPr wrap="square" rtlCol="0">
            <a:spAutoFit/>
          </a:bodyPr>
          <a:lstStyle/>
          <a:p>
            <a:pPr defTabSz="1371600"/>
            <a:r>
              <a:rPr lang="en-US" sz="5400" b="1" dirty="0"/>
              <a:t>Who we are</a:t>
            </a:r>
            <a:endParaRPr lang="en-US" sz="5400" b="1" dirty="0">
              <a:solidFill>
                <a:prstClr val="black">
                  <a:lumMod val="85000"/>
                  <a:lumOff val="15000"/>
                </a:prstClr>
              </a:solidFill>
              <a:latin typeface="Montserrat"/>
            </a:endParaRPr>
          </a:p>
        </p:txBody>
      </p:sp>
      <p:sp>
        <p:nvSpPr>
          <p:cNvPr id="3" name="Rectangle 2"/>
          <p:cNvSpPr/>
          <p:nvPr/>
        </p:nvSpPr>
        <p:spPr>
          <a:xfrm>
            <a:off x="93387" y="1158819"/>
            <a:ext cx="5286832" cy="461665"/>
          </a:xfrm>
          <a:prstGeom prst="rect">
            <a:avLst/>
          </a:prstGeom>
        </p:spPr>
        <p:txBody>
          <a:bodyPr wrap="none">
            <a:spAutoFit/>
          </a:bodyPr>
          <a:lstStyle/>
          <a:p>
            <a:r>
              <a:rPr lang="en-US" sz="2400" dirty="0">
                <a:solidFill>
                  <a:srgbClr val="000000"/>
                </a:solidFill>
                <a:latin typeface="Avenir"/>
              </a:rPr>
              <a:t>Name of your Venture:………………………..</a:t>
            </a:r>
            <a:endParaRPr lang="en-US" sz="2400" dirty="0"/>
          </a:p>
        </p:txBody>
      </p:sp>
      <p:sp>
        <p:nvSpPr>
          <p:cNvPr id="44" name="Rectangle 43">
            <a:extLst>
              <a:ext uri="{FF2B5EF4-FFF2-40B4-BE49-F238E27FC236}">
                <a16:creationId xmlns:a16="http://schemas.microsoft.com/office/drawing/2014/main" id="{5DE34494-019C-4AF1-907B-33245967C575}"/>
              </a:ext>
            </a:extLst>
          </p:cNvPr>
          <p:cNvSpPr/>
          <p:nvPr/>
        </p:nvSpPr>
        <p:spPr>
          <a:xfrm>
            <a:off x="16120030" y="815582"/>
            <a:ext cx="1695221" cy="1288685"/>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5" name="Rectangle 4"/>
          <p:cNvSpPr/>
          <p:nvPr/>
        </p:nvSpPr>
        <p:spPr>
          <a:xfrm>
            <a:off x="2770113" y="4717503"/>
            <a:ext cx="4839786" cy="369332"/>
          </a:xfrm>
          <a:prstGeom prst="rect">
            <a:avLst/>
          </a:prstGeom>
        </p:spPr>
        <p:txBody>
          <a:bodyPr wrap="none">
            <a:spAutoFit/>
          </a:bodyPr>
          <a:lstStyle/>
          <a:p>
            <a:r>
              <a:rPr lang="en-US" dirty="0">
                <a:solidFill>
                  <a:srgbClr val="000000"/>
                </a:solidFill>
                <a:latin typeface="Avenir"/>
              </a:rPr>
              <a:t>Provide a brief on what does your venture do.</a:t>
            </a:r>
            <a:endParaRPr lang="en-US" dirty="0"/>
          </a:p>
        </p:txBody>
      </p:sp>
      <p:sp>
        <p:nvSpPr>
          <p:cNvPr id="46" name="Rectangle 45"/>
          <p:cNvSpPr/>
          <p:nvPr/>
        </p:nvSpPr>
        <p:spPr>
          <a:xfrm>
            <a:off x="2792811" y="1654984"/>
            <a:ext cx="1527982" cy="584775"/>
          </a:xfrm>
          <a:prstGeom prst="rect">
            <a:avLst/>
          </a:prstGeom>
        </p:spPr>
        <p:txBody>
          <a:bodyPr wrap="none">
            <a:spAutoFit/>
          </a:bodyPr>
          <a:lstStyle/>
          <a:p>
            <a:r>
              <a:rPr lang="en-US" sz="3200" b="1" dirty="0">
                <a:solidFill>
                  <a:srgbClr val="000000"/>
                </a:solidFill>
                <a:latin typeface="Avenir"/>
              </a:rPr>
              <a:t>Why ? </a:t>
            </a:r>
            <a:endParaRPr lang="en-US" sz="3200" b="1" dirty="0"/>
          </a:p>
        </p:txBody>
      </p:sp>
      <p:sp>
        <p:nvSpPr>
          <p:cNvPr id="47" name="Rectangle 46"/>
          <p:cNvSpPr/>
          <p:nvPr/>
        </p:nvSpPr>
        <p:spPr>
          <a:xfrm>
            <a:off x="2792811" y="2196108"/>
            <a:ext cx="5840060" cy="369332"/>
          </a:xfrm>
          <a:prstGeom prst="rect">
            <a:avLst/>
          </a:prstGeom>
        </p:spPr>
        <p:txBody>
          <a:bodyPr wrap="none">
            <a:spAutoFit/>
          </a:bodyPr>
          <a:lstStyle/>
          <a:p>
            <a:r>
              <a:rPr lang="en-US" dirty="0">
                <a:solidFill>
                  <a:srgbClr val="000000"/>
                </a:solidFill>
                <a:latin typeface="Avenir"/>
              </a:rPr>
              <a:t>Explain why do you want to pursue this Business Idea. </a:t>
            </a:r>
            <a:endParaRPr lang="en-US" dirty="0"/>
          </a:p>
        </p:txBody>
      </p:sp>
      <p:sp>
        <p:nvSpPr>
          <p:cNvPr id="48" name="Rectangle 47"/>
          <p:cNvSpPr/>
          <p:nvPr/>
        </p:nvSpPr>
        <p:spPr>
          <a:xfrm>
            <a:off x="2792811" y="4267518"/>
            <a:ext cx="1778051" cy="584775"/>
          </a:xfrm>
          <a:prstGeom prst="rect">
            <a:avLst/>
          </a:prstGeom>
        </p:spPr>
        <p:txBody>
          <a:bodyPr wrap="none">
            <a:spAutoFit/>
          </a:bodyPr>
          <a:lstStyle/>
          <a:p>
            <a:r>
              <a:rPr lang="en-US" sz="3200" b="1" dirty="0">
                <a:solidFill>
                  <a:srgbClr val="000000"/>
                </a:solidFill>
                <a:latin typeface="Avenir"/>
              </a:rPr>
              <a:t>What  ? </a:t>
            </a:r>
            <a:endParaRPr lang="en-US" sz="3200" b="1" dirty="0"/>
          </a:p>
        </p:txBody>
      </p:sp>
      <p:sp>
        <p:nvSpPr>
          <p:cNvPr id="49" name="Rectangle 48"/>
          <p:cNvSpPr/>
          <p:nvPr/>
        </p:nvSpPr>
        <p:spPr>
          <a:xfrm>
            <a:off x="2735904" y="6857703"/>
            <a:ext cx="1641796" cy="584775"/>
          </a:xfrm>
          <a:prstGeom prst="rect">
            <a:avLst/>
          </a:prstGeom>
        </p:spPr>
        <p:txBody>
          <a:bodyPr wrap="none">
            <a:spAutoFit/>
          </a:bodyPr>
          <a:lstStyle/>
          <a:p>
            <a:r>
              <a:rPr lang="en-US" sz="3200" b="1" dirty="0">
                <a:solidFill>
                  <a:srgbClr val="000000"/>
                </a:solidFill>
                <a:latin typeface="Avenir"/>
              </a:rPr>
              <a:t>How  ? </a:t>
            </a:r>
            <a:endParaRPr lang="en-US" sz="3200" b="1" dirty="0"/>
          </a:p>
        </p:txBody>
      </p:sp>
      <p:sp>
        <p:nvSpPr>
          <p:cNvPr id="51" name="Rectangle 50"/>
          <p:cNvSpPr/>
          <p:nvPr/>
        </p:nvSpPr>
        <p:spPr>
          <a:xfrm>
            <a:off x="2792811" y="5074619"/>
            <a:ext cx="8235788" cy="1711366"/>
          </a:xfrm>
          <a:prstGeom prst="rect">
            <a:avLst/>
          </a:prstGeom>
          <a:ln>
            <a:solidFill>
              <a:schemeClr val="tx1"/>
            </a:solidFill>
          </a:ln>
        </p:spPr>
        <p:txBody>
          <a:bodyPr wrap="square">
            <a:spAutoFit/>
          </a:bodyPr>
          <a:lstStyle/>
          <a:p>
            <a:pPr algn="just">
              <a:lnSpc>
                <a:spcPct val="150000"/>
              </a:lnSpc>
            </a:pPr>
            <a:r>
              <a:rPr lang="en-US" dirty="0">
                <a:latin typeface="Avenir"/>
              </a:rPr>
              <a:t>AquaSmart is a smart system that monitors water usage in homes. It uses a water flow sensor to measure consumption. The system alerts users when usage exceeds a limit. It can also detect leakages in pipelines. Overall, it helps reduce water wastage and improve efficiency.</a:t>
            </a:r>
            <a:endParaRPr lang="en-IN" dirty="0">
              <a:latin typeface="Avenir"/>
            </a:endParaRPr>
          </a:p>
        </p:txBody>
      </p:sp>
      <p:sp>
        <p:nvSpPr>
          <p:cNvPr id="52" name="Rectangle 51"/>
          <p:cNvSpPr/>
          <p:nvPr/>
        </p:nvSpPr>
        <p:spPr>
          <a:xfrm>
            <a:off x="2852045" y="2591626"/>
            <a:ext cx="8235788" cy="1477328"/>
          </a:xfrm>
          <a:prstGeom prst="rect">
            <a:avLst/>
          </a:prstGeom>
          <a:ln>
            <a:solidFill>
              <a:schemeClr val="tx1"/>
            </a:solidFill>
          </a:ln>
        </p:spPr>
        <p:txBody>
          <a:bodyPr wrap="square">
            <a:spAutoFit/>
          </a:bodyPr>
          <a:lstStyle/>
          <a:p>
            <a:r>
              <a:rPr lang="en-US" dirty="0">
                <a:latin typeface="Avenir"/>
              </a:rPr>
              <a:t>We chose AquaSmart because water wastage is a major problem in households. Many people waste water due to leaking taps, overflowing tanks, and careless usage. Most users are not aware of how much water they consume daily. As engineering students, we wanted to create a simple and effective solution. This idea helps in saving water and promoting awareness.</a:t>
            </a:r>
          </a:p>
        </p:txBody>
      </p:sp>
      <p:sp>
        <p:nvSpPr>
          <p:cNvPr id="53" name="Rectangle 52"/>
          <p:cNvSpPr/>
          <p:nvPr/>
        </p:nvSpPr>
        <p:spPr>
          <a:xfrm>
            <a:off x="2735904" y="7451858"/>
            <a:ext cx="7289175" cy="369332"/>
          </a:xfrm>
          <a:prstGeom prst="rect">
            <a:avLst/>
          </a:prstGeom>
        </p:spPr>
        <p:txBody>
          <a:bodyPr wrap="none">
            <a:spAutoFit/>
          </a:bodyPr>
          <a:lstStyle/>
          <a:p>
            <a:r>
              <a:rPr lang="en-US" dirty="0">
                <a:solidFill>
                  <a:srgbClr val="000000"/>
                </a:solidFill>
                <a:latin typeface="Avenir"/>
              </a:rPr>
              <a:t>Explain how your venture solves the problem and make its revenue. </a:t>
            </a:r>
            <a:endParaRPr lang="en-US" dirty="0"/>
          </a:p>
        </p:txBody>
      </p:sp>
      <p:sp>
        <p:nvSpPr>
          <p:cNvPr id="54" name="Rectangle 53"/>
          <p:cNvSpPr/>
          <p:nvPr/>
        </p:nvSpPr>
        <p:spPr>
          <a:xfrm>
            <a:off x="2820840" y="7851637"/>
            <a:ext cx="8235788" cy="1711366"/>
          </a:xfrm>
          <a:prstGeom prst="rect">
            <a:avLst/>
          </a:prstGeom>
          <a:ln>
            <a:solidFill>
              <a:schemeClr val="tx1"/>
            </a:solidFill>
          </a:ln>
        </p:spPr>
        <p:txBody>
          <a:bodyPr wrap="square">
            <a:spAutoFit/>
          </a:bodyPr>
          <a:lstStyle/>
          <a:p>
            <a:pPr algn="just">
              <a:lnSpc>
                <a:spcPct val="150000"/>
              </a:lnSpc>
            </a:pPr>
            <a:r>
              <a:rPr lang="en-US" dirty="0">
                <a:latin typeface="Avenir"/>
              </a:rPr>
              <a:t>AquaSmart works by installing a water flow sensor in pipelines. The sensor sends data to a microcontroller for processing. When excess usage or leakage is detected, alerts are given. This helps users take quick action to save water. The product can be sold at low cost with additional revenue from services.</a:t>
            </a:r>
            <a:endParaRPr lang="en-IN" sz="1600" dirty="0">
              <a:latin typeface="Avenir"/>
            </a:endParaRPr>
          </a:p>
        </p:txBody>
      </p:sp>
      <p:pic>
        <p:nvPicPr>
          <p:cNvPr id="58" name="Graphic 23" descr="Lightbulb and gear with solid fill">
            <a:extLst>
              <a:ext uri="{FF2B5EF4-FFF2-40B4-BE49-F238E27FC236}">
                <a16:creationId xmlns:a16="http://schemas.microsoft.com/office/drawing/2014/main" id="{70701804-1B30-4A44-B98A-18706EAEAFD0}"/>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6141" y="5074619"/>
            <a:ext cx="1290307" cy="1414469"/>
          </a:xfrm>
          <a:prstGeom prst="rect">
            <a:avLst/>
          </a:prstGeom>
          <a:solidFill>
            <a:schemeClr val="accent2">
              <a:lumMod val="40000"/>
              <a:lumOff val="60000"/>
            </a:schemeClr>
          </a:solidFill>
        </p:spPr>
      </p:pic>
      <p:pic>
        <p:nvPicPr>
          <p:cNvPr id="59" name="Graphic 19" descr="Dance steps with solid fill">
            <a:extLst>
              <a:ext uri="{FF2B5EF4-FFF2-40B4-BE49-F238E27FC236}">
                <a16:creationId xmlns:a16="http://schemas.microsoft.com/office/drawing/2014/main" id="{ED04F3D0-C2B5-426E-ADEE-F065E40DF450}"/>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4920" y="2737856"/>
            <a:ext cx="1251527" cy="1186444"/>
          </a:xfrm>
          <a:prstGeom prst="rect">
            <a:avLst/>
          </a:prstGeom>
          <a:solidFill>
            <a:schemeClr val="accent6">
              <a:lumMod val="60000"/>
              <a:lumOff val="40000"/>
            </a:schemeClr>
          </a:solidFill>
        </p:spPr>
      </p:pic>
      <p:sp>
        <p:nvSpPr>
          <p:cNvPr id="2" name="TextBox 1">
            <a:extLst>
              <a:ext uri="{FF2B5EF4-FFF2-40B4-BE49-F238E27FC236}">
                <a16:creationId xmlns:a16="http://schemas.microsoft.com/office/drawing/2014/main" id="{7C70E1C6-CE26-4396-84D7-57CE3F5CE548}"/>
              </a:ext>
            </a:extLst>
          </p:cNvPr>
          <p:cNvSpPr txBox="1"/>
          <p:nvPr/>
        </p:nvSpPr>
        <p:spPr>
          <a:xfrm>
            <a:off x="3246619" y="1070061"/>
            <a:ext cx="2133600" cy="738664"/>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AquaSmart</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85278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p:cTn id="7" dur="500" fill="hold"/>
                                        <p:tgtEl>
                                          <p:spTgt spid="40"/>
                                        </p:tgtEl>
                                        <p:attrNameLst>
                                          <p:attrName>ppt_w</p:attrName>
                                        </p:attrNameLst>
                                      </p:cBhvr>
                                      <p:tavLst>
                                        <p:tav tm="0">
                                          <p:val>
                                            <p:fltVal val="0"/>
                                          </p:val>
                                        </p:tav>
                                        <p:tav tm="100000">
                                          <p:val>
                                            <p:strVal val="#ppt_w"/>
                                          </p:val>
                                        </p:tav>
                                      </p:tavLst>
                                    </p:anim>
                                    <p:anim calcmode="lin" valueType="num">
                                      <p:cBhvr>
                                        <p:cTn id="8" dur="500" fill="hold"/>
                                        <p:tgtEl>
                                          <p:spTgt spid="40"/>
                                        </p:tgtEl>
                                        <p:attrNameLst>
                                          <p:attrName>ppt_h</p:attrName>
                                        </p:attrNameLst>
                                      </p:cBhvr>
                                      <p:tavLst>
                                        <p:tav tm="0">
                                          <p:val>
                                            <p:fltVal val="0"/>
                                          </p:val>
                                        </p:tav>
                                        <p:tav tm="100000">
                                          <p:val>
                                            <p:strVal val="#ppt_h"/>
                                          </p:val>
                                        </p:tav>
                                      </p:tavLst>
                                    </p:anim>
                                    <p:anim calcmode="lin" valueType="num">
                                      <p:cBhvr>
                                        <p:cTn id="9" dur="500" fill="hold"/>
                                        <p:tgtEl>
                                          <p:spTgt spid="40"/>
                                        </p:tgtEl>
                                        <p:attrNameLst>
                                          <p:attrName>style.rotation</p:attrName>
                                        </p:attrNameLst>
                                      </p:cBhvr>
                                      <p:tavLst>
                                        <p:tav tm="0">
                                          <p:val>
                                            <p:fltVal val="360"/>
                                          </p:val>
                                        </p:tav>
                                        <p:tav tm="100000">
                                          <p:val>
                                            <p:fltVal val="0"/>
                                          </p:val>
                                        </p:tav>
                                      </p:tavLst>
                                    </p:anim>
                                    <p:animEffect transition="in" filter="fade">
                                      <p:cBhvr>
                                        <p:cTn id="10"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346109247"/>
              </p:ext>
            </p:extLst>
          </p:nvPr>
        </p:nvGraphicFramePr>
        <p:xfrm>
          <a:off x="609599" y="1791547"/>
          <a:ext cx="15531787" cy="6134220"/>
        </p:xfrm>
        <a:graphic>
          <a:graphicData uri="http://schemas.openxmlformats.org/drawingml/2006/table">
            <a:tbl>
              <a:tblPr firstRow="1" bandRow="1">
                <a:tableStyleId>{2D5ABB26-0587-4C30-8999-92F81FD0307C}</a:tableStyleId>
              </a:tblPr>
              <a:tblGrid>
                <a:gridCol w="5175802">
                  <a:extLst>
                    <a:ext uri="{9D8B030D-6E8A-4147-A177-3AD203B41FA5}">
                      <a16:colId xmlns:a16="http://schemas.microsoft.com/office/drawing/2014/main" val="20000"/>
                    </a:ext>
                  </a:extLst>
                </a:gridCol>
                <a:gridCol w="5175802">
                  <a:extLst>
                    <a:ext uri="{9D8B030D-6E8A-4147-A177-3AD203B41FA5}">
                      <a16:colId xmlns:a16="http://schemas.microsoft.com/office/drawing/2014/main" val="20001"/>
                    </a:ext>
                  </a:extLst>
                </a:gridCol>
                <a:gridCol w="5180183">
                  <a:extLst>
                    <a:ext uri="{9D8B030D-6E8A-4147-A177-3AD203B41FA5}">
                      <a16:colId xmlns:a16="http://schemas.microsoft.com/office/drawing/2014/main" val="20002"/>
                    </a:ext>
                  </a:extLst>
                </a:gridCol>
              </a:tblGrid>
              <a:tr h="2849424">
                <a:tc>
                  <a:txBody>
                    <a:bodyPr/>
                    <a:lstStyle/>
                    <a:p>
                      <a:pPr marL="85090">
                        <a:lnSpc>
                          <a:spcPct val="100000"/>
                        </a:lnSpc>
                        <a:spcBef>
                          <a:spcPts val="635"/>
                        </a:spcBef>
                      </a:pPr>
                      <a:r>
                        <a:rPr sz="1400" b="1" spc="-120" dirty="0">
                          <a:latin typeface="Verdana" panose="020B0604030504040204" pitchFamily="34" charset="0"/>
                          <a:ea typeface="Verdana" panose="020B0604030504040204" pitchFamily="34" charset="0"/>
                          <a:cs typeface="Open Sans" panose="020B0606030504020204" pitchFamily="34" charset="0"/>
                        </a:rPr>
                        <a:t>CONTEXT</a:t>
                      </a:r>
                      <a:endParaRPr sz="1400" dirty="0">
                        <a:latin typeface="Verdana" panose="020B0604030504040204" pitchFamily="34" charset="0"/>
                        <a:ea typeface="Verdana" panose="020B0604030504040204" pitchFamily="34" charset="0"/>
                        <a:cs typeface="Open Sans" panose="020B0606030504020204" pitchFamily="34" charset="0"/>
                      </a:endParaRPr>
                    </a:p>
                    <a:p>
                      <a:pPr marL="85090">
                        <a:lnSpc>
                          <a:spcPct val="100000"/>
                        </a:lnSpc>
                      </a:pPr>
                      <a:r>
                        <a:rPr sz="1400" spc="-70" dirty="0">
                          <a:latin typeface="Verdana" panose="020B0604030504040204" pitchFamily="34" charset="0"/>
                          <a:ea typeface="Verdana" panose="020B0604030504040204" pitchFamily="34" charset="0"/>
                          <a:cs typeface="Open Sans" panose="020B0606030504020204" pitchFamily="34" charset="0"/>
                        </a:rPr>
                        <a:t>When</a:t>
                      </a:r>
                      <a:r>
                        <a:rPr sz="1400" spc="-195" dirty="0">
                          <a:latin typeface="Verdana" panose="020B0604030504040204" pitchFamily="34" charset="0"/>
                          <a:ea typeface="Verdana" panose="020B0604030504040204" pitchFamily="34" charset="0"/>
                          <a:cs typeface="Open Sans" panose="020B0606030504020204" pitchFamily="34" charset="0"/>
                        </a:rPr>
                        <a:t> </a:t>
                      </a:r>
                      <a:r>
                        <a:rPr sz="1400" spc="-35" dirty="0">
                          <a:latin typeface="Verdana" panose="020B0604030504040204" pitchFamily="34" charset="0"/>
                          <a:ea typeface="Verdana" panose="020B0604030504040204" pitchFamily="34" charset="0"/>
                          <a:cs typeface="Open Sans" panose="020B0606030504020204" pitchFamily="34" charset="0"/>
                        </a:rPr>
                        <a:t>does</a:t>
                      </a:r>
                      <a:r>
                        <a:rPr lang="en-IN" sz="1400" spc="-35" dirty="0">
                          <a:latin typeface="Verdana" panose="020B0604030504040204" pitchFamily="34" charset="0"/>
                          <a:ea typeface="Verdana" panose="020B0604030504040204" pitchFamily="34" charset="0"/>
                          <a:cs typeface="Open Sans" panose="020B0606030504020204" pitchFamily="34" charset="0"/>
                        </a:rPr>
                        <a:t> </a:t>
                      </a:r>
                      <a:r>
                        <a:rPr sz="1400" spc="-35" dirty="0">
                          <a:latin typeface="Verdana" panose="020B0604030504040204" pitchFamily="34" charset="0"/>
                          <a:ea typeface="Verdana" panose="020B0604030504040204" pitchFamily="34" charset="0"/>
                          <a:cs typeface="Open Sans" panose="020B0606030504020204" pitchFamily="34" charset="0"/>
                        </a:rPr>
                        <a:t>the</a:t>
                      </a:r>
                      <a:r>
                        <a:rPr lang="en-IN" sz="1400" spc="-35" dirty="0">
                          <a:latin typeface="Verdana" panose="020B0604030504040204" pitchFamily="34" charset="0"/>
                          <a:ea typeface="Verdana" panose="020B0604030504040204" pitchFamily="34" charset="0"/>
                          <a:cs typeface="Open Sans" panose="020B0606030504020204" pitchFamily="34" charset="0"/>
                        </a:rPr>
                        <a:t> </a:t>
                      </a:r>
                      <a:r>
                        <a:rPr sz="1400" spc="-85" dirty="0">
                          <a:latin typeface="Verdana" panose="020B0604030504040204" pitchFamily="34" charset="0"/>
                          <a:ea typeface="Verdana" panose="020B0604030504040204" pitchFamily="34" charset="0"/>
                          <a:cs typeface="Open Sans" panose="020B0606030504020204" pitchFamily="34" charset="0"/>
                        </a:rPr>
                        <a:t>p</a:t>
                      </a:r>
                      <a:r>
                        <a:rPr sz="1400" spc="-95" dirty="0">
                          <a:latin typeface="Verdana" panose="020B0604030504040204" pitchFamily="34" charset="0"/>
                          <a:ea typeface="Verdana" panose="020B0604030504040204" pitchFamily="34" charset="0"/>
                          <a:cs typeface="Open Sans" panose="020B0606030504020204" pitchFamily="34" charset="0"/>
                        </a:rPr>
                        <a:t>r</a:t>
                      </a:r>
                      <a:r>
                        <a:rPr sz="1400" spc="-90" dirty="0">
                          <a:latin typeface="Verdana" panose="020B0604030504040204" pitchFamily="34" charset="0"/>
                          <a:ea typeface="Verdana" panose="020B0604030504040204" pitchFamily="34" charset="0"/>
                          <a:cs typeface="Open Sans" panose="020B0606030504020204" pitchFamily="34" charset="0"/>
                        </a:rPr>
                        <a:t>o</a:t>
                      </a:r>
                      <a:r>
                        <a:rPr sz="1400" spc="-85" dirty="0">
                          <a:latin typeface="Verdana" panose="020B0604030504040204" pitchFamily="34" charset="0"/>
                          <a:ea typeface="Verdana" panose="020B0604030504040204" pitchFamily="34" charset="0"/>
                          <a:cs typeface="Open Sans" panose="020B0606030504020204" pitchFamily="34" charset="0"/>
                        </a:rPr>
                        <a:t>b</a:t>
                      </a:r>
                      <a:r>
                        <a:rPr sz="1400" spc="-60" dirty="0">
                          <a:latin typeface="Verdana" panose="020B0604030504040204" pitchFamily="34" charset="0"/>
                          <a:ea typeface="Verdana" panose="020B0604030504040204" pitchFamily="34" charset="0"/>
                          <a:cs typeface="Open Sans" panose="020B0606030504020204" pitchFamily="34" charset="0"/>
                        </a:rPr>
                        <a:t>l</a:t>
                      </a:r>
                      <a:r>
                        <a:rPr sz="1400" spc="-95" dirty="0">
                          <a:latin typeface="Verdana" panose="020B0604030504040204" pitchFamily="34" charset="0"/>
                          <a:ea typeface="Verdana" panose="020B0604030504040204" pitchFamily="34" charset="0"/>
                          <a:cs typeface="Open Sans" panose="020B0606030504020204" pitchFamily="34" charset="0"/>
                        </a:rPr>
                        <a:t>e</a:t>
                      </a:r>
                      <a:r>
                        <a:rPr sz="1400" dirty="0">
                          <a:latin typeface="Verdana" panose="020B0604030504040204" pitchFamily="34" charset="0"/>
                          <a:ea typeface="Verdana" panose="020B0604030504040204" pitchFamily="34" charset="0"/>
                          <a:cs typeface="Open Sans" panose="020B0606030504020204" pitchFamily="34" charset="0"/>
                        </a:rPr>
                        <a:t>m</a:t>
                      </a:r>
                      <a:r>
                        <a:rPr sz="1400" spc="-254" dirty="0">
                          <a:latin typeface="Verdana" panose="020B0604030504040204" pitchFamily="34" charset="0"/>
                          <a:ea typeface="Verdana" panose="020B0604030504040204" pitchFamily="34" charset="0"/>
                          <a:cs typeface="Open Sans" panose="020B0606030504020204" pitchFamily="34" charset="0"/>
                        </a:rPr>
                        <a:t> </a:t>
                      </a:r>
                      <a:r>
                        <a:rPr sz="1400" spc="-70" dirty="0">
                          <a:latin typeface="Verdana" panose="020B0604030504040204" pitchFamily="34" charset="0"/>
                          <a:ea typeface="Verdana" panose="020B0604030504040204" pitchFamily="34" charset="0"/>
                          <a:cs typeface="Open Sans" panose="020B0606030504020204" pitchFamily="34" charset="0"/>
                        </a:rPr>
                        <a:t>o</a:t>
                      </a:r>
                      <a:r>
                        <a:rPr sz="1400" spc="-65" dirty="0">
                          <a:latin typeface="Verdana" panose="020B0604030504040204" pitchFamily="34" charset="0"/>
                          <a:ea typeface="Verdana" panose="020B0604030504040204" pitchFamily="34" charset="0"/>
                          <a:cs typeface="Open Sans" panose="020B0606030504020204" pitchFamily="34" charset="0"/>
                        </a:rPr>
                        <a:t>cc</a:t>
                      </a:r>
                      <a:r>
                        <a:rPr sz="1400" spc="-45" dirty="0">
                          <a:latin typeface="Verdana" panose="020B0604030504040204" pitchFamily="34" charset="0"/>
                          <a:ea typeface="Verdana" panose="020B0604030504040204" pitchFamily="34" charset="0"/>
                          <a:cs typeface="Open Sans" panose="020B0606030504020204" pitchFamily="34" charset="0"/>
                        </a:rPr>
                        <a:t>u</a:t>
                      </a:r>
                      <a:r>
                        <a:rPr sz="1400" spc="-55" dirty="0">
                          <a:latin typeface="Verdana" panose="020B0604030504040204" pitchFamily="34" charset="0"/>
                          <a:ea typeface="Verdana" panose="020B0604030504040204" pitchFamily="34" charset="0"/>
                          <a:cs typeface="Open Sans" panose="020B0606030504020204" pitchFamily="34" charset="0"/>
                        </a:rPr>
                        <a:t>r</a:t>
                      </a:r>
                      <a:r>
                        <a:rPr sz="1400" dirty="0">
                          <a:latin typeface="Verdana" panose="020B0604030504040204" pitchFamily="34" charset="0"/>
                          <a:ea typeface="Verdana" panose="020B0604030504040204" pitchFamily="34" charset="0"/>
                          <a:cs typeface="Open Sans" panose="020B0606030504020204" pitchFamily="34" charset="0"/>
                        </a:rPr>
                        <a:t>?</a:t>
                      </a:r>
                      <a:endParaRPr lang="en-US" sz="1400" dirty="0">
                        <a:latin typeface="Verdana" panose="020B0604030504040204" pitchFamily="34" charset="0"/>
                        <a:ea typeface="Verdana" panose="020B0604030504040204" pitchFamily="34" charset="0"/>
                        <a:cs typeface="Open Sans" panose="020B0606030504020204" pitchFamily="34" charset="0"/>
                      </a:endParaRPr>
                    </a:p>
                    <a:p>
                      <a:pPr marL="85090">
                        <a:lnSpc>
                          <a:spcPct val="100000"/>
                        </a:lnSpc>
                      </a:pPr>
                      <a:endParaRPr lang="en-US" sz="1400" dirty="0">
                        <a:latin typeface="Verdana" panose="020B0604030504040204" pitchFamily="34" charset="0"/>
                        <a:ea typeface="Verdana" panose="020B0604030504040204" pitchFamily="34" charset="0"/>
                        <a:cs typeface="Open Sans" panose="020B0606030504020204" pitchFamily="34" charset="0"/>
                      </a:endParaRPr>
                    </a:p>
                    <a:p>
                      <a:pPr marL="370840" indent="-285750">
                        <a:lnSpc>
                          <a:spcPct val="100000"/>
                        </a:lnSpc>
                        <a:buFont typeface="Arial" panose="020B0604020202020204" pitchFamily="34" charset="0"/>
                        <a:buChar char="•"/>
                      </a:pPr>
                      <a:r>
                        <a:rPr lang="en-US" sz="1400" dirty="0"/>
                        <a:t>Water wastage occurs during daily activities (bathing, washing, cleaning).</a:t>
                      </a:r>
                    </a:p>
                    <a:p>
                      <a:pPr marL="370840" indent="-285750">
                        <a:lnSpc>
                          <a:spcPct val="100000"/>
                        </a:lnSpc>
                        <a:buFont typeface="Arial" panose="020B0604020202020204" pitchFamily="34" charset="0"/>
                        <a:buChar char="•"/>
                      </a:pPr>
                      <a:r>
                        <a:rPr lang="en-US" sz="1400" dirty="0"/>
                        <a:t>Common in cases of running taps and tank overflows</a:t>
                      </a:r>
                    </a:p>
                    <a:p>
                      <a:pPr marL="370840" indent="-285750">
                        <a:lnSpc>
                          <a:spcPct val="100000"/>
                        </a:lnSpc>
                        <a:buFont typeface="Arial" panose="020B0604020202020204" pitchFamily="34" charset="0"/>
                        <a:buChar char="•"/>
                      </a:pPr>
                      <a:r>
                        <a:rPr lang="en-US" sz="1400" dirty="0"/>
                        <a:t>Leakage in pipelines causes continuous loss</a:t>
                      </a:r>
                    </a:p>
                    <a:p>
                      <a:pPr marL="370840" indent="-285750">
                        <a:lnSpc>
                          <a:spcPct val="100000"/>
                        </a:lnSpc>
                        <a:buFont typeface="Arial" panose="020B0604020202020204" pitchFamily="34" charset="0"/>
                        <a:buChar char="•"/>
                      </a:pPr>
                      <a:r>
                        <a:rPr lang="en-US" sz="1400" dirty="0"/>
                        <a:t>No real-time monitoring systems in most homes </a:t>
                      </a:r>
                    </a:p>
                    <a:p>
                      <a:pPr marL="370840" indent="-285750">
                        <a:lnSpc>
                          <a:spcPct val="100000"/>
                        </a:lnSpc>
                        <a:buFont typeface="Arial" panose="020B0604020202020204" pitchFamily="34" charset="0"/>
                        <a:buChar char="•"/>
                      </a:pPr>
                      <a:r>
                        <a:rPr lang="en-US" sz="1400" dirty="0"/>
                        <a:t>Users lack awareness of consumption levels.</a:t>
                      </a:r>
                    </a:p>
                    <a:p>
                      <a:pPr marL="370840" indent="-285750">
                        <a:lnSpc>
                          <a:spcPct val="100000"/>
                        </a:lnSpc>
                        <a:buFont typeface="Arial" panose="020B0604020202020204" pitchFamily="34" charset="0"/>
                        <a:buChar char="•"/>
                      </a:pPr>
                      <a:r>
                        <a:rPr lang="en-US" sz="1400" dirty="0"/>
                        <a:t>Occurs in both urban and rural households </a:t>
                      </a:r>
                    </a:p>
                    <a:p>
                      <a:pPr marL="37084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t>Problem is frequent and mostly unnoticed </a:t>
                      </a:r>
                    </a:p>
                    <a:p>
                      <a:pPr marL="85090" indent="0">
                        <a:lnSpc>
                          <a:spcPct val="100000"/>
                        </a:lnSpc>
                        <a:buFont typeface="Arial" panose="020B0604020202020204" pitchFamily="34" charset="0"/>
                        <a:buNone/>
                      </a:pPr>
                      <a:r>
                        <a:rPr lang="en-US" sz="1400" dirty="0"/>
                        <a:t> </a:t>
                      </a:r>
                      <a:endParaRPr lang="en-US" sz="1400" dirty="0">
                        <a:latin typeface="Verdana" panose="020B0604030504040204" pitchFamily="34" charset="0"/>
                        <a:ea typeface="Verdana" panose="020B0604030504040204" pitchFamily="34" charset="0"/>
                        <a:cs typeface="Open Sans" panose="020B0606030504020204" pitchFamily="34" charset="0"/>
                      </a:endParaRPr>
                    </a:p>
                  </a:txBody>
                  <a:tcPr marL="0" marR="0" marT="82683" marB="0">
                    <a:lnL w="9525">
                      <a:solidFill>
                        <a:srgbClr val="FBBD00"/>
                      </a:solidFill>
                      <a:prstDash val="solid"/>
                    </a:lnL>
                    <a:lnR w="12700">
                      <a:solidFill>
                        <a:srgbClr val="FBBD00"/>
                      </a:solidFill>
                      <a:prstDash val="solid"/>
                    </a:lnR>
                    <a:lnT w="9525">
                      <a:solidFill>
                        <a:srgbClr val="FBBD00"/>
                      </a:solidFill>
                      <a:prstDash val="solid"/>
                    </a:lnT>
                    <a:lnB w="9525">
                      <a:solidFill>
                        <a:srgbClr val="FBBD00"/>
                      </a:solidFill>
                      <a:prstDash val="solid"/>
                    </a:lnB>
                  </a:tcPr>
                </a:tc>
                <a:tc>
                  <a:txBody>
                    <a:bodyPr/>
                    <a:lstStyle/>
                    <a:p>
                      <a:pPr marL="84455">
                        <a:lnSpc>
                          <a:spcPct val="100000"/>
                        </a:lnSpc>
                        <a:spcBef>
                          <a:spcPts val="635"/>
                        </a:spcBef>
                      </a:pPr>
                      <a:r>
                        <a:rPr sz="1400" b="1" spc="-130" dirty="0">
                          <a:latin typeface="Verdana" panose="020B0604030504040204" pitchFamily="34" charset="0"/>
                          <a:ea typeface="Verdana" panose="020B0604030504040204" pitchFamily="34" charset="0"/>
                          <a:cs typeface="Open Sans" panose="020B0606030504020204" pitchFamily="34" charset="0"/>
                        </a:rPr>
                        <a:t>PROBLEM</a:t>
                      </a:r>
                      <a:endParaRPr sz="1400" dirty="0">
                        <a:latin typeface="Verdana" panose="020B0604030504040204" pitchFamily="34" charset="0"/>
                        <a:ea typeface="Verdana" panose="020B0604030504040204" pitchFamily="34" charset="0"/>
                        <a:cs typeface="Open Sans" panose="020B0606030504020204" pitchFamily="34" charset="0"/>
                      </a:endParaRPr>
                    </a:p>
                    <a:p>
                      <a:pPr marL="84455">
                        <a:lnSpc>
                          <a:spcPct val="100000"/>
                        </a:lnSpc>
                      </a:pPr>
                      <a:r>
                        <a:rPr sz="1400" spc="-30" dirty="0">
                          <a:latin typeface="Verdana" panose="020B0604030504040204" pitchFamily="34" charset="0"/>
                          <a:ea typeface="Verdana" panose="020B0604030504040204" pitchFamily="34" charset="0"/>
                          <a:cs typeface="Open Sans" panose="020B0606030504020204" pitchFamily="34" charset="0"/>
                        </a:rPr>
                        <a:t>What</a:t>
                      </a:r>
                      <a:r>
                        <a:rPr lang="en-IN" sz="1400" spc="-30" dirty="0">
                          <a:latin typeface="Verdana" panose="020B0604030504040204" pitchFamily="34" charset="0"/>
                          <a:ea typeface="Verdana" panose="020B0604030504040204" pitchFamily="34" charset="0"/>
                          <a:cs typeface="Open Sans" panose="020B0606030504020204" pitchFamily="34" charset="0"/>
                        </a:rPr>
                        <a:t> </a:t>
                      </a:r>
                      <a:r>
                        <a:rPr sz="1400" spc="-30" dirty="0">
                          <a:latin typeface="Verdana" panose="020B0604030504040204" pitchFamily="34" charset="0"/>
                          <a:ea typeface="Verdana" panose="020B0604030504040204" pitchFamily="34" charset="0"/>
                          <a:cs typeface="Open Sans" panose="020B0606030504020204" pitchFamily="34" charset="0"/>
                        </a:rPr>
                        <a:t>is</a:t>
                      </a:r>
                      <a:r>
                        <a:rPr lang="en-IN" sz="1400" spc="-30" dirty="0">
                          <a:latin typeface="Verdana" panose="020B0604030504040204" pitchFamily="34" charset="0"/>
                          <a:ea typeface="Verdana" panose="020B0604030504040204" pitchFamily="34" charset="0"/>
                          <a:cs typeface="Open Sans" panose="020B0606030504020204" pitchFamily="34" charset="0"/>
                        </a:rPr>
                        <a:t> </a:t>
                      </a:r>
                      <a:r>
                        <a:rPr sz="1400" spc="-30" dirty="0">
                          <a:latin typeface="Verdana" panose="020B0604030504040204" pitchFamily="34" charset="0"/>
                          <a:ea typeface="Verdana" panose="020B0604030504040204" pitchFamily="34" charset="0"/>
                          <a:cs typeface="Open Sans" panose="020B0606030504020204" pitchFamily="34" charset="0"/>
                        </a:rPr>
                        <a:t>the</a:t>
                      </a:r>
                      <a:r>
                        <a:rPr lang="en-IN" sz="1400" spc="-30" dirty="0">
                          <a:latin typeface="Verdana" panose="020B0604030504040204" pitchFamily="34" charset="0"/>
                          <a:ea typeface="Verdana" panose="020B0604030504040204" pitchFamily="34" charset="0"/>
                          <a:cs typeface="Open Sans" panose="020B0606030504020204" pitchFamily="34" charset="0"/>
                        </a:rPr>
                        <a:t> </a:t>
                      </a:r>
                      <a:r>
                        <a:rPr sz="1400" spc="-30" dirty="0">
                          <a:latin typeface="Verdana" panose="020B0604030504040204" pitchFamily="34" charset="0"/>
                          <a:ea typeface="Verdana" panose="020B0604030504040204" pitchFamily="34" charset="0"/>
                          <a:cs typeface="Open Sans" panose="020B0606030504020204" pitchFamily="34" charset="0"/>
                        </a:rPr>
                        <a:t>root </a:t>
                      </a:r>
                      <a:r>
                        <a:rPr sz="1400" spc="-55" dirty="0">
                          <a:latin typeface="Verdana" panose="020B0604030504040204" pitchFamily="34" charset="0"/>
                          <a:ea typeface="Verdana" panose="020B0604030504040204" pitchFamily="34" charset="0"/>
                          <a:cs typeface="Open Sans" panose="020B0606030504020204" pitchFamily="34" charset="0"/>
                        </a:rPr>
                        <a:t>cause</a:t>
                      </a:r>
                      <a:r>
                        <a:rPr sz="1400" spc="45" dirty="0">
                          <a:latin typeface="Verdana" panose="020B0604030504040204" pitchFamily="34" charset="0"/>
                          <a:ea typeface="Verdana" panose="020B0604030504040204" pitchFamily="34" charset="0"/>
                          <a:cs typeface="Open Sans" panose="020B0606030504020204" pitchFamily="34" charset="0"/>
                        </a:rPr>
                        <a:t> </a:t>
                      </a:r>
                      <a:r>
                        <a:rPr sz="1400" spc="-35" dirty="0">
                          <a:latin typeface="Verdana" panose="020B0604030504040204" pitchFamily="34" charset="0"/>
                          <a:ea typeface="Verdana" panose="020B0604030504040204" pitchFamily="34" charset="0"/>
                          <a:cs typeface="Open Sans" panose="020B0606030504020204" pitchFamily="34" charset="0"/>
                        </a:rPr>
                        <a:t>of</a:t>
                      </a:r>
                      <a:r>
                        <a:rPr lang="en-IN" sz="1400" spc="0" dirty="0">
                          <a:latin typeface="Verdana" panose="020B0604030504040204" pitchFamily="34" charset="0"/>
                          <a:ea typeface="Verdana" panose="020B0604030504040204" pitchFamily="34" charset="0"/>
                          <a:cs typeface="Open Sans" panose="020B0606030504020204" pitchFamily="34" charset="0"/>
                        </a:rPr>
                        <a:t> t</a:t>
                      </a:r>
                      <a:r>
                        <a:rPr sz="1400" spc="-70" dirty="0">
                          <a:latin typeface="Verdana" panose="020B0604030504040204" pitchFamily="34" charset="0"/>
                          <a:ea typeface="Verdana" panose="020B0604030504040204" pitchFamily="34" charset="0"/>
                          <a:cs typeface="Open Sans" panose="020B0606030504020204" pitchFamily="34" charset="0"/>
                        </a:rPr>
                        <a:t>he</a:t>
                      </a:r>
                      <a:r>
                        <a:rPr lang="en-IN" sz="1400" spc="-70" dirty="0">
                          <a:latin typeface="Verdana" panose="020B0604030504040204" pitchFamily="34" charset="0"/>
                          <a:ea typeface="Verdana" panose="020B0604030504040204" pitchFamily="34" charset="0"/>
                          <a:cs typeface="Open Sans" panose="020B0606030504020204" pitchFamily="34" charset="0"/>
                        </a:rPr>
                        <a:t> problem</a:t>
                      </a:r>
                      <a:r>
                        <a:rPr sz="1400" spc="-70" dirty="0">
                          <a:latin typeface="Verdana" panose="020B0604030504040204" pitchFamily="34" charset="0"/>
                          <a:ea typeface="Verdana" panose="020B0604030504040204" pitchFamily="34" charset="0"/>
                          <a:cs typeface="Open Sans" panose="020B0606030504020204" pitchFamily="34" charset="0"/>
                        </a:rPr>
                        <a:t>?</a:t>
                      </a:r>
                      <a:endParaRPr lang="en-US" sz="1400" spc="-70" dirty="0">
                        <a:latin typeface="Verdana" panose="020B0604030504040204" pitchFamily="34" charset="0"/>
                        <a:ea typeface="Verdana" panose="020B0604030504040204" pitchFamily="34" charset="0"/>
                        <a:cs typeface="Open Sans" panose="020B0606030504020204" pitchFamily="34" charset="0"/>
                      </a:endParaRPr>
                    </a:p>
                    <a:p>
                      <a:pPr marL="84455">
                        <a:lnSpc>
                          <a:spcPct val="100000"/>
                        </a:lnSpc>
                      </a:pPr>
                      <a:endParaRPr lang="en-US" sz="1400" spc="-70" dirty="0">
                        <a:latin typeface="Verdana" panose="020B0604030504040204" pitchFamily="34" charset="0"/>
                        <a:ea typeface="Verdana" panose="020B0604030504040204" pitchFamily="34" charset="0"/>
                        <a:cs typeface="Open Sans" panose="020B0606030504020204" pitchFamily="34" charset="0"/>
                      </a:endParaRPr>
                    </a:p>
                    <a:p>
                      <a:pPr marL="370205" indent="-285750">
                        <a:lnSpc>
                          <a:spcPct val="100000"/>
                        </a:lnSpc>
                        <a:buFont typeface="Arial" panose="020B0604020202020204" pitchFamily="34" charset="0"/>
                        <a:buChar char="•"/>
                      </a:pPr>
                      <a:r>
                        <a:rPr lang="en-US" sz="1400" dirty="0"/>
                        <a:t>Absence of water usage monitoring systems .</a:t>
                      </a:r>
                    </a:p>
                    <a:p>
                      <a:pPr marL="370205" indent="-285750">
                        <a:lnSpc>
                          <a:spcPct val="100000"/>
                        </a:lnSpc>
                        <a:buFont typeface="Arial" panose="020B0604020202020204" pitchFamily="34" charset="0"/>
                        <a:buChar char="•"/>
                      </a:pPr>
                      <a:r>
                        <a:rPr lang="en-US" sz="1400" dirty="0"/>
                        <a:t>No real-time alerts for overuse or leakage .</a:t>
                      </a:r>
                    </a:p>
                    <a:p>
                      <a:pPr marL="370205" indent="-285750">
                        <a:lnSpc>
                          <a:spcPct val="100000"/>
                        </a:lnSpc>
                        <a:buFont typeface="Arial" panose="020B0604020202020204" pitchFamily="34" charset="0"/>
                        <a:buChar char="•"/>
                      </a:pPr>
                      <a:r>
                        <a:rPr lang="en-US" sz="1400" dirty="0"/>
                        <a:t>Human negligence (forgetting to close taps).</a:t>
                      </a:r>
                    </a:p>
                    <a:p>
                      <a:pPr marL="370205" indent="-285750">
                        <a:lnSpc>
                          <a:spcPct val="100000"/>
                        </a:lnSpc>
                        <a:buFont typeface="Arial" panose="020B0604020202020204" pitchFamily="34" charset="0"/>
                        <a:buChar char="•"/>
                      </a:pPr>
                      <a:r>
                        <a:rPr lang="en-US" sz="1400" dirty="0"/>
                        <a:t>Faulty plumbing increases wastage </a:t>
                      </a:r>
                    </a:p>
                    <a:p>
                      <a:pPr marL="370205" indent="-285750">
                        <a:lnSpc>
                          <a:spcPct val="100000"/>
                        </a:lnSpc>
                        <a:buFont typeface="Arial" panose="020B0604020202020204" pitchFamily="34" charset="0"/>
                        <a:buChar char="•"/>
                      </a:pPr>
                      <a:r>
                        <a:rPr lang="en-US" sz="1400" dirty="0"/>
                        <a:t>Lack of data-driven decision making </a:t>
                      </a:r>
                    </a:p>
                    <a:p>
                      <a:pPr marL="370205" indent="-285750">
                        <a:lnSpc>
                          <a:spcPct val="100000"/>
                        </a:lnSpc>
                        <a:buFont typeface="Arial" panose="020B0604020202020204" pitchFamily="34" charset="0"/>
                        <a:buChar char="•"/>
                      </a:pPr>
                      <a:r>
                        <a:rPr lang="en-US" sz="1400" dirty="0"/>
                        <a:t>No automation in existing systems </a:t>
                      </a:r>
                    </a:p>
                    <a:p>
                      <a:pPr marL="370205"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t>Results in resource depletion and cost increase </a:t>
                      </a:r>
                    </a:p>
                    <a:p>
                      <a:pPr marL="84455" indent="0">
                        <a:lnSpc>
                          <a:spcPct val="100000"/>
                        </a:lnSpc>
                        <a:buFont typeface="Arial" panose="020B0604020202020204" pitchFamily="34" charset="0"/>
                        <a:buNone/>
                      </a:pPr>
                      <a:endParaRPr sz="1400" dirty="0">
                        <a:latin typeface="Verdana" panose="020B0604030504040204" pitchFamily="34" charset="0"/>
                        <a:ea typeface="Verdana" panose="020B0604030504040204" pitchFamily="34" charset="0"/>
                        <a:cs typeface="Open Sans" panose="020B0606030504020204" pitchFamily="34" charset="0"/>
                      </a:endParaRPr>
                    </a:p>
                  </a:txBody>
                  <a:tcPr marL="0" marR="0" marT="82683" marB="0">
                    <a:lnL w="12700">
                      <a:solidFill>
                        <a:srgbClr val="FBBD00"/>
                      </a:solidFill>
                      <a:prstDash val="solid"/>
                    </a:lnL>
                    <a:lnR w="9525">
                      <a:solidFill>
                        <a:srgbClr val="FBBD00"/>
                      </a:solidFill>
                      <a:prstDash val="solid"/>
                    </a:lnR>
                    <a:lnT w="9525">
                      <a:solidFill>
                        <a:srgbClr val="FBBD00"/>
                      </a:solidFill>
                      <a:prstDash val="solid"/>
                    </a:lnT>
                    <a:lnB w="9525">
                      <a:solidFill>
                        <a:srgbClr val="FBBD00"/>
                      </a:solidFill>
                      <a:prstDash val="solid"/>
                    </a:lnB>
                  </a:tcPr>
                </a:tc>
                <a:tc>
                  <a:txBody>
                    <a:bodyPr/>
                    <a:lstStyle/>
                    <a:p>
                      <a:pPr marL="85725">
                        <a:lnSpc>
                          <a:spcPct val="100000"/>
                        </a:lnSpc>
                        <a:spcBef>
                          <a:spcPts val="635"/>
                        </a:spcBef>
                      </a:pPr>
                      <a:r>
                        <a:rPr sz="1400" b="1" spc="-135" dirty="0">
                          <a:latin typeface="Verdana" panose="020B0604030504040204" pitchFamily="34" charset="0"/>
                          <a:ea typeface="Verdana" panose="020B0604030504040204" pitchFamily="34" charset="0"/>
                          <a:cs typeface="Open Sans" panose="020B0606030504020204" pitchFamily="34" charset="0"/>
                        </a:rPr>
                        <a:t>ALTERNATIVES</a:t>
                      </a:r>
                      <a:endParaRPr sz="1400" dirty="0">
                        <a:latin typeface="Verdana" panose="020B0604030504040204" pitchFamily="34" charset="0"/>
                        <a:ea typeface="Verdana" panose="020B0604030504040204" pitchFamily="34" charset="0"/>
                        <a:cs typeface="Open Sans" panose="020B0606030504020204" pitchFamily="34" charset="0"/>
                      </a:endParaRPr>
                    </a:p>
                    <a:p>
                      <a:pPr marL="85725">
                        <a:lnSpc>
                          <a:spcPct val="100000"/>
                        </a:lnSpc>
                      </a:pPr>
                      <a:r>
                        <a:rPr sz="1400" spc="-45" dirty="0">
                          <a:latin typeface="Verdana" panose="020B0604030504040204" pitchFamily="34" charset="0"/>
                          <a:ea typeface="Verdana" panose="020B0604030504040204" pitchFamily="34" charset="0"/>
                          <a:cs typeface="Open Sans" panose="020B0606030504020204" pitchFamily="34" charset="0"/>
                        </a:rPr>
                        <a:t>What</a:t>
                      </a:r>
                      <a:r>
                        <a:rPr lang="en-IN" sz="1400" spc="-45" dirty="0">
                          <a:latin typeface="Verdana" panose="020B0604030504040204" pitchFamily="34" charset="0"/>
                          <a:ea typeface="Verdana" panose="020B0604030504040204" pitchFamily="34" charset="0"/>
                          <a:cs typeface="Open Sans" panose="020B0606030504020204" pitchFamily="34" charset="0"/>
                        </a:rPr>
                        <a:t> </a:t>
                      </a:r>
                      <a:r>
                        <a:rPr sz="1400" spc="-45" dirty="0">
                          <a:latin typeface="Verdana" panose="020B0604030504040204" pitchFamily="34" charset="0"/>
                          <a:ea typeface="Verdana" panose="020B0604030504040204" pitchFamily="34" charset="0"/>
                          <a:cs typeface="Open Sans" panose="020B0606030504020204" pitchFamily="34" charset="0"/>
                        </a:rPr>
                        <a:t>do </a:t>
                      </a:r>
                      <a:r>
                        <a:rPr sz="1400" spc="-60" dirty="0">
                          <a:latin typeface="Verdana" panose="020B0604030504040204" pitchFamily="34" charset="0"/>
                          <a:ea typeface="Verdana" panose="020B0604030504040204" pitchFamily="34" charset="0"/>
                          <a:cs typeface="Open Sans" panose="020B0606030504020204" pitchFamily="34" charset="0"/>
                        </a:rPr>
                        <a:t>customers </a:t>
                      </a:r>
                      <a:r>
                        <a:rPr sz="1400" spc="-20" dirty="0">
                          <a:latin typeface="Verdana" panose="020B0604030504040204" pitchFamily="34" charset="0"/>
                          <a:ea typeface="Verdana" panose="020B0604030504040204" pitchFamily="34" charset="0"/>
                          <a:cs typeface="Open Sans" panose="020B0606030504020204" pitchFamily="34" charset="0"/>
                        </a:rPr>
                        <a:t>do</a:t>
                      </a:r>
                      <a:r>
                        <a:rPr lang="en-IN" sz="1400" spc="-20" dirty="0">
                          <a:latin typeface="Verdana" panose="020B0604030504040204" pitchFamily="34" charset="0"/>
                          <a:ea typeface="Verdana" panose="020B0604030504040204" pitchFamily="34" charset="0"/>
                          <a:cs typeface="Open Sans" panose="020B0606030504020204" pitchFamily="34" charset="0"/>
                        </a:rPr>
                        <a:t> </a:t>
                      </a:r>
                      <a:r>
                        <a:rPr sz="1400" spc="-20" dirty="0">
                          <a:latin typeface="Verdana" panose="020B0604030504040204" pitchFamily="34" charset="0"/>
                          <a:ea typeface="Verdana" panose="020B0604030504040204" pitchFamily="34" charset="0"/>
                          <a:cs typeface="Open Sans" panose="020B0606030504020204" pitchFamily="34" charset="0"/>
                        </a:rPr>
                        <a:t>now</a:t>
                      </a:r>
                      <a:r>
                        <a:rPr lang="en-IN" sz="1400" spc="-20" dirty="0">
                          <a:latin typeface="Verdana" panose="020B0604030504040204" pitchFamily="34" charset="0"/>
                          <a:ea typeface="Verdana" panose="020B0604030504040204" pitchFamily="34" charset="0"/>
                          <a:cs typeface="Open Sans" panose="020B0606030504020204" pitchFamily="34" charset="0"/>
                        </a:rPr>
                        <a:t> </a:t>
                      </a:r>
                      <a:r>
                        <a:rPr sz="1400" spc="-20" dirty="0">
                          <a:latin typeface="Verdana" panose="020B0604030504040204" pitchFamily="34" charset="0"/>
                          <a:ea typeface="Verdana" panose="020B0604030504040204" pitchFamily="34" charset="0"/>
                          <a:cs typeface="Open Sans" panose="020B0606030504020204" pitchFamily="34" charset="0"/>
                        </a:rPr>
                        <a:t>to</a:t>
                      </a:r>
                      <a:r>
                        <a:rPr sz="1400" spc="-150" dirty="0">
                          <a:latin typeface="Verdana" panose="020B0604030504040204" pitchFamily="34" charset="0"/>
                          <a:ea typeface="Verdana" panose="020B0604030504040204" pitchFamily="34" charset="0"/>
                          <a:cs typeface="Open Sans" panose="020B0606030504020204" pitchFamily="34" charset="0"/>
                        </a:rPr>
                        <a:t> </a:t>
                      </a:r>
                      <a:r>
                        <a:rPr sz="1400" spc="-20" dirty="0">
                          <a:latin typeface="Verdana" panose="020B0604030504040204" pitchFamily="34" charset="0"/>
                          <a:ea typeface="Verdana" panose="020B0604030504040204" pitchFamily="34" charset="0"/>
                          <a:cs typeface="Open Sans" panose="020B0606030504020204" pitchFamily="34" charset="0"/>
                        </a:rPr>
                        <a:t>ﬁx</a:t>
                      </a:r>
                      <a:r>
                        <a:rPr lang="en-IN" sz="1400" spc="-20" dirty="0">
                          <a:latin typeface="Verdana" panose="020B0604030504040204" pitchFamily="34" charset="0"/>
                          <a:ea typeface="Verdana" panose="020B0604030504040204" pitchFamily="34" charset="0"/>
                          <a:cs typeface="Open Sans" panose="020B0606030504020204" pitchFamily="34" charset="0"/>
                        </a:rPr>
                        <a:t> </a:t>
                      </a:r>
                      <a:r>
                        <a:rPr sz="1400" spc="-60" dirty="0">
                          <a:latin typeface="Verdana" panose="020B0604030504040204" pitchFamily="34" charset="0"/>
                          <a:ea typeface="Verdana" panose="020B0604030504040204" pitchFamily="34" charset="0"/>
                          <a:cs typeface="Open Sans" panose="020B0606030504020204" pitchFamily="34" charset="0"/>
                        </a:rPr>
                        <a:t>the</a:t>
                      </a:r>
                      <a:r>
                        <a:rPr lang="en-IN" sz="1400" spc="-60" dirty="0">
                          <a:latin typeface="Verdana" panose="020B0604030504040204" pitchFamily="34" charset="0"/>
                          <a:ea typeface="Verdana" panose="020B0604030504040204" pitchFamily="34" charset="0"/>
                          <a:cs typeface="Open Sans" panose="020B0606030504020204" pitchFamily="34" charset="0"/>
                        </a:rPr>
                        <a:t> </a:t>
                      </a:r>
                      <a:r>
                        <a:rPr sz="1400" spc="-60" dirty="0">
                          <a:latin typeface="Verdana" panose="020B0604030504040204" pitchFamily="34" charset="0"/>
                          <a:ea typeface="Verdana" panose="020B0604030504040204" pitchFamily="34" charset="0"/>
                          <a:cs typeface="Open Sans" panose="020B0606030504020204" pitchFamily="34" charset="0"/>
                        </a:rPr>
                        <a:t>problem?</a:t>
                      </a:r>
                      <a:endParaRPr lang="en-US" sz="1400" spc="-60" dirty="0">
                        <a:latin typeface="Verdana" panose="020B0604030504040204" pitchFamily="34" charset="0"/>
                        <a:ea typeface="Verdana" panose="020B0604030504040204" pitchFamily="34" charset="0"/>
                        <a:cs typeface="Open Sans" panose="020B0606030504020204" pitchFamily="34" charset="0"/>
                      </a:endParaRPr>
                    </a:p>
                    <a:p>
                      <a:pPr marL="85725">
                        <a:lnSpc>
                          <a:spcPct val="100000"/>
                        </a:lnSpc>
                      </a:pPr>
                      <a:endParaRPr lang="en-US" sz="1400" spc="-60" dirty="0">
                        <a:latin typeface="Verdana" panose="020B0604030504040204" pitchFamily="34" charset="0"/>
                        <a:ea typeface="Verdana" panose="020B0604030504040204" pitchFamily="34" charset="0"/>
                        <a:cs typeface="Open Sans" panose="020B0606030504020204" pitchFamily="34" charset="0"/>
                      </a:endParaRPr>
                    </a:p>
                    <a:p>
                      <a:pPr marL="371475" indent="-285750">
                        <a:lnSpc>
                          <a:spcPct val="100000"/>
                        </a:lnSpc>
                        <a:buFont typeface="Arial" panose="020B0604020202020204" pitchFamily="34" charset="0"/>
                        <a:buChar char="•"/>
                      </a:pPr>
                      <a:r>
                        <a:rPr lang="en-US" sz="1400" dirty="0"/>
                        <a:t>Manual control of water usage (closing taps after use) </a:t>
                      </a:r>
                    </a:p>
                    <a:p>
                      <a:pPr marL="371475" indent="-285750">
                        <a:lnSpc>
                          <a:spcPct val="100000"/>
                        </a:lnSpc>
                        <a:buFont typeface="Arial" panose="020B0604020202020204" pitchFamily="34" charset="0"/>
                        <a:buChar char="•"/>
                      </a:pPr>
                      <a:r>
                        <a:rPr lang="en-US" sz="1400" dirty="0"/>
                        <a:t>Float valve systems to prevent tank overflow </a:t>
                      </a:r>
                    </a:p>
                    <a:p>
                      <a:pPr marL="371475" indent="-285750">
                        <a:lnSpc>
                          <a:spcPct val="100000"/>
                        </a:lnSpc>
                        <a:buFont typeface="Arial" panose="020B0604020202020204" pitchFamily="34" charset="0"/>
                        <a:buChar char="•"/>
                      </a:pPr>
                      <a:r>
                        <a:rPr lang="en-US" sz="1400" dirty="0"/>
                        <a:t>Periodic plumbing checks for leak detection </a:t>
                      </a:r>
                    </a:p>
                    <a:p>
                      <a:pPr marL="371475" indent="-285750">
                        <a:lnSpc>
                          <a:spcPct val="100000"/>
                        </a:lnSpc>
                        <a:buFont typeface="Arial" panose="020B0604020202020204" pitchFamily="34" charset="0"/>
                        <a:buChar char="•"/>
                      </a:pPr>
                      <a:r>
                        <a:rPr lang="en-US" sz="1400" dirty="0"/>
                        <a:t>Use of basic timers for water usage control </a:t>
                      </a:r>
                    </a:p>
                    <a:p>
                      <a:pPr marL="371475" indent="-285750">
                        <a:lnSpc>
                          <a:spcPct val="100000"/>
                        </a:lnSpc>
                        <a:buFont typeface="Arial" panose="020B0604020202020204" pitchFamily="34" charset="0"/>
                        <a:buChar char="•"/>
                      </a:pPr>
                      <a:r>
                        <a:rPr lang="en-US" sz="1400" dirty="0"/>
                        <a:t>Awareness campaigns promoting water conservation </a:t>
                      </a:r>
                    </a:p>
                    <a:p>
                      <a:pPr marL="371475" indent="-285750">
                        <a:lnSpc>
                          <a:spcPct val="100000"/>
                        </a:lnSpc>
                        <a:buFont typeface="Arial" panose="020B0604020202020204" pitchFamily="34" charset="0"/>
                        <a:buChar char="•"/>
                      </a:pPr>
                      <a:r>
                        <a:rPr lang="en-US" sz="1400" dirty="0"/>
                        <a:t>Visual monitoring of tanks and pipelines </a:t>
                      </a:r>
                    </a:p>
                    <a:p>
                      <a:pPr marL="371475"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t>Simple mechanical regulators in some systems </a:t>
                      </a:r>
                    </a:p>
                    <a:p>
                      <a:pPr marL="371475" indent="-285750">
                        <a:lnSpc>
                          <a:spcPct val="100000"/>
                        </a:lnSpc>
                        <a:buFont typeface="Arial" panose="020B0604020202020204" pitchFamily="34" charset="0"/>
                        <a:buChar char="•"/>
                      </a:pPr>
                      <a:endParaRPr sz="1400" dirty="0">
                        <a:latin typeface="Verdana" panose="020B0604030504040204" pitchFamily="34" charset="0"/>
                        <a:ea typeface="Verdana" panose="020B0604030504040204" pitchFamily="34" charset="0"/>
                        <a:cs typeface="Open Sans" panose="020B0606030504020204" pitchFamily="34" charset="0"/>
                      </a:endParaRPr>
                    </a:p>
                  </a:txBody>
                  <a:tcPr marL="0" marR="0" marT="82683" marB="0">
                    <a:lnL w="9525">
                      <a:solidFill>
                        <a:srgbClr val="FBBD00"/>
                      </a:solidFill>
                      <a:prstDash val="solid"/>
                    </a:lnL>
                    <a:lnR w="9525">
                      <a:solidFill>
                        <a:srgbClr val="FBBD00"/>
                      </a:solidFill>
                      <a:prstDash val="solid"/>
                    </a:lnR>
                    <a:lnT w="9525">
                      <a:solidFill>
                        <a:srgbClr val="FBBD00"/>
                      </a:solidFill>
                      <a:prstDash val="solid"/>
                    </a:lnT>
                    <a:lnB w="9525">
                      <a:solidFill>
                        <a:srgbClr val="FBBD00"/>
                      </a:solidFill>
                      <a:prstDash val="solid"/>
                    </a:lnB>
                  </a:tcPr>
                </a:tc>
                <a:extLst>
                  <a:ext uri="{0D108BD9-81ED-4DB2-BD59-A6C34878D82A}">
                    <a16:rowId xmlns:a16="http://schemas.microsoft.com/office/drawing/2014/main" val="10000"/>
                  </a:ext>
                </a:extLst>
              </a:tr>
              <a:tr h="889931">
                <a:tc rowSpan="2">
                  <a:txBody>
                    <a:bodyPr/>
                    <a:lstStyle/>
                    <a:p>
                      <a:pPr marL="85090">
                        <a:lnSpc>
                          <a:spcPct val="100000"/>
                        </a:lnSpc>
                        <a:spcBef>
                          <a:spcPts val="640"/>
                        </a:spcBef>
                      </a:pP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CUSTOMERS</a:t>
                      </a:r>
                    </a:p>
                    <a:p>
                      <a:pPr marL="85090" marR="702310">
                        <a:lnSpc>
                          <a:spcPct val="100000"/>
                        </a:lnSpc>
                      </a:pPr>
                      <a:r>
                        <a:rPr sz="1400" spc="-40" dirty="0">
                          <a:latin typeface="Verdana" panose="020B0604030504040204" pitchFamily="34" charset="0"/>
                          <a:ea typeface="Verdana" panose="020B0604030504040204" pitchFamily="34" charset="0"/>
                          <a:cs typeface="Open Sans" panose="020B0606030504020204" pitchFamily="34" charset="0"/>
                        </a:rPr>
                        <a:t>Who</a:t>
                      </a:r>
                      <a:r>
                        <a:rPr lang="en-IN" sz="1400" spc="-40" dirty="0">
                          <a:latin typeface="Verdana" panose="020B0604030504040204" pitchFamily="34" charset="0"/>
                          <a:ea typeface="Verdana" panose="020B0604030504040204" pitchFamily="34" charset="0"/>
                          <a:cs typeface="Open Sans" panose="020B0606030504020204" pitchFamily="34" charset="0"/>
                        </a:rPr>
                        <a:t> </a:t>
                      </a:r>
                      <a:r>
                        <a:rPr sz="1400" spc="-40" dirty="0">
                          <a:latin typeface="Verdana" panose="020B0604030504040204" pitchFamily="34" charset="0"/>
                          <a:ea typeface="Verdana" panose="020B0604030504040204" pitchFamily="34" charset="0"/>
                          <a:cs typeface="Open Sans" panose="020B0606030504020204" pitchFamily="34" charset="0"/>
                        </a:rPr>
                        <a:t>has</a:t>
                      </a:r>
                      <a:r>
                        <a:rPr lang="en-IN" sz="1400" spc="-40" dirty="0">
                          <a:latin typeface="Verdana" panose="020B0604030504040204" pitchFamily="34" charset="0"/>
                          <a:ea typeface="Verdana" panose="020B0604030504040204" pitchFamily="34" charset="0"/>
                          <a:cs typeface="Open Sans" panose="020B0606030504020204" pitchFamily="34" charset="0"/>
                        </a:rPr>
                        <a:t> </a:t>
                      </a:r>
                      <a:r>
                        <a:rPr sz="1400" spc="-40" dirty="0">
                          <a:latin typeface="Verdana" panose="020B0604030504040204" pitchFamily="34" charset="0"/>
                          <a:ea typeface="Verdana" panose="020B0604030504040204" pitchFamily="34" charset="0"/>
                          <a:cs typeface="Open Sans" panose="020B0606030504020204" pitchFamily="34" charset="0"/>
                        </a:rPr>
                        <a:t>the</a:t>
                      </a:r>
                      <a:r>
                        <a:rPr sz="1400" spc="-245" dirty="0">
                          <a:latin typeface="Verdana" panose="020B0604030504040204" pitchFamily="34" charset="0"/>
                          <a:ea typeface="Verdana" panose="020B0604030504040204" pitchFamily="34" charset="0"/>
                          <a:cs typeface="Open Sans" panose="020B0606030504020204" pitchFamily="34" charset="0"/>
                        </a:rPr>
                        <a:t> </a:t>
                      </a:r>
                      <a:r>
                        <a:rPr sz="1400" spc="-60" dirty="0">
                          <a:latin typeface="Verdana" panose="020B0604030504040204" pitchFamily="34" charset="0"/>
                          <a:ea typeface="Verdana" panose="020B0604030504040204" pitchFamily="34" charset="0"/>
                          <a:cs typeface="Open Sans" panose="020B0606030504020204" pitchFamily="34" charset="0"/>
                        </a:rPr>
                        <a:t>problem</a:t>
                      </a:r>
                      <a:r>
                        <a:rPr lang="en-IN" sz="1400" spc="-60" dirty="0">
                          <a:latin typeface="Verdana" panose="020B0604030504040204" pitchFamily="34" charset="0"/>
                          <a:ea typeface="Verdana" panose="020B0604030504040204" pitchFamily="34" charset="0"/>
                          <a:cs typeface="Open Sans" panose="020B0606030504020204" pitchFamily="34" charset="0"/>
                        </a:rPr>
                        <a:t> </a:t>
                      </a:r>
                      <a:r>
                        <a:rPr sz="1400" spc="-60" dirty="0">
                          <a:latin typeface="Verdana" panose="020B0604030504040204" pitchFamily="34" charset="0"/>
                          <a:ea typeface="Verdana" panose="020B0604030504040204" pitchFamily="34" charset="0"/>
                          <a:cs typeface="Open Sans" panose="020B0606030504020204" pitchFamily="34" charset="0"/>
                        </a:rPr>
                        <a:t>most </a:t>
                      </a:r>
                      <a:r>
                        <a:rPr sz="1400" spc="-55" dirty="0">
                          <a:latin typeface="Verdana" panose="020B0604030504040204" pitchFamily="34" charset="0"/>
                          <a:ea typeface="Verdana" panose="020B0604030504040204" pitchFamily="34" charset="0"/>
                          <a:cs typeface="Open Sans" panose="020B0606030504020204" pitchFamily="34" charset="0"/>
                        </a:rPr>
                        <a:t>often?</a:t>
                      </a:r>
                      <a:endParaRPr lang="en-US" sz="1400" spc="-55" dirty="0">
                        <a:latin typeface="Verdana" panose="020B0604030504040204" pitchFamily="34" charset="0"/>
                        <a:ea typeface="Verdana" panose="020B0604030504040204" pitchFamily="34" charset="0"/>
                        <a:cs typeface="Open Sans" panose="020B0606030504020204" pitchFamily="34" charset="0"/>
                      </a:endParaRPr>
                    </a:p>
                    <a:p>
                      <a:pPr marL="85090" marR="702310">
                        <a:lnSpc>
                          <a:spcPct val="100000"/>
                        </a:lnSpc>
                      </a:pPr>
                      <a:endParaRPr lang="en-US" sz="1400" spc="-55" dirty="0">
                        <a:latin typeface="Verdana" panose="020B0604030504040204" pitchFamily="34" charset="0"/>
                        <a:ea typeface="Verdana" panose="020B0604030504040204" pitchFamily="34" charset="0"/>
                        <a:cs typeface="Open Sans" panose="020B0606030504020204" pitchFamily="34" charset="0"/>
                      </a:endParaRPr>
                    </a:p>
                    <a:p>
                      <a:pPr marL="370840" marR="702310" indent="-285750">
                        <a:lnSpc>
                          <a:spcPct val="100000"/>
                        </a:lnSpc>
                        <a:buFont typeface="Arial" panose="020B0604020202020204" pitchFamily="34" charset="0"/>
                        <a:buChar char="•"/>
                      </a:pPr>
                      <a:r>
                        <a:rPr lang="en-US" sz="1400" dirty="0"/>
                        <a:t>Household users (urban and rural) </a:t>
                      </a:r>
                    </a:p>
                    <a:p>
                      <a:pPr marL="370840" marR="702310" indent="-285750">
                        <a:lnSpc>
                          <a:spcPct val="100000"/>
                        </a:lnSpc>
                        <a:buFont typeface="Arial" panose="020B0604020202020204" pitchFamily="34" charset="0"/>
                        <a:buChar char="•"/>
                      </a:pPr>
                      <a:r>
                        <a:rPr lang="en-US" sz="1400" dirty="0"/>
                        <a:t>Apartment residents with shared water systems </a:t>
                      </a:r>
                    </a:p>
                    <a:p>
                      <a:pPr marL="370840" marR="702310" indent="-285750">
                        <a:lnSpc>
                          <a:spcPct val="100000"/>
                        </a:lnSpc>
                        <a:buFont typeface="Arial" panose="020B0604020202020204" pitchFamily="34" charset="0"/>
                        <a:buChar char="•"/>
                      </a:pPr>
                      <a:r>
                        <a:rPr lang="en-US" sz="1400" dirty="0"/>
                        <a:t>Independent house owners </a:t>
                      </a:r>
                    </a:p>
                    <a:p>
                      <a:pPr marL="370840" marR="702310" indent="-285750">
                        <a:lnSpc>
                          <a:spcPct val="100000"/>
                        </a:lnSpc>
                        <a:buFont typeface="Arial" panose="020B0604020202020204" pitchFamily="34" charset="0"/>
                        <a:buChar char="•"/>
                      </a:pPr>
                      <a:r>
                        <a:rPr lang="en-US" sz="1400" dirty="0"/>
                        <a:t>Families, students, working professionals </a:t>
                      </a:r>
                    </a:p>
                    <a:p>
                      <a:pPr marL="370840" marR="702310" indent="-285750">
                        <a:lnSpc>
                          <a:spcPct val="100000"/>
                        </a:lnSpc>
                        <a:buFont typeface="Arial" panose="020B0604020202020204" pitchFamily="34" charset="0"/>
                        <a:buChar char="•"/>
                      </a:pPr>
                      <a:r>
                        <a:rPr lang="en-US" sz="1400" dirty="0"/>
                        <a:t>Property owners managing water bills </a:t>
                      </a:r>
                    </a:p>
                    <a:p>
                      <a:pPr marL="370840" marR="702310" indent="-285750">
                        <a:lnSpc>
                          <a:spcPct val="100000"/>
                        </a:lnSpc>
                        <a:buFont typeface="Arial" panose="020B0604020202020204" pitchFamily="34" charset="0"/>
                        <a:buChar char="•"/>
                      </a:pPr>
                      <a:r>
                        <a:rPr lang="en-US" sz="1400" dirty="0"/>
                        <a:t>Housing societies and small buildings </a:t>
                      </a:r>
                    </a:p>
                    <a:p>
                      <a:pPr marL="370840" marR="70231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t>Broad market: almost every household </a:t>
                      </a:r>
                    </a:p>
                    <a:p>
                      <a:pPr marL="370840" marR="702310" indent="-285750">
                        <a:lnSpc>
                          <a:spcPct val="100000"/>
                        </a:lnSpc>
                        <a:buFont typeface="Arial" panose="020B0604020202020204" pitchFamily="34" charset="0"/>
                        <a:buChar char="•"/>
                      </a:pPr>
                      <a:endParaRPr sz="1400" dirty="0">
                        <a:latin typeface="Verdana" panose="020B0604030504040204" pitchFamily="34" charset="0"/>
                        <a:ea typeface="Verdana" panose="020B0604030504040204" pitchFamily="34" charset="0"/>
                        <a:cs typeface="Open Sans" panose="020B0606030504020204" pitchFamily="34" charset="0"/>
                      </a:endParaRPr>
                    </a:p>
                  </a:txBody>
                  <a:tcPr marL="0" marR="0" marT="83334" marB="0">
                    <a:lnL w="9525">
                      <a:solidFill>
                        <a:srgbClr val="FBBD00"/>
                      </a:solidFill>
                      <a:prstDash val="solid"/>
                    </a:lnL>
                    <a:lnR w="12700">
                      <a:solidFill>
                        <a:srgbClr val="FBBD00"/>
                      </a:solidFill>
                      <a:prstDash val="solid"/>
                    </a:lnR>
                    <a:lnT w="9525">
                      <a:solidFill>
                        <a:srgbClr val="FBBD00"/>
                      </a:solidFill>
                      <a:prstDash val="solid"/>
                    </a:lnT>
                    <a:lnB w="9525">
                      <a:solidFill>
                        <a:srgbClr val="FBBD00"/>
                      </a:solidFill>
                      <a:prstDash val="solid"/>
                    </a:lnB>
                  </a:tcPr>
                </a:tc>
                <a:tc>
                  <a:txBody>
                    <a:bodyPr/>
                    <a:lstStyle/>
                    <a:p>
                      <a:pPr marL="84455">
                        <a:lnSpc>
                          <a:spcPct val="100000"/>
                        </a:lnSpc>
                        <a:spcBef>
                          <a:spcPts val="640"/>
                        </a:spcBef>
                      </a:pP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EMOTIONAL</a:t>
                      </a:r>
                      <a:r>
                        <a:rPr lang="en-IN" sz="1400" b="1" spc="-150" dirty="0">
                          <a:latin typeface="Verdana" panose="020B0604030504040204" pitchFamily="34" charset="0"/>
                          <a:ea typeface="Verdana" panose="020B0604030504040204" pitchFamily="34" charset="0"/>
                          <a:cs typeface="Open Sans" panose="020B0606030504020204" pitchFamily="34" charset="0"/>
                        </a:rPr>
                        <a:t> </a:t>
                      </a:r>
                      <a:r>
                        <a:rPr sz="1400" b="1" spc="-150" dirty="0">
                          <a:latin typeface="Verdana" panose="020B0604030504040204" pitchFamily="34" charset="0"/>
                          <a:ea typeface="Verdana" panose="020B0604030504040204" pitchFamily="34" charset="0"/>
                          <a:cs typeface="Open Sans" panose="020B0606030504020204" pitchFamily="34" charset="0"/>
                        </a:rPr>
                        <a:t>IMPACT</a:t>
                      </a:r>
                      <a:endParaRPr sz="1400" dirty="0">
                        <a:latin typeface="Verdana" panose="020B0604030504040204" pitchFamily="34" charset="0"/>
                        <a:ea typeface="Verdana" panose="020B0604030504040204" pitchFamily="34" charset="0"/>
                        <a:cs typeface="Open Sans" panose="020B0606030504020204" pitchFamily="34" charset="0"/>
                      </a:endParaRPr>
                    </a:p>
                    <a:p>
                      <a:pPr marL="84455">
                        <a:lnSpc>
                          <a:spcPct val="100000"/>
                        </a:lnSpc>
                      </a:pPr>
                      <a:r>
                        <a:rPr sz="1400" spc="-50" dirty="0">
                          <a:latin typeface="Verdana" panose="020B0604030504040204" pitchFamily="34" charset="0"/>
                          <a:ea typeface="Verdana" panose="020B0604030504040204" pitchFamily="34" charset="0"/>
                          <a:cs typeface="Open Sans" panose="020B0606030504020204" pitchFamily="34" charset="0"/>
                        </a:rPr>
                        <a:t>How</a:t>
                      </a:r>
                      <a:r>
                        <a:rPr lang="en-IN" sz="1400" spc="-50" dirty="0">
                          <a:latin typeface="Verdana" panose="020B0604030504040204" pitchFamily="34" charset="0"/>
                          <a:ea typeface="Verdana" panose="020B0604030504040204" pitchFamily="34" charset="0"/>
                          <a:cs typeface="Open Sans" panose="020B0606030504020204" pitchFamily="34" charset="0"/>
                        </a:rPr>
                        <a:t> </a:t>
                      </a:r>
                      <a:r>
                        <a:rPr sz="1400" spc="-50" dirty="0">
                          <a:latin typeface="Verdana" panose="020B0604030504040204" pitchFamily="34" charset="0"/>
                          <a:ea typeface="Verdana" panose="020B0604030504040204" pitchFamily="34" charset="0"/>
                          <a:cs typeface="Open Sans" panose="020B0606030504020204" pitchFamily="34" charset="0"/>
                        </a:rPr>
                        <a:t>does</a:t>
                      </a:r>
                      <a:r>
                        <a:rPr lang="en-IN" sz="1400" spc="-50" dirty="0">
                          <a:latin typeface="Verdana" panose="020B0604030504040204" pitchFamily="34" charset="0"/>
                          <a:ea typeface="Verdana" panose="020B0604030504040204" pitchFamily="34" charset="0"/>
                          <a:cs typeface="Open Sans" panose="020B0606030504020204" pitchFamily="34" charset="0"/>
                        </a:rPr>
                        <a:t> </a:t>
                      </a:r>
                      <a:r>
                        <a:rPr sz="1400" spc="-229" dirty="0">
                          <a:latin typeface="Verdana" panose="020B0604030504040204" pitchFamily="34" charset="0"/>
                          <a:ea typeface="Verdana" panose="020B0604030504040204" pitchFamily="34" charset="0"/>
                          <a:cs typeface="Open Sans" panose="020B0606030504020204" pitchFamily="34" charset="0"/>
                        </a:rPr>
                        <a:t> </a:t>
                      </a:r>
                      <a:r>
                        <a:rPr sz="1400" spc="-50" dirty="0">
                          <a:latin typeface="Verdana" panose="020B0604030504040204" pitchFamily="34" charset="0"/>
                          <a:ea typeface="Verdana" panose="020B0604030504040204" pitchFamily="34" charset="0"/>
                          <a:cs typeface="Open Sans" panose="020B0606030504020204" pitchFamily="34" charset="0"/>
                        </a:rPr>
                        <a:t>the</a:t>
                      </a:r>
                      <a:r>
                        <a:rPr lang="en-IN" sz="1400" spc="-50" dirty="0">
                          <a:latin typeface="Verdana" panose="020B0604030504040204" pitchFamily="34" charset="0"/>
                          <a:ea typeface="Verdana" panose="020B0604030504040204" pitchFamily="34" charset="0"/>
                          <a:cs typeface="Open Sans" panose="020B0606030504020204" pitchFamily="34" charset="0"/>
                        </a:rPr>
                        <a:t> </a:t>
                      </a:r>
                      <a:r>
                        <a:rPr sz="1400" spc="-50" dirty="0">
                          <a:latin typeface="Verdana" panose="020B0604030504040204" pitchFamily="34" charset="0"/>
                          <a:ea typeface="Verdana" panose="020B0604030504040204" pitchFamily="34" charset="0"/>
                          <a:cs typeface="Open Sans" panose="020B0606030504020204" pitchFamily="34" charset="0"/>
                        </a:rPr>
                        <a:t>customer</a:t>
                      </a:r>
                      <a:r>
                        <a:rPr sz="1400" spc="-215" dirty="0">
                          <a:latin typeface="Verdana" panose="020B0604030504040204" pitchFamily="34" charset="0"/>
                          <a:ea typeface="Verdana" panose="020B0604030504040204" pitchFamily="34" charset="0"/>
                          <a:cs typeface="Open Sans" panose="020B0606030504020204" pitchFamily="34" charset="0"/>
                        </a:rPr>
                        <a:t> </a:t>
                      </a:r>
                      <a:r>
                        <a:rPr lang="en-IN" sz="1400" spc="-215" dirty="0">
                          <a:latin typeface="Verdana" panose="020B0604030504040204" pitchFamily="34" charset="0"/>
                          <a:ea typeface="Verdana" panose="020B0604030504040204" pitchFamily="34" charset="0"/>
                          <a:cs typeface="Open Sans" panose="020B0606030504020204" pitchFamily="34" charset="0"/>
                        </a:rPr>
                        <a:t> </a:t>
                      </a:r>
                      <a:r>
                        <a:rPr sz="1400" spc="-55" dirty="0">
                          <a:latin typeface="Verdana" panose="020B0604030504040204" pitchFamily="34" charset="0"/>
                          <a:ea typeface="Verdana" panose="020B0604030504040204" pitchFamily="34" charset="0"/>
                          <a:cs typeface="Open Sans" panose="020B0606030504020204" pitchFamily="34" charset="0"/>
                        </a:rPr>
                        <a:t>feel?</a:t>
                      </a:r>
                      <a:endParaRPr lang="en-US" sz="1400" spc="-55" dirty="0">
                        <a:latin typeface="Verdana" panose="020B0604030504040204" pitchFamily="34" charset="0"/>
                        <a:ea typeface="Verdana" panose="020B0604030504040204" pitchFamily="34" charset="0"/>
                        <a:cs typeface="Open Sans" panose="020B0606030504020204" pitchFamily="34" charset="0"/>
                      </a:endParaRPr>
                    </a:p>
                    <a:p>
                      <a:pPr marL="370205" indent="-285750">
                        <a:lnSpc>
                          <a:spcPct val="100000"/>
                        </a:lnSpc>
                        <a:buFont typeface="Arial" panose="020B0604020202020204" pitchFamily="34" charset="0"/>
                        <a:buChar char="•"/>
                      </a:pPr>
                      <a:r>
                        <a:rPr lang="en-US" sz="1400" dirty="0"/>
                        <a:t>Guilt over wasting natural resources </a:t>
                      </a:r>
                    </a:p>
                    <a:p>
                      <a:pPr marL="370205" indent="-285750">
                        <a:lnSpc>
                          <a:spcPct val="100000"/>
                        </a:lnSpc>
                        <a:buFont typeface="Arial" panose="020B0604020202020204" pitchFamily="34" charset="0"/>
                        <a:buChar char="•"/>
                      </a:pPr>
                      <a:r>
                        <a:rPr lang="en-US" sz="1400" dirty="0"/>
                        <a:t>Stress due to high water bills </a:t>
                      </a:r>
                    </a:p>
                    <a:p>
                      <a:pPr marL="370205" indent="-285750">
                        <a:lnSpc>
                          <a:spcPct val="100000"/>
                        </a:lnSpc>
                        <a:buFont typeface="Arial" panose="020B0604020202020204" pitchFamily="34" charset="0"/>
                        <a:buChar char="•"/>
                      </a:pPr>
                      <a:r>
                        <a:rPr lang="en-US" sz="1400" dirty="0"/>
                        <a:t>Fear in water-scarce regions </a:t>
                      </a:r>
                      <a:endParaRPr lang="en-US" sz="1400" spc="-55" dirty="0">
                        <a:latin typeface="Verdana" panose="020B0604030504040204" pitchFamily="34" charset="0"/>
                        <a:ea typeface="Verdana" panose="020B0604030504040204" pitchFamily="34" charset="0"/>
                        <a:cs typeface="Open Sans" panose="020B0606030504020204" pitchFamily="34" charset="0"/>
                      </a:endParaRPr>
                    </a:p>
                  </a:txBody>
                  <a:tcPr marL="0" marR="0" marT="83334" marB="0">
                    <a:lnL w="12700">
                      <a:solidFill>
                        <a:srgbClr val="FBBD00"/>
                      </a:solidFill>
                      <a:prstDash val="solid"/>
                    </a:lnL>
                    <a:lnR w="9525">
                      <a:solidFill>
                        <a:srgbClr val="FBBD00"/>
                      </a:solidFill>
                      <a:prstDash val="solid"/>
                    </a:lnR>
                    <a:lnT w="9525">
                      <a:solidFill>
                        <a:srgbClr val="FBBD00"/>
                      </a:solidFill>
                      <a:prstDash val="solid"/>
                    </a:lnT>
                  </a:tcPr>
                </a:tc>
                <a:tc rowSpan="2">
                  <a:txBody>
                    <a:bodyPr/>
                    <a:lstStyle/>
                    <a:p>
                      <a:pPr marL="85725">
                        <a:lnSpc>
                          <a:spcPct val="100000"/>
                        </a:lnSpc>
                        <a:spcBef>
                          <a:spcPts val="640"/>
                        </a:spcBef>
                      </a:pP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ALTERNATIVE</a:t>
                      </a:r>
                      <a:r>
                        <a:rPr lang="en-IN" sz="1400" b="1" spc="-155" dirty="0">
                          <a:latin typeface="Verdana" panose="020B0604030504040204" pitchFamily="34" charset="0"/>
                          <a:ea typeface="Verdana" panose="020B0604030504040204" pitchFamily="34" charset="0"/>
                          <a:cs typeface="Open Sans" panose="020B0606030504020204" pitchFamily="34" charset="0"/>
                        </a:rPr>
                        <a:t> </a:t>
                      </a: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SHORTCOMINGS</a:t>
                      </a:r>
                    </a:p>
                    <a:p>
                      <a:pPr marL="85725" marR="247015">
                        <a:lnSpc>
                          <a:spcPct val="100000"/>
                        </a:lnSpc>
                      </a:pPr>
                      <a:r>
                        <a:rPr sz="1400" spc="-50" dirty="0">
                          <a:latin typeface="Verdana" panose="020B0604030504040204" pitchFamily="34" charset="0"/>
                          <a:ea typeface="Verdana" panose="020B0604030504040204" pitchFamily="34" charset="0"/>
                          <a:cs typeface="Open Sans" panose="020B0606030504020204" pitchFamily="34" charset="0"/>
                        </a:rPr>
                        <a:t>What</a:t>
                      </a:r>
                      <a:r>
                        <a:rPr lang="en-IN" sz="1400" spc="-50" dirty="0">
                          <a:latin typeface="Verdana" panose="020B0604030504040204" pitchFamily="34" charset="0"/>
                          <a:ea typeface="Verdana" panose="020B0604030504040204" pitchFamily="34" charset="0"/>
                          <a:cs typeface="Open Sans" panose="020B0606030504020204" pitchFamily="34" charset="0"/>
                        </a:rPr>
                        <a:t> </a:t>
                      </a:r>
                      <a:r>
                        <a:rPr sz="1400" spc="-50" dirty="0">
                          <a:latin typeface="Verdana" panose="020B0604030504040204" pitchFamily="34" charset="0"/>
                          <a:ea typeface="Verdana" panose="020B0604030504040204" pitchFamily="34" charset="0"/>
                          <a:cs typeface="Open Sans" panose="020B0606030504020204" pitchFamily="34" charset="0"/>
                        </a:rPr>
                        <a:t>are</a:t>
                      </a:r>
                      <a:r>
                        <a:rPr lang="en-IN" sz="1400" spc="-50" dirty="0">
                          <a:latin typeface="Verdana" panose="020B0604030504040204" pitchFamily="34" charset="0"/>
                          <a:ea typeface="Verdana" panose="020B0604030504040204" pitchFamily="34" charset="0"/>
                          <a:cs typeface="Open Sans" panose="020B0606030504020204" pitchFamily="34" charset="0"/>
                        </a:rPr>
                        <a:t> </a:t>
                      </a:r>
                      <a:r>
                        <a:rPr sz="1400" spc="-50" dirty="0">
                          <a:latin typeface="Verdana" panose="020B0604030504040204" pitchFamily="34" charset="0"/>
                          <a:ea typeface="Verdana" panose="020B0604030504040204" pitchFamily="34" charset="0"/>
                          <a:cs typeface="Open Sans" panose="020B0606030504020204" pitchFamily="34" charset="0"/>
                        </a:rPr>
                        <a:t>the</a:t>
                      </a:r>
                      <a:r>
                        <a:rPr lang="en-IN" sz="1400" spc="-50" dirty="0">
                          <a:latin typeface="Verdana" panose="020B0604030504040204" pitchFamily="34" charset="0"/>
                          <a:ea typeface="Verdana" panose="020B0604030504040204" pitchFamily="34" charset="0"/>
                          <a:cs typeface="Open Sans" panose="020B0606030504020204" pitchFamily="34" charset="0"/>
                        </a:rPr>
                        <a:t> </a:t>
                      </a:r>
                      <a:r>
                        <a:rPr sz="1400" spc="-50" dirty="0">
                          <a:latin typeface="Verdana" panose="020B0604030504040204" pitchFamily="34" charset="0"/>
                          <a:ea typeface="Verdana" panose="020B0604030504040204" pitchFamily="34" charset="0"/>
                          <a:cs typeface="Open Sans" panose="020B0606030504020204" pitchFamily="34" charset="0"/>
                        </a:rPr>
                        <a:t>disadvantages</a:t>
                      </a:r>
                      <a:r>
                        <a:rPr lang="en-IN" sz="1400" spc="-50" dirty="0">
                          <a:latin typeface="Verdana" panose="020B0604030504040204" pitchFamily="34" charset="0"/>
                          <a:ea typeface="Verdana" panose="020B0604030504040204" pitchFamily="34" charset="0"/>
                          <a:cs typeface="Open Sans" panose="020B0606030504020204" pitchFamily="34" charset="0"/>
                        </a:rPr>
                        <a:t> </a:t>
                      </a:r>
                      <a:r>
                        <a:rPr sz="1400" spc="-50" dirty="0">
                          <a:latin typeface="Verdana" panose="020B0604030504040204" pitchFamily="34" charset="0"/>
                          <a:ea typeface="Verdana" panose="020B0604030504040204" pitchFamily="34" charset="0"/>
                          <a:cs typeface="Open Sans" panose="020B0606030504020204" pitchFamily="34" charset="0"/>
                        </a:rPr>
                        <a:t>of </a:t>
                      </a:r>
                      <a:r>
                        <a:rPr sz="1400" spc="-35" dirty="0">
                          <a:latin typeface="Verdana" panose="020B0604030504040204" pitchFamily="34" charset="0"/>
                          <a:ea typeface="Verdana" panose="020B0604030504040204" pitchFamily="34" charset="0"/>
                          <a:cs typeface="Open Sans" panose="020B0606030504020204" pitchFamily="34" charset="0"/>
                        </a:rPr>
                        <a:t>the  </a:t>
                      </a:r>
                      <a:r>
                        <a:rPr sz="1400" spc="-70" dirty="0">
                          <a:latin typeface="Verdana" panose="020B0604030504040204" pitchFamily="34" charset="0"/>
                          <a:ea typeface="Verdana" panose="020B0604030504040204" pitchFamily="34" charset="0"/>
                          <a:cs typeface="Open Sans" panose="020B0606030504020204" pitchFamily="34" charset="0"/>
                        </a:rPr>
                        <a:t>alternatives?</a:t>
                      </a:r>
                      <a:endParaRPr lang="en-US" sz="1400" spc="-70" dirty="0">
                        <a:latin typeface="Verdana" panose="020B0604030504040204" pitchFamily="34" charset="0"/>
                        <a:ea typeface="Verdana" panose="020B0604030504040204" pitchFamily="34" charset="0"/>
                        <a:cs typeface="Open Sans" panose="020B0606030504020204" pitchFamily="34" charset="0"/>
                      </a:endParaRPr>
                    </a:p>
                    <a:p>
                      <a:pPr marL="85725" marR="247015">
                        <a:lnSpc>
                          <a:spcPct val="100000"/>
                        </a:lnSpc>
                      </a:pPr>
                      <a:endParaRPr lang="en-US" sz="1400" spc="-70" dirty="0">
                        <a:latin typeface="Verdana" panose="020B0604030504040204" pitchFamily="34" charset="0"/>
                        <a:ea typeface="Verdana" panose="020B0604030504040204" pitchFamily="34" charset="0"/>
                        <a:cs typeface="Open Sans" panose="020B0606030504020204" pitchFamily="34" charset="0"/>
                      </a:endParaRPr>
                    </a:p>
                    <a:p>
                      <a:pPr marL="371475" marR="247015" indent="-285750">
                        <a:lnSpc>
                          <a:spcPct val="100000"/>
                        </a:lnSpc>
                        <a:buFont typeface="Arial" panose="020B0604020202020204" pitchFamily="34" charset="0"/>
                        <a:buChar char="•"/>
                      </a:pPr>
                      <a:r>
                        <a:rPr lang="en-US" sz="1400" dirty="0"/>
                        <a:t>Fully dependent on human attention → prone to errors </a:t>
                      </a:r>
                    </a:p>
                    <a:p>
                      <a:pPr marL="371475" marR="247015" indent="-285750">
                        <a:lnSpc>
                          <a:spcPct val="100000"/>
                        </a:lnSpc>
                        <a:buFont typeface="Arial" panose="020B0604020202020204" pitchFamily="34" charset="0"/>
                        <a:buChar char="•"/>
                      </a:pPr>
                      <a:r>
                        <a:rPr lang="en-US" sz="1400" dirty="0"/>
                        <a:t>No real-time monitoring or usage tracking </a:t>
                      </a:r>
                    </a:p>
                    <a:p>
                      <a:pPr marL="371475" marR="247015" indent="-285750">
                        <a:lnSpc>
                          <a:spcPct val="100000"/>
                        </a:lnSpc>
                        <a:buFont typeface="Arial" panose="020B0604020202020204" pitchFamily="34" charset="0"/>
                        <a:buChar char="•"/>
                      </a:pPr>
                      <a:r>
                        <a:rPr lang="en-US" sz="1400" dirty="0"/>
                        <a:t>Cannot detect small or hidden leakages effectively </a:t>
                      </a:r>
                    </a:p>
                    <a:p>
                      <a:pPr marL="371475" marR="247015" indent="-285750">
                        <a:lnSpc>
                          <a:spcPct val="100000"/>
                        </a:lnSpc>
                        <a:buFont typeface="Arial" panose="020B0604020202020204" pitchFamily="34" charset="0"/>
                        <a:buChar char="•"/>
                      </a:pPr>
                      <a:r>
                        <a:rPr lang="en-US" sz="1400" dirty="0"/>
                        <a:t>No automated alerts or notifications </a:t>
                      </a:r>
                    </a:p>
                    <a:p>
                      <a:pPr marL="371475" marR="247015" indent="-285750">
                        <a:lnSpc>
                          <a:spcPct val="100000"/>
                        </a:lnSpc>
                        <a:buFont typeface="Arial" panose="020B0604020202020204" pitchFamily="34" charset="0"/>
                        <a:buChar char="•"/>
                      </a:pPr>
                      <a:r>
                        <a:rPr lang="en-US" sz="1400" dirty="0"/>
                        <a:t>Float valves lack precision and can fail </a:t>
                      </a:r>
                    </a:p>
                    <a:p>
                      <a:pPr marL="371475" marR="247015" indent="-285750">
                        <a:lnSpc>
                          <a:spcPct val="100000"/>
                        </a:lnSpc>
                        <a:buFont typeface="Arial" panose="020B0604020202020204" pitchFamily="34" charset="0"/>
                        <a:buChar char="•"/>
                      </a:pPr>
                      <a:r>
                        <a:rPr lang="en-US" sz="1400" dirty="0"/>
                        <a:t>No data analytics for optimization of usage </a:t>
                      </a:r>
                    </a:p>
                    <a:p>
                      <a:pPr marL="371475" marR="247015"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t>Not scalable for modern smart homes </a:t>
                      </a:r>
                    </a:p>
                    <a:p>
                      <a:pPr marL="85725" marR="247015" indent="0">
                        <a:lnSpc>
                          <a:spcPct val="100000"/>
                        </a:lnSpc>
                        <a:buFont typeface="Arial" panose="020B0604020202020204" pitchFamily="34" charset="0"/>
                        <a:buNone/>
                      </a:pPr>
                      <a:endParaRPr sz="1400" dirty="0">
                        <a:latin typeface="Verdana" panose="020B0604030504040204" pitchFamily="34" charset="0"/>
                        <a:ea typeface="Verdana" panose="020B0604030504040204" pitchFamily="34" charset="0"/>
                        <a:cs typeface="Open Sans" panose="020B0606030504020204" pitchFamily="34" charset="0"/>
                      </a:endParaRPr>
                    </a:p>
                  </a:txBody>
                  <a:tcPr marL="0" marR="0" marT="83334" marB="0">
                    <a:lnL w="9525">
                      <a:solidFill>
                        <a:srgbClr val="FBBD00"/>
                      </a:solidFill>
                      <a:prstDash val="solid"/>
                    </a:lnL>
                    <a:lnR w="9525">
                      <a:solidFill>
                        <a:srgbClr val="FBBD00"/>
                      </a:solidFill>
                      <a:prstDash val="solid"/>
                    </a:lnR>
                    <a:lnT w="9525">
                      <a:solidFill>
                        <a:srgbClr val="FBBD00"/>
                      </a:solidFill>
                      <a:prstDash val="solid"/>
                    </a:lnT>
                    <a:lnB w="9525">
                      <a:solidFill>
                        <a:srgbClr val="FBBD00"/>
                      </a:solidFill>
                      <a:prstDash val="solid"/>
                    </a:lnB>
                  </a:tcPr>
                </a:tc>
                <a:extLst>
                  <a:ext uri="{0D108BD9-81ED-4DB2-BD59-A6C34878D82A}">
                    <a16:rowId xmlns:a16="http://schemas.microsoft.com/office/drawing/2014/main" val="10001"/>
                  </a:ext>
                </a:extLst>
              </a:tr>
              <a:tr h="2134662">
                <a:tc vMerge="1">
                  <a:txBody>
                    <a:bodyPr/>
                    <a:lstStyle/>
                    <a:p>
                      <a:endParaRPr/>
                    </a:p>
                  </a:txBody>
                  <a:tcPr marL="0" marR="0" marT="81280" marB="0">
                    <a:lnL w="9525">
                      <a:solidFill>
                        <a:srgbClr val="FBBD00"/>
                      </a:solidFill>
                      <a:prstDash val="solid"/>
                    </a:lnL>
                    <a:lnR w="12700">
                      <a:solidFill>
                        <a:srgbClr val="FBBD00"/>
                      </a:solidFill>
                      <a:prstDash val="solid"/>
                    </a:lnR>
                    <a:lnT w="9525">
                      <a:solidFill>
                        <a:srgbClr val="FBBD00"/>
                      </a:solidFill>
                      <a:prstDash val="solid"/>
                    </a:lnT>
                    <a:lnB w="9525">
                      <a:solidFill>
                        <a:srgbClr val="FBBD00"/>
                      </a:solidFill>
                      <a:prstDash val="solid"/>
                    </a:lnB>
                  </a:tcPr>
                </a:tc>
                <a:tc>
                  <a:txBody>
                    <a:bodyPr/>
                    <a:lstStyle/>
                    <a:p>
                      <a:pPr marL="84455">
                        <a:lnSpc>
                          <a:spcPct val="100000"/>
                        </a:lnSpc>
                        <a:spcBef>
                          <a:spcPts val="795"/>
                        </a:spcBef>
                      </a:pPr>
                      <a:endParaRPr lang="en-US" sz="2100" b="0" kern="1200" spc="0" dirty="0">
                        <a:solidFill>
                          <a:schemeClr val="tx1"/>
                        </a:solidFill>
                        <a:latin typeface="Verdana" panose="020B0604030504040204" pitchFamily="34" charset="0"/>
                        <a:ea typeface="Verdana" panose="020B0604030504040204" pitchFamily="34" charset="0"/>
                        <a:cs typeface="Open Sans" panose="020B0606030504020204" pitchFamily="34" charset="0"/>
                      </a:endParaRPr>
                    </a:p>
                    <a:p>
                      <a:pPr marL="84455">
                        <a:lnSpc>
                          <a:spcPct val="100000"/>
                        </a:lnSpc>
                        <a:spcBef>
                          <a:spcPts val="795"/>
                        </a:spcBef>
                      </a:pPr>
                      <a:r>
                        <a:rPr sz="1400" b="1" kern="1200" spc="-130" dirty="0">
                          <a:solidFill>
                            <a:schemeClr val="tx1"/>
                          </a:solidFill>
                          <a:latin typeface="Verdana" panose="020B0604030504040204" pitchFamily="34" charset="0"/>
                          <a:ea typeface="Verdana" panose="020B0604030504040204" pitchFamily="34" charset="0"/>
                          <a:cs typeface="Open Sans" panose="020B0606030504020204" pitchFamily="34" charset="0"/>
                        </a:rPr>
                        <a:t>QUANTIFIABLE</a:t>
                      </a:r>
                      <a:r>
                        <a:rPr lang="en-IN" sz="1400" b="1" spc="-145" dirty="0">
                          <a:latin typeface="Verdana" panose="020B0604030504040204" pitchFamily="34" charset="0"/>
                          <a:ea typeface="Verdana" panose="020B0604030504040204" pitchFamily="34" charset="0"/>
                          <a:cs typeface="Open Sans" panose="020B0606030504020204" pitchFamily="34" charset="0"/>
                        </a:rPr>
                        <a:t> </a:t>
                      </a:r>
                      <a:r>
                        <a:rPr sz="1400" b="1" spc="-145" dirty="0">
                          <a:latin typeface="Verdana" panose="020B0604030504040204" pitchFamily="34" charset="0"/>
                          <a:ea typeface="Verdana" panose="020B0604030504040204" pitchFamily="34" charset="0"/>
                          <a:cs typeface="Open Sans" panose="020B0606030504020204" pitchFamily="34" charset="0"/>
                        </a:rPr>
                        <a:t>IMPACT</a:t>
                      </a:r>
                      <a:endParaRPr sz="1400" dirty="0">
                        <a:latin typeface="Verdana" panose="020B0604030504040204" pitchFamily="34" charset="0"/>
                        <a:ea typeface="Verdana" panose="020B0604030504040204" pitchFamily="34" charset="0"/>
                        <a:cs typeface="Open Sans" panose="020B0606030504020204" pitchFamily="34" charset="0"/>
                      </a:endParaRPr>
                    </a:p>
                    <a:p>
                      <a:pPr marL="84455" marR="474345">
                        <a:lnSpc>
                          <a:spcPct val="100000"/>
                        </a:lnSpc>
                      </a:pPr>
                      <a:r>
                        <a:rPr sz="1400" spc="-45" dirty="0">
                          <a:latin typeface="Verdana" panose="020B0604030504040204" pitchFamily="34" charset="0"/>
                          <a:ea typeface="Verdana" panose="020B0604030504040204" pitchFamily="34" charset="0"/>
                          <a:cs typeface="Open Sans" panose="020B0606030504020204" pitchFamily="34" charset="0"/>
                        </a:rPr>
                        <a:t>What</a:t>
                      </a:r>
                      <a:r>
                        <a:rPr lang="en-IN" sz="1400" spc="-45" dirty="0">
                          <a:latin typeface="Verdana" panose="020B0604030504040204" pitchFamily="34" charset="0"/>
                          <a:ea typeface="Verdana" panose="020B0604030504040204" pitchFamily="34" charset="0"/>
                          <a:cs typeface="Open Sans" panose="020B0606030504020204" pitchFamily="34" charset="0"/>
                        </a:rPr>
                        <a:t> </a:t>
                      </a:r>
                      <a:r>
                        <a:rPr sz="1400" spc="-45" dirty="0">
                          <a:latin typeface="Verdana" panose="020B0604030504040204" pitchFamily="34" charset="0"/>
                          <a:ea typeface="Verdana" panose="020B0604030504040204" pitchFamily="34" charset="0"/>
                          <a:cs typeface="Open Sans" panose="020B0606030504020204" pitchFamily="34" charset="0"/>
                        </a:rPr>
                        <a:t>is</a:t>
                      </a:r>
                      <a:r>
                        <a:rPr lang="en-IN" sz="1400" spc="-45" dirty="0">
                          <a:latin typeface="Verdana" panose="020B0604030504040204" pitchFamily="34" charset="0"/>
                          <a:ea typeface="Verdana" panose="020B0604030504040204" pitchFamily="34" charset="0"/>
                          <a:cs typeface="Open Sans" panose="020B0606030504020204" pitchFamily="34" charset="0"/>
                        </a:rPr>
                        <a:t> </a:t>
                      </a:r>
                      <a:r>
                        <a:rPr sz="1400" spc="-45" dirty="0">
                          <a:latin typeface="Verdana" panose="020B0604030504040204" pitchFamily="34" charset="0"/>
                          <a:ea typeface="Verdana" panose="020B0604030504040204" pitchFamily="34" charset="0"/>
                          <a:cs typeface="Open Sans" panose="020B0606030504020204" pitchFamily="34" charset="0"/>
                        </a:rPr>
                        <a:t>the</a:t>
                      </a:r>
                      <a:r>
                        <a:rPr lang="en-IN" sz="1400" spc="-45" dirty="0">
                          <a:latin typeface="Verdana" panose="020B0604030504040204" pitchFamily="34" charset="0"/>
                          <a:ea typeface="Verdana" panose="020B0604030504040204" pitchFamily="34" charset="0"/>
                          <a:cs typeface="Open Sans" panose="020B0606030504020204" pitchFamily="34" charset="0"/>
                        </a:rPr>
                        <a:t> </a:t>
                      </a:r>
                      <a:r>
                        <a:rPr sz="1400" spc="-45" dirty="0">
                          <a:latin typeface="Verdana" panose="020B0604030504040204" pitchFamily="34" charset="0"/>
                          <a:ea typeface="Verdana" panose="020B0604030504040204" pitchFamily="34" charset="0"/>
                          <a:cs typeface="Open Sans" panose="020B0606030504020204" pitchFamily="34" charset="0"/>
                        </a:rPr>
                        <a:t>measurable</a:t>
                      </a:r>
                      <a:r>
                        <a:rPr lang="en-IN" sz="1400" spc="-45" dirty="0">
                          <a:latin typeface="Verdana" panose="020B0604030504040204" pitchFamily="34" charset="0"/>
                          <a:ea typeface="Verdana" panose="020B0604030504040204" pitchFamily="34" charset="0"/>
                          <a:cs typeface="Open Sans" panose="020B0606030504020204" pitchFamily="34" charset="0"/>
                        </a:rPr>
                        <a:t> </a:t>
                      </a:r>
                      <a:r>
                        <a:rPr sz="1400" spc="-45" dirty="0">
                          <a:latin typeface="Verdana" panose="020B0604030504040204" pitchFamily="34" charset="0"/>
                          <a:ea typeface="Verdana" panose="020B0604030504040204" pitchFamily="34" charset="0"/>
                          <a:cs typeface="Open Sans" panose="020B0606030504020204" pitchFamily="34" charset="0"/>
                        </a:rPr>
                        <a:t>impact  </a:t>
                      </a:r>
                      <a:r>
                        <a:rPr sz="1400" spc="-60" dirty="0">
                          <a:latin typeface="Verdana" panose="020B0604030504040204" pitchFamily="34" charset="0"/>
                          <a:ea typeface="Verdana" panose="020B0604030504040204" pitchFamily="34" charset="0"/>
                          <a:cs typeface="Open Sans" panose="020B0606030504020204" pitchFamily="34" charset="0"/>
                        </a:rPr>
                        <a:t>(include</a:t>
                      </a:r>
                      <a:r>
                        <a:rPr lang="en-IN" sz="1400" spc="-60" dirty="0">
                          <a:latin typeface="Verdana" panose="020B0604030504040204" pitchFamily="34" charset="0"/>
                          <a:ea typeface="Verdana" panose="020B0604030504040204" pitchFamily="34" charset="0"/>
                          <a:cs typeface="Open Sans" panose="020B0606030504020204" pitchFamily="34" charset="0"/>
                        </a:rPr>
                        <a:t> </a:t>
                      </a:r>
                      <a:r>
                        <a:rPr sz="1400" spc="-60" dirty="0">
                          <a:latin typeface="Verdana" panose="020B0604030504040204" pitchFamily="34" charset="0"/>
                          <a:ea typeface="Verdana" panose="020B0604030504040204" pitchFamily="34" charset="0"/>
                          <a:cs typeface="Open Sans" panose="020B0606030504020204" pitchFamily="34" charset="0"/>
                        </a:rPr>
                        <a:t>units)?</a:t>
                      </a:r>
                      <a:endParaRPr lang="en-US" sz="1400" spc="-60" dirty="0">
                        <a:latin typeface="Verdana" panose="020B0604030504040204" pitchFamily="34" charset="0"/>
                        <a:ea typeface="Verdana" panose="020B0604030504040204" pitchFamily="34" charset="0"/>
                        <a:cs typeface="Open Sans" panose="020B0606030504020204" pitchFamily="34" charset="0"/>
                      </a:endParaRPr>
                    </a:p>
                    <a:p>
                      <a:pPr marL="84455" marR="474345">
                        <a:lnSpc>
                          <a:spcPct val="100000"/>
                        </a:lnSpc>
                      </a:pPr>
                      <a:endParaRPr lang="en-US" sz="1400" spc="-60" dirty="0">
                        <a:latin typeface="Verdana" panose="020B0604030504040204" pitchFamily="34" charset="0"/>
                        <a:ea typeface="Verdana" panose="020B0604030504040204" pitchFamily="34" charset="0"/>
                        <a:cs typeface="Open Sans" panose="020B0606030504020204" pitchFamily="34" charset="0"/>
                      </a:endParaRPr>
                    </a:p>
                    <a:p>
                      <a:pPr marL="370205" marR="474345" indent="-285750">
                        <a:lnSpc>
                          <a:spcPct val="100000"/>
                        </a:lnSpc>
                        <a:buFont typeface="Arial" panose="020B0604020202020204" pitchFamily="34" charset="0"/>
                        <a:buChar char="•"/>
                      </a:pPr>
                      <a:r>
                        <a:rPr lang="en-US" sz="1400" dirty="0"/>
                        <a:t>Leak: ~10–20 liters/day loss per tap </a:t>
                      </a:r>
                    </a:p>
                    <a:p>
                      <a:pPr marL="370205" marR="474345" indent="-285750">
                        <a:lnSpc>
                          <a:spcPct val="100000"/>
                        </a:lnSpc>
                        <a:buFont typeface="Arial" panose="020B0604020202020204" pitchFamily="34" charset="0"/>
                        <a:buChar char="•"/>
                      </a:pPr>
                      <a:r>
                        <a:rPr lang="en-US" sz="1400" dirty="0"/>
                        <a:t>Tank overflow: hundreds of liters wasted </a:t>
                      </a:r>
                    </a:p>
                    <a:p>
                      <a:pPr marL="370205" marR="474345" indent="-285750">
                        <a:lnSpc>
                          <a:spcPct val="100000"/>
                        </a:lnSpc>
                        <a:buFont typeface="Arial" panose="020B0604020202020204" pitchFamily="34" charset="0"/>
                        <a:buChar char="•"/>
                      </a:pPr>
                      <a:r>
                        <a:rPr lang="en-US" sz="1400" dirty="0"/>
                        <a:t>Increased monthly water expenses </a:t>
                      </a:r>
                    </a:p>
                    <a:p>
                      <a:pPr marL="370205" marR="474345" indent="-285750">
                        <a:lnSpc>
                          <a:spcPct val="100000"/>
                        </a:lnSpc>
                        <a:buFont typeface="Arial" panose="020B0604020202020204" pitchFamily="34" charset="0"/>
                        <a:buChar char="•"/>
                      </a:pPr>
                      <a:r>
                        <a:rPr lang="en-US" sz="1400" dirty="0"/>
                        <a:t>Contributes to regional water scarcity </a:t>
                      </a:r>
                      <a:endParaRPr sz="1400" dirty="0">
                        <a:latin typeface="Verdana" panose="020B0604030504040204" pitchFamily="34" charset="0"/>
                        <a:ea typeface="Verdana" panose="020B0604030504040204" pitchFamily="34" charset="0"/>
                        <a:cs typeface="Open Sans" panose="020B0606030504020204" pitchFamily="34" charset="0"/>
                      </a:endParaRPr>
                    </a:p>
                  </a:txBody>
                  <a:tcPr marL="0" marR="0" marT="0" marB="0">
                    <a:lnL w="12700">
                      <a:solidFill>
                        <a:srgbClr val="FBBD00"/>
                      </a:solidFill>
                      <a:prstDash val="solid"/>
                    </a:lnL>
                    <a:lnR w="9525">
                      <a:solidFill>
                        <a:srgbClr val="FBBD00"/>
                      </a:solidFill>
                      <a:prstDash val="solid"/>
                    </a:lnR>
                    <a:lnB w="9525">
                      <a:solidFill>
                        <a:srgbClr val="FBBD00"/>
                      </a:solidFill>
                      <a:prstDash val="solid"/>
                    </a:lnB>
                  </a:tcPr>
                </a:tc>
                <a:tc vMerge="1">
                  <a:txBody>
                    <a:bodyPr/>
                    <a:lstStyle/>
                    <a:p>
                      <a:endParaRPr/>
                    </a:p>
                  </a:txBody>
                  <a:tcPr marL="0" marR="0" marT="81280" marB="0">
                    <a:lnL w="9525">
                      <a:solidFill>
                        <a:srgbClr val="FBBD00"/>
                      </a:solidFill>
                      <a:prstDash val="solid"/>
                    </a:lnL>
                    <a:lnR w="9525">
                      <a:solidFill>
                        <a:srgbClr val="FBBD00"/>
                      </a:solidFill>
                      <a:prstDash val="solid"/>
                    </a:lnR>
                    <a:lnT w="9525">
                      <a:solidFill>
                        <a:srgbClr val="FBBD00"/>
                      </a:solidFill>
                      <a:prstDash val="solid"/>
                    </a:lnT>
                    <a:lnB w="9525">
                      <a:solidFill>
                        <a:srgbClr val="FBBD00"/>
                      </a:solidFill>
                      <a:prstDash val="solid"/>
                    </a:lnB>
                  </a:tcPr>
                </a:tc>
                <a:extLst>
                  <a:ext uri="{0D108BD9-81ED-4DB2-BD59-A6C34878D82A}">
                    <a16:rowId xmlns:a16="http://schemas.microsoft.com/office/drawing/2014/main" val="10002"/>
                  </a:ext>
                </a:extLst>
              </a:tr>
            </a:tbl>
          </a:graphicData>
        </a:graphic>
      </p:graphicFrame>
      <p:sp>
        <p:nvSpPr>
          <p:cNvPr id="4" name="object 4"/>
          <p:cNvSpPr txBox="1">
            <a:spLocks noGrp="1"/>
          </p:cNvSpPr>
          <p:nvPr>
            <p:ph type="sldNum" sz="quarter" idx="12"/>
          </p:nvPr>
        </p:nvSpPr>
        <p:spPr>
          <a:xfrm>
            <a:off x="6718838" y="6602494"/>
            <a:ext cx="2187529" cy="203796"/>
          </a:xfrm>
          <a:prstGeom prst="rect">
            <a:avLst/>
          </a:prstGeom>
        </p:spPr>
        <p:txBody>
          <a:bodyPr vert="horz" wrap="square" lIns="0" tIns="14323" rIns="0" bIns="0" rtlCol="0" anchor="ctr">
            <a:spAutoFit/>
          </a:bodyPr>
          <a:lstStyle/>
          <a:p>
            <a:pPr marL="39064">
              <a:spcBef>
                <a:spcPts val="113"/>
              </a:spcBef>
            </a:pPr>
            <a:fld id="{81D60167-4931-47E6-BA6A-407CBD079E47}" type="slidenum">
              <a:rPr dirty="0">
                <a:latin typeface="Verdana" panose="020B0604030504040204" pitchFamily="34" charset="0"/>
                <a:ea typeface="Verdana" panose="020B0604030504040204" pitchFamily="34" charset="0"/>
              </a:rPr>
              <a:pPr marL="39064">
                <a:spcBef>
                  <a:spcPts val="113"/>
                </a:spcBef>
              </a:pPr>
              <a:t>3</a:t>
            </a:fld>
            <a:endParaRPr dirty="0">
              <a:latin typeface="Verdana" panose="020B0604030504040204" pitchFamily="34" charset="0"/>
              <a:ea typeface="Verdana" panose="020B0604030504040204" pitchFamily="34" charset="0"/>
            </a:endParaRPr>
          </a:p>
        </p:txBody>
      </p:sp>
      <p:sp>
        <p:nvSpPr>
          <p:cNvPr id="3" name="object 3"/>
          <p:cNvSpPr txBox="1">
            <a:spLocks noGrp="1"/>
          </p:cNvSpPr>
          <p:nvPr>
            <p:ph type="title"/>
          </p:nvPr>
        </p:nvSpPr>
        <p:spPr>
          <a:xfrm>
            <a:off x="304800" y="256304"/>
            <a:ext cx="15304106" cy="1040529"/>
          </a:xfrm>
          <a:prstGeom prst="rect">
            <a:avLst/>
          </a:prstGeom>
        </p:spPr>
        <p:txBody>
          <a:bodyPr vert="horz" wrap="square" lIns="0" tIns="12370" rIns="0" bIns="0" rtlCol="0" anchor="ctr">
            <a:spAutoFit/>
          </a:bodyPr>
          <a:lstStyle/>
          <a:p>
            <a:pPr>
              <a:lnSpc>
                <a:spcPts val="8747"/>
              </a:lnSpc>
              <a:spcBef>
                <a:spcPts val="97"/>
              </a:spcBef>
            </a:pPr>
            <a:r>
              <a:rPr lang="en-IN" sz="5400" b="1" dirty="0">
                <a:solidFill>
                  <a:schemeClr val="tx1"/>
                </a:solidFill>
                <a:latin typeface="+mn-lt"/>
                <a:ea typeface="+mn-ea"/>
                <a:cs typeface="Times New Roman" panose="02020603050405020304" pitchFamily="18" charset="0"/>
              </a:rPr>
              <a:t>Problem/Opportunity</a:t>
            </a:r>
            <a:endParaRPr sz="5400" b="1" dirty="0">
              <a:solidFill>
                <a:schemeClr val="tx1"/>
              </a:solidFill>
              <a:latin typeface="+mn-lt"/>
              <a:ea typeface="+mn-ea"/>
              <a:cs typeface="Times New Roman" panose="02020603050405020304" pitchFamily="18" charset="0"/>
            </a:endParaRPr>
          </a:p>
        </p:txBody>
      </p:sp>
      <p:sp>
        <p:nvSpPr>
          <p:cNvPr id="15" name="Rectangle 14">
            <a:extLst>
              <a:ext uri="{FF2B5EF4-FFF2-40B4-BE49-F238E27FC236}">
                <a16:creationId xmlns:a16="http://schemas.microsoft.com/office/drawing/2014/main" id="{5DE34494-019C-4AF1-907B-33245967C575}"/>
              </a:ext>
            </a:extLst>
          </p:cNvPr>
          <p:cNvSpPr/>
          <p:nvPr/>
        </p:nvSpPr>
        <p:spPr>
          <a:xfrm>
            <a:off x="15945620" y="57811"/>
            <a:ext cx="1695221" cy="1288685"/>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5" name="Rectangle 4"/>
          <p:cNvSpPr/>
          <p:nvPr/>
        </p:nvSpPr>
        <p:spPr>
          <a:xfrm>
            <a:off x="914400" y="6815207"/>
            <a:ext cx="9144000" cy="1110560"/>
          </a:xfrm>
          <a:prstGeom prst="rect">
            <a:avLst/>
          </a:prstGeom>
        </p:spPr>
        <p:txBody>
          <a:bodyPr>
            <a:spAutoFit/>
          </a:bodyPr>
          <a:lstStyle/>
          <a:p>
            <a:endParaRPr lang="en-US" dirty="0"/>
          </a:p>
          <a:p>
            <a:pPr marL="93102">
              <a:spcBef>
                <a:spcPts val="195"/>
              </a:spcBef>
            </a:pPr>
            <a:endParaRPr lang="en-US" sz="1050" spc="-82" dirty="0">
              <a:latin typeface="Verdana" panose="020B0604030504040204" pitchFamily="34" charset="0"/>
              <a:ea typeface="Verdana" panose="020B0604030504040204" pitchFamily="34" charset="0"/>
              <a:cs typeface="Open Sans" panose="020B0606030504020204" pitchFamily="34" charset="0"/>
            </a:endParaRPr>
          </a:p>
          <a:p>
            <a:endParaRPr lang="en-US" dirty="0"/>
          </a:p>
          <a:p>
            <a:endParaRPr lang="en-IN" dirty="0"/>
          </a:p>
        </p:txBody>
      </p:sp>
      <p:sp>
        <p:nvSpPr>
          <p:cNvPr id="16" name="Rectangle 15"/>
          <p:cNvSpPr/>
          <p:nvPr/>
        </p:nvSpPr>
        <p:spPr>
          <a:xfrm>
            <a:off x="10363200" y="8156199"/>
            <a:ext cx="7892374" cy="830997"/>
          </a:xfrm>
          <a:prstGeom prst="rect">
            <a:avLst/>
          </a:prstGeom>
          <a:solidFill>
            <a:srgbClr val="FFC000"/>
          </a:solidFill>
        </p:spPr>
        <p:txBody>
          <a:bodyPr wrap="square">
            <a:spAutoFit/>
          </a:bodyPr>
          <a:lstStyle/>
          <a:p>
            <a:r>
              <a:rPr lang="en-US" sz="2400" dirty="0">
                <a:latin typeface="+mj-lt"/>
              </a:rPr>
              <a:t>	This table helps you define the problem and existing  market gaps.</a:t>
            </a:r>
          </a:p>
        </p:txBody>
      </p:sp>
      <p:pic>
        <p:nvPicPr>
          <p:cNvPr id="18" name="Graphic 27" descr="Target with solid fill">
            <a:extLst>
              <a:ext uri="{FF2B5EF4-FFF2-40B4-BE49-F238E27FC236}">
                <a16:creationId xmlns:a16="http://schemas.microsoft.com/office/drawing/2014/main" id="{0A6ECB55-4CA0-4244-AFAF-47071920EBDB}"/>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91800" y="8085054"/>
            <a:ext cx="651510" cy="637001"/>
          </a:xfrm>
          <a:prstGeom prst="rect">
            <a:avLst/>
          </a:prstGeom>
        </p:spPr>
      </p:pic>
    </p:spTree>
    <p:extLst>
      <p:ext uri="{BB962C8B-B14F-4D97-AF65-F5344CB8AC3E}">
        <p14:creationId xmlns:p14="http://schemas.microsoft.com/office/powerpoint/2010/main" val="2803195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5"/>
          <p:cNvSpPr txBox="1"/>
          <p:nvPr/>
        </p:nvSpPr>
        <p:spPr>
          <a:xfrm>
            <a:off x="457200" y="217695"/>
            <a:ext cx="12338484" cy="1039900"/>
          </a:xfrm>
          <a:prstGeom prst="rect">
            <a:avLst/>
          </a:prstGeom>
        </p:spPr>
        <p:txBody>
          <a:bodyPr wrap="square" lIns="0" tIns="0" rIns="0" bIns="0" rtlCol="0" anchor="t">
            <a:spAutoFit/>
          </a:bodyPr>
          <a:lstStyle/>
          <a:p>
            <a:pPr>
              <a:lnSpc>
                <a:spcPts val="8747"/>
              </a:lnSpc>
              <a:spcBef>
                <a:spcPts val="97"/>
              </a:spcBef>
            </a:pPr>
            <a:r>
              <a:rPr lang="en-US" sz="5400" b="1" dirty="0"/>
              <a:t>Problem Interviews And Surveys Results  </a:t>
            </a:r>
          </a:p>
        </p:txBody>
      </p:sp>
      <p:sp>
        <p:nvSpPr>
          <p:cNvPr id="37" name="Rectangle 36">
            <a:extLst>
              <a:ext uri="{FF2B5EF4-FFF2-40B4-BE49-F238E27FC236}">
                <a16:creationId xmlns:a16="http://schemas.microsoft.com/office/drawing/2014/main" id="{5DE34494-019C-4AF1-907B-33245967C575}"/>
              </a:ext>
            </a:extLst>
          </p:cNvPr>
          <p:cNvSpPr/>
          <p:nvPr/>
        </p:nvSpPr>
        <p:spPr>
          <a:xfrm>
            <a:off x="15875012" y="678496"/>
            <a:ext cx="1695221" cy="1288685"/>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17" name="Rectangle 16"/>
          <p:cNvSpPr/>
          <p:nvPr/>
        </p:nvSpPr>
        <p:spPr>
          <a:xfrm>
            <a:off x="838200" y="1967181"/>
            <a:ext cx="11201400" cy="7971413"/>
          </a:xfrm>
          <a:prstGeom prst="rect">
            <a:avLst/>
          </a:prstGeom>
          <a:noFill/>
        </p:spPr>
        <p:txBody>
          <a:bodyPr wrap="square">
            <a:spAutoFit/>
          </a:bodyPr>
          <a:lstStyle/>
          <a:p>
            <a:pPr marL="457200" indent="-457200">
              <a:buFont typeface="Arial" panose="020B0604020202020204" pitchFamily="34" charset="0"/>
              <a:buChar char="•"/>
            </a:pPr>
            <a:r>
              <a:rPr lang="pt-BR" sz="3200" dirty="0"/>
              <a:t>How many customers did you interview? </a:t>
            </a:r>
          </a:p>
          <a:p>
            <a:r>
              <a:rPr lang="pt-BR" sz="3200" dirty="0"/>
              <a:t>        20</a:t>
            </a:r>
          </a:p>
          <a:p>
            <a:pPr marL="457200" indent="-457200">
              <a:buFont typeface="Arial" panose="020B0604020202020204" pitchFamily="34" charset="0"/>
              <a:buChar char="•"/>
            </a:pPr>
            <a:endParaRPr lang="pt-BR" sz="3200" dirty="0"/>
          </a:p>
          <a:p>
            <a:pPr marL="457200" indent="-457200">
              <a:buFont typeface="Arial" panose="020B0604020202020204" pitchFamily="34" charset="0"/>
              <a:buChar char="•"/>
            </a:pPr>
            <a:r>
              <a:rPr lang="pt-BR" sz="3200" dirty="0"/>
              <a:t>What was the interview mode?</a:t>
            </a:r>
          </a:p>
          <a:p>
            <a:r>
              <a:rPr lang="pt-BR" sz="3200" dirty="0"/>
              <a:t>      offline</a:t>
            </a:r>
          </a:p>
          <a:p>
            <a:endParaRPr lang="pt-BR" sz="3200" i="1" dirty="0"/>
          </a:p>
          <a:p>
            <a:pPr marL="457200" indent="-457200">
              <a:buFont typeface="Arial" panose="020B0604020202020204" pitchFamily="34" charset="0"/>
              <a:buChar char="•"/>
            </a:pPr>
            <a:r>
              <a:rPr lang="pt-BR" sz="3200" dirty="0"/>
              <a:t>How many of them agree this is a problem and wants a solution?</a:t>
            </a:r>
          </a:p>
          <a:p>
            <a:r>
              <a:rPr lang="pt-BR" sz="3200" dirty="0"/>
              <a:t>        15</a:t>
            </a:r>
          </a:p>
          <a:p>
            <a:endParaRPr lang="pt-BR" sz="3200" dirty="0"/>
          </a:p>
          <a:p>
            <a:pPr marL="457200" indent="-457200">
              <a:buFont typeface="Arial" panose="020B0604020202020204" pitchFamily="34" charset="0"/>
              <a:buChar char="•"/>
            </a:pPr>
            <a:r>
              <a:rPr lang="pt-BR" sz="3200" dirty="0"/>
              <a:t>How many of them said they don't need a new solution?</a:t>
            </a:r>
          </a:p>
          <a:p>
            <a:r>
              <a:rPr lang="pt-BR" sz="3200" dirty="0"/>
              <a:t>          5</a:t>
            </a:r>
          </a:p>
          <a:p>
            <a:pPr marL="457200" indent="-457200">
              <a:buFont typeface="Arial" panose="020B0604020202020204" pitchFamily="34" charset="0"/>
              <a:buChar char="•"/>
            </a:pPr>
            <a:endParaRPr lang="pt-BR" sz="3200" i="1" dirty="0"/>
          </a:p>
          <a:p>
            <a:pPr marL="457200" indent="-457200">
              <a:buFont typeface="Arial" panose="020B0604020202020204" pitchFamily="34" charset="0"/>
              <a:buChar char="•"/>
            </a:pPr>
            <a:endParaRPr lang="pt-BR" sz="3200" i="1" dirty="0"/>
          </a:p>
          <a:p>
            <a:pPr marL="457200" indent="-457200">
              <a:buFont typeface="Arial" panose="020B0604020202020204" pitchFamily="34" charset="0"/>
              <a:buChar char="•"/>
            </a:pPr>
            <a:endParaRPr lang="pt-BR" sz="3200" dirty="0"/>
          </a:p>
          <a:p>
            <a:pPr marL="457200" indent="-457200">
              <a:buFont typeface="Arial" panose="020B0604020202020204" pitchFamily="34" charset="0"/>
              <a:buChar char="•"/>
            </a:pPr>
            <a:endParaRPr lang="pt-BR" sz="3200" i="1" dirty="0"/>
          </a:p>
        </p:txBody>
      </p:sp>
      <p:sp>
        <p:nvSpPr>
          <p:cNvPr id="11" name="Rectangle 10"/>
          <p:cNvSpPr/>
          <p:nvPr/>
        </p:nvSpPr>
        <p:spPr>
          <a:xfrm>
            <a:off x="838200" y="3536969"/>
            <a:ext cx="473206" cy="369332"/>
          </a:xfrm>
          <a:prstGeom prst="rect">
            <a:avLst/>
          </a:prstGeom>
        </p:spPr>
        <p:txBody>
          <a:bodyPr wrap="none">
            <a:spAutoFit/>
          </a:bodyPr>
          <a:lstStyle/>
          <a:p>
            <a:pPr marL="285750" indent="-285750">
              <a:buFont typeface="Arial" panose="020B0604020202020204" pitchFamily="34" charset="0"/>
              <a:buChar char="•"/>
            </a:pPr>
            <a:endParaRPr lang="pt-BR" dirty="0"/>
          </a:p>
        </p:txBody>
      </p:sp>
    </p:spTree>
    <p:extLst>
      <p:ext uri="{BB962C8B-B14F-4D97-AF65-F5344CB8AC3E}">
        <p14:creationId xmlns:p14="http://schemas.microsoft.com/office/powerpoint/2010/main" val="3992274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DE34494-019C-4AF1-907B-33245967C575}"/>
              </a:ext>
            </a:extLst>
          </p:cNvPr>
          <p:cNvSpPr/>
          <p:nvPr/>
        </p:nvSpPr>
        <p:spPr>
          <a:xfrm>
            <a:off x="15922731" y="316341"/>
            <a:ext cx="1695221" cy="1288685"/>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graphicFrame>
        <p:nvGraphicFramePr>
          <p:cNvPr id="18" name="Diagram 17"/>
          <p:cNvGraphicFramePr/>
          <p:nvPr>
            <p:extLst>
              <p:ext uri="{D42A27DB-BD31-4B8C-83A1-F6EECF244321}">
                <p14:modId xmlns:p14="http://schemas.microsoft.com/office/powerpoint/2010/main" val="1169359264"/>
              </p:ext>
            </p:extLst>
          </p:nvPr>
        </p:nvGraphicFramePr>
        <p:xfrm>
          <a:off x="-732132" y="1893546"/>
          <a:ext cx="7620000" cy="54816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9" name="Rounded Rectangle 18"/>
          <p:cNvSpPr/>
          <p:nvPr/>
        </p:nvSpPr>
        <p:spPr>
          <a:xfrm>
            <a:off x="7543800" y="1872448"/>
            <a:ext cx="9448800" cy="6399784"/>
          </a:xfrm>
          <a:prstGeom prst="roundRect">
            <a:avLst/>
          </a:prstGeom>
          <a:noFill/>
          <a:ln w="12700" cap="flat" cmpd="sng" algn="ctr">
            <a:solidFill>
              <a:srgbClr val="E7E6E6">
                <a:lumMod val="50000"/>
              </a:srgbClr>
            </a:solidFill>
            <a:prstDash val="solid"/>
            <a:miter lim="800000"/>
          </a:ln>
          <a:effectLst/>
        </p:spPr>
        <p:txBody>
          <a:bodyPr rtlCol="0" anchor="ctr"/>
          <a:lstStyle/>
          <a:p>
            <a:pPr algn="just">
              <a:defRPr/>
            </a:pPr>
            <a:r>
              <a:rPr kumimoji="0" lang="en-IN" sz="2400" b="1" i="0" u="none" strike="noStrike" kern="0" cap="none" spc="0" normalizeH="0" baseline="0" noProof="0" dirty="0">
                <a:ln>
                  <a:noFill/>
                </a:ln>
                <a:effectLst/>
                <a:uLnTx/>
                <a:uFillTx/>
                <a:latin typeface="+mj-lt"/>
              </a:rPr>
              <a:t>How to calculate market size?</a:t>
            </a:r>
          </a:p>
          <a:p>
            <a:pPr algn="just">
              <a:defRPr/>
            </a:pPr>
            <a:endParaRPr kumimoji="0" lang="en-IN" b="0" i="0" u="none" strike="noStrike" kern="0" cap="none" spc="0" normalizeH="0" baseline="0" noProof="0" dirty="0">
              <a:ln>
                <a:noFill/>
              </a:ln>
              <a:effectLst/>
              <a:uLnTx/>
              <a:uFillTx/>
              <a:latin typeface="+mj-lt"/>
            </a:endParaRPr>
          </a:p>
          <a:p>
            <a:pPr marL="342900" indent="-342900" algn="just">
              <a:buAutoNum type="arabicPeriod"/>
              <a:defRPr/>
            </a:pPr>
            <a:r>
              <a:rPr kumimoji="0" lang="en-IN" b="0" i="0" u="none" strike="noStrike" kern="0" cap="none" spc="0" normalizeH="0" baseline="0" noProof="0" dirty="0">
                <a:ln>
                  <a:noFill/>
                </a:ln>
                <a:effectLst/>
                <a:uLnTx/>
                <a:uFillTx/>
                <a:latin typeface="+mj-lt"/>
              </a:rPr>
              <a:t>Start with Total</a:t>
            </a:r>
            <a:r>
              <a:rPr kumimoji="0" lang="en-IN" b="0" i="0" u="none" strike="noStrike" kern="0" cap="none" spc="0" normalizeH="0" noProof="0" dirty="0">
                <a:ln>
                  <a:noFill/>
                </a:ln>
                <a:effectLst/>
                <a:uLnTx/>
                <a:uFillTx/>
                <a:latin typeface="+mj-lt"/>
              </a:rPr>
              <a:t> Addressable market-</a:t>
            </a:r>
            <a:r>
              <a:rPr lang="en-US" dirty="0"/>
              <a:t>In India, there are around </a:t>
            </a:r>
            <a:r>
              <a:rPr lang="en-US" b="1" dirty="0"/>
              <a:t>30 crore houses</a:t>
            </a:r>
            <a:r>
              <a:rPr lang="en-US" dirty="0"/>
              <a:t> that use water. All these houses can use AquaSmart → this is our total market.</a:t>
            </a:r>
          </a:p>
          <a:p>
            <a:pPr marL="342900" indent="-342900" algn="just">
              <a:buAutoNum type="arabicPeriod"/>
              <a:defRPr/>
            </a:pPr>
            <a:endParaRPr lang="en-US" dirty="0">
              <a:latin typeface="+mj-lt"/>
            </a:endParaRPr>
          </a:p>
          <a:p>
            <a:pPr algn="just">
              <a:defRPr/>
            </a:pPr>
            <a:r>
              <a:rPr lang="en-US" dirty="0"/>
              <a:t>2. We are mainly targeting </a:t>
            </a:r>
            <a:r>
              <a:rPr lang="en-US" b="1" dirty="0"/>
              <a:t>city and town houses</a:t>
            </a:r>
            <a:r>
              <a:rPr lang="en-US" dirty="0"/>
              <a:t> where people use smart devices.</a:t>
            </a:r>
            <a:br>
              <a:rPr lang="en-US" dirty="0"/>
            </a:br>
            <a:r>
              <a:rPr lang="en-US" dirty="0"/>
              <a:t>This is about </a:t>
            </a:r>
            <a:r>
              <a:rPr lang="en-US" b="1" dirty="0"/>
              <a:t>10 crore houses</a:t>
            </a:r>
          </a:p>
          <a:p>
            <a:pPr algn="just">
              <a:defRPr/>
            </a:pPr>
            <a:endParaRPr lang="en-US" dirty="0">
              <a:latin typeface="+mj-lt"/>
            </a:endParaRPr>
          </a:p>
          <a:p>
            <a:r>
              <a:rPr lang="en-US" dirty="0"/>
              <a:t>3. Currently, basic water level indicators and manual monitoring systems are used, but there are very few smart automated solutions. As awareness of water conservation increases, adoption of smart systems is expected to grow.</a:t>
            </a:r>
            <a:br>
              <a:rPr lang="en-US" dirty="0"/>
            </a:br>
            <a:r>
              <a:rPr lang="en-US" dirty="0"/>
              <a:t>Based on similar smart home technologies:</a:t>
            </a:r>
          </a:p>
          <a:p>
            <a:r>
              <a:rPr lang="en-US" b="1" dirty="0"/>
              <a:t>Short term (first 3–5 years):</a:t>
            </a:r>
            <a:r>
              <a:rPr lang="en-US" dirty="0"/>
              <a:t> 2–5% of SAM </a:t>
            </a:r>
          </a:p>
          <a:p>
            <a:r>
              <a:rPr lang="en-US" b="1" dirty="0"/>
              <a:t>Long term (next 5–10 years):</a:t>
            </a:r>
            <a:r>
              <a:rPr lang="en-US" dirty="0"/>
              <a:t> 10–15% of SAM </a:t>
            </a:r>
          </a:p>
          <a:p>
            <a:r>
              <a:rPr lang="en-US" dirty="0"/>
              <a:t>Conclusion – Expected penetration rate is </a:t>
            </a:r>
            <a:r>
              <a:rPr lang="en-US" b="1" dirty="0"/>
              <a:t>2–5% initially</a:t>
            </a:r>
            <a:r>
              <a:rPr lang="en-US" dirty="0"/>
              <a:t>, increasing as people trust and adopt smart water-saving technology.</a:t>
            </a:r>
          </a:p>
          <a:p>
            <a:endParaRPr lang="en-US" dirty="0"/>
          </a:p>
          <a:p>
            <a:pPr algn="just">
              <a:defRPr/>
            </a:pPr>
            <a:r>
              <a:rPr lang="en-US" dirty="0"/>
              <a:t>4. If AquaSmart captures even </a:t>
            </a:r>
            <a:r>
              <a:rPr lang="en-US" b="1" dirty="0"/>
              <a:t>2–5% of the target market (10 crore households)</a:t>
            </a:r>
            <a:r>
              <a:rPr lang="en-US" dirty="0"/>
              <a:t>, that equals </a:t>
            </a:r>
            <a:r>
              <a:rPr lang="en-US" b="1" dirty="0"/>
              <a:t>20–50lakhhouseholds. </a:t>
            </a:r>
            <a:r>
              <a:rPr lang="en-US" dirty="0"/>
              <a:t>.</a:t>
            </a:r>
            <a:br>
              <a:rPr lang="en-US" dirty="0"/>
            </a:br>
            <a:r>
              <a:rPr lang="en-US" dirty="0"/>
              <a:t>Assuming an average price of ₹1000 per system, the estimated market size is </a:t>
            </a:r>
            <a:r>
              <a:rPr lang="en-US" b="1" dirty="0"/>
              <a:t>₹200–₹500 crore in the initial 3–5 years</a:t>
            </a:r>
            <a:r>
              <a:rPr lang="en-US" dirty="0"/>
              <a:t>.</a:t>
            </a:r>
          </a:p>
          <a:p>
            <a:pPr algn="just">
              <a:defRPr/>
            </a:pPr>
            <a:endParaRPr lang="en-US" dirty="0">
              <a:latin typeface="+mj-lt"/>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700" b="0" i="0" u="none" strike="noStrike" kern="0" cap="none" spc="0" normalizeH="0" noProof="0" dirty="0">
                <a:ln>
                  <a:noFill/>
                </a:ln>
                <a:solidFill>
                  <a:prstClr val="white"/>
                </a:solidFill>
                <a:effectLst/>
                <a:uLnTx/>
                <a:uFillTx/>
                <a:latin typeface="Calibri" panose="020F0502020204030204"/>
                <a:ea typeface="+mn-ea"/>
                <a:cs typeface="+mn-cs"/>
              </a:rPr>
              <a:t> </a:t>
            </a:r>
            <a:endParaRPr kumimoji="0" lang="en-IN" sz="27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22" name="TextBox 21"/>
          <p:cNvSpPr txBox="1"/>
          <p:nvPr/>
        </p:nvSpPr>
        <p:spPr>
          <a:xfrm>
            <a:off x="239949" y="328065"/>
            <a:ext cx="5675839" cy="646331"/>
          </a:xfrm>
          <a:prstGeom prst="rect">
            <a:avLst/>
          </a:prstGeom>
          <a:noFill/>
        </p:spPr>
        <p:txBody>
          <a:bodyPr wrap="square" rtlCol="0">
            <a:spAutoFit/>
          </a:bodyPr>
          <a:lstStyle/>
          <a:p>
            <a:pPr defTabSz="685800"/>
            <a:r>
              <a:rPr lang="en-US" sz="3600" b="1" dirty="0">
                <a:solidFill>
                  <a:prstClr val="black">
                    <a:lumMod val="85000"/>
                    <a:lumOff val="15000"/>
                  </a:prstClr>
                </a:solidFill>
                <a:latin typeface="Montserrat"/>
              </a:rPr>
              <a:t>Market Size Estimation </a:t>
            </a:r>
          </a:p>
        </p:txBody>
      </p:sp>
      <p:sp>
        <p:nvSpPr>
          <p:cNvPr id="16" name="Rectangle 15"/>
          <p:cNvSpPr/>
          <p:nvPr/>
        </p:nvSpPr>
        <p:spPr>
          <a:xfrm>
            <a:off x="6140613" y="4958834"/>
            <a:ext cx="248786" cy="369332"/>
          </a:xfrm>
          <a:prstGeom prst="rect">
            <a:avLst/>
          </a:prstGeom>
        </p:spPr>
        <p:txBody>
          <a:bodyPr wrap="none">
            <a:spAutoFit/>
          </a:bodyPr>
          <a:lstStyle/>
          <a:p>
            <a:r>
              <a:rPr lang="en-US" dirty="0">
                <a:solidFill>
                  <a:srgbClr val="2E475D"/>
                </a:solidFill>
                <a:latin typeface="Lexend Deca"/>
              </a:rPr>
              <a:t>.</a:t>
            </a:r>
            <a:endParaRPr lang="en-US" dirty="0"/>
          </a:p>
        </p:txBody>
      </p:sp>
      <p:sp>
        <p:nvSpPr>
          <p:cNvPr id="10" name="TextBox 9"/>
          <p:cNvSpPr txBox="1"/>
          <p:nvPr/>
        </p:nvSpPr>
        <p:spPr>
          <a:xfrm>
            <a:off x="320617" y="9363531"/>
            <a:ext cx="5675839" cy="461665"/>
          </a:xfrm>
          <a:prstGeom prst="rect">
            <a:avLst/>
          </a:prstGeom>
          <a:noFill/>
        </p:spPr>
        <p:txBody>
          <a:bodyPr wrap="square" rtlCol="0">
            <a:spAutoFit/>
          </a:bodyPr>
          <a:lstStyle/>
          <a:p>
            <a:pPr defTabSz="685800"/>
            <a:r>
              <a:rPr lang="en-US" sz="2400" b="1" dirty="0">
                <a:solidFill>
                  <a:prstClr val="black">
                    <a:lumMod val="85000"/>
                    <a:lumOff val="15000"/>
                  </a:prstClr>
                </a:solidFill>
                <a:latin typeface="Montserrat"/>
              </a:rPr>
              <a:t>Sources: ……</a:t>
            </a:r>
          </a:p>
        </p:txBody>
      </p:sp>
    </p:spTree>
    <p:extLst>
      <p:ext uri="{BB962C8B-B14F-4D97-AF65-F5344CB8AC3E}">
        <p14:creationId xmlns:p14="http://schemas.microsoft.com/office/powerpoint/2010/main" val="1189678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p:cNvSpPr/>
          <p:nvPr/>
        </p:nvSpPr>
        <p:spPr>
          <a:xfrm>
            <a:off x="4769111" y="1955330"/>
            <a:ext cx="8991379" cy="2169825"/>
          </a:xfrm>
          <a:prstGeom prst="rect">
            <a:avLst/>
          </a:prstGeom>
          <a:solidFill>
            <a:srgbClr val="FFC000"/>
          </a:solidFill>
        </p:spPr>
        <p:txBody>
          <a:bodyPr wrap="square">
            <a:spAutoFit/>
          </a:bodyPr>
          <a:lstStyle/>
          <a:p>
            <a:pPr defTabSz="1371579"/>
            <a:r>
              <a:rPr lang="en-US" sz="2700" b="1" dirty="0">
                <a:solidFill>
                  <a:schemeClr val="bg1"/>
                </a:solidFill>
                <a:latin typeface="Calibri" panose="020F0502020204030204"/>
              </a:rPr>
              <a:t>Goals</a:t>
            </a:r>
          </a:p>
          <a:p>
            <a:pPr defTabSz="1371579"/>
            <a:r>
              <a:rPr lang="en-US" sz="2700" b="1" dirty="0">
                <a:solidFill>
                  <a:schemeClr val="bg1"/>
                </a:solidFill>
                <a:latin typeface="Calibri" panose="020F0502020204030204"/>
              </a:rPr>
              <a:t>-save water in daily life</a:t>
            </a:r>
          </a:p>
          <a:p>
            <a:pPr defTabSz="1371579"/>
            <a:r>
              <a:rPr lang="en-US" sz="2700" b="1" dirty="0">
                <a:solidFill>
                  <a:schemeClr val="bg1"/>
                </a:solidFill>
                <a:latin typeface="Calibri" panose="020F0502020204030204"/>
              </a:rPr>
              <a:t>-Reduce water bills</a:t>
            </a:r>
          </a:p>
          <a:p>
            <a:pPr defTabSz="1371579"/>
            <a:r>
              <a:rPr lang="en-US" sz="2700" b="1" dirty="0">
                <a:solidFill>
                  <a:schemeClr val="bg1"/>
                </a:solidFill>
                <a:latin typeface="Calibri" panose="020F0502020204030204"/>
              </a:rPr>
              <a:t>-Avoid tank overflow and leakage</a:t>
            </a:r>
          </a:p>
          <a:p>
            <a:pPr defTabSz="1371579"/>
            <a:r>
              <a:rPr lang="en-US" sz="2700" b="1" dirty="0">
                <a:solidFill>
                  <a:schemeClr val="bg1"/>
                </a:solidFill>
                <a:latin typeface="Calibri" panose="020F0502020204030204"/>
              </a:rPr>
              <a:t>-Use smart technology at home</a:t>
            </a:r>
          </a:p>
        </p:txBody>
      </p:sp>
      <p:sp>
        <p:nvSpPr>
          <p:cNvPr id="27" name="Rectangle 26"/>
          <p:cNvSpPr/>
          <p:nvPr/>
        </p:nvSpPr>
        <p:spPr>
          <a:xfrm>
            <a:off x="4746754" y="4252391"/>
            <a:ext cx="9144165" cy="2169825"/>
          </a:xfrm>
          <a:prstGeom prst="rect">
            <a:avLst/>
          </a:prstGeom>
          <a:solidFill>
            <a:schemeClr val="accent6"/>
          </a:solidFill>
        </p:spPr>
        <p:txBody>
          <a:bodyPr wrap="square">
            <a:spAutoFit/>
          </a:bodyPr>
          <a:lstStyle/>
          <a:p>
            <a:pPr defTabSz="1371579"/>
            <a:r>
              <a:rPr lang="en-US" sz="2700" b="1" dirty="0">
                <a:solidFill>
                  <a:schemeClr val="bg1"/>
                </a:solidFill>
                <a:latin typeface="Calibri" panose="020F0502020204030204"/>
              </a:rPr>
              <a:t>Frustrations</a:t>
            </a:r>
          </a:p>
          <a:p>
            <a:pPr defTabSz="1371579"/>
            <a:r>
              <a:rPr lang="en-US" sz="2700" b="1" dirty="0">
                <a:solidFill>
                  <a:schemeClr val="bg1"/>
                </a:solidFill>
                <a:latin typeface="Calibri" panose="020F0502020204030204"/>
              </a:rPr>
              <a:t>-water wastage without knowing</a:t>
            </a:r>
          </a:p>
          <a:p>
            <a:pPr defTabSz="1371579"/>
            <a:r>
              <a:rPr lang="en-US" sz="2700" b="1" dirty="0">
                <a:solidFill>
                  <a:schemeClr val="bg1"/>
                </a:solidFill>
                <a:latin typeface="Calibri" panose="020F0502020204030204"/>
              </a:rPr>
              <a:t>-tank overflow problems</a:t>
            </a:r>
          </a:p>
          <a:p>
            <a:pPr defTabSz="1371579"/>
            <a:r>
              <a:rPr lang="en-US" sz="2700" b="1" dirty="0">
                <a:solidFill>
                  <a:schemeClr val="bg1"/>
                </a:solidFill>
                <a:latin typeface="Calibri" panose="020F0502020204030204"/>
              </a:rPr>
              <a:t>-high water bills</a:t>
            </a:r>
          </a:p>
          <a:p>
            <a:pPr defTabSz="1371579"/>
            <a:r>
              <a:rPr lang="en-US" sz="2700" b="1" dirty="0">
                <a:solidFill>
                  <a:schemeClr val="bg1"/>
                </a:solidFill>
                <a:latin typeface="Calibri" panose="020F0502020204030204"/>
              </a:rPr>
              <a:t>-No proper system to track water savage</a:t>
            </a:r>
          </a:p>
        </p:txBody>
      </p:sp>
      <p:sp>
        <p:nvSpPr>
          <p:cNvPr id="28" name="Rectangle 27"/>
          <p:cNvSpPr/>
          <p:nvPr/>
        </p:nvSpPr>
        <p:spPr>
          <a:xfrm>
            <a:off x="4541135" y="6644675"/>
            <a:ext cx="9188875" cy="2646878"/>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defTabSz="1371579"/>
            <a:r>
              <a:rPr lang="en-US" sz="2700" b="1" dirty="0">
                <a:solidFill>
                  <a:srgbClr val="FD9F4D"/>
                </a:solidFill>
                <a:latin typeface="Calibri" panose="020F0502020204030204"/>
              </a:rPr>
              <a:t>Bio</a:t>
            </a:r>
          </a:p>
          <a:p>
            <a:pPr defTabSz="1371579"/>
            <a:r>
              <a:rPr lang="en-US" sz="2800" dirty="0"/>
              <a:t>A middle-class house owner living in a city. Uses water daily but is concerned about wastage and increasing bills. Interested in simple and affordable smart solutions to manage water efficiently.</a:t>
            </a:r>
            <a:endParaRPr lang="en-US" sz="2700" b="1" dirty="0">
              <a:solidFill>
                <a:srgbClr val="FD9F4D"/>
              </a:solidFill>
              <a:latin typeface="Calibri" panose="020F0502020204030204"/>
            </a:endParaRPr>
          </a:p>
          <a:p>
            <a:pPr defTabSz="1371579"/>
            <a:endParaRPr lang="en-US" sz="2700" b="1" dirty="0">
              <a:solidFill>
                <a:srgbClr val="FD9F4D"/>
              </a:solidFill>
              <a:latin typeface="Calibri" panose="020F0502020204030204"/>
            </a:endParaRPr>
          </a:p>
        </p:txBody>
      </p:sp>
      <p:sp>
        <p:nvSpPr>
          <p:cNvPr id="31" name="Rectangle 30"/>
          <p:cNvSpPr/>
          <p:nvPr/>
        </p:nvSpPr>
        <p:spPr>
          <a:xfrm>
            <a:off x="533400" y="5676900"/>
            <a:ext cx="1918120" cy="520667"/>
          </a:xfrm>
          <a:prstGeom prst="rect">
            <a:avLst/>
          </a:prstGeom>
        </p:spPr>
        <p:txBody>
          <a:bodyPr wrap="none">
            <a:spAutoFit/>
          </a:bodyPr>
          <a:lstStyle/>
          <a:p>
            <a:pPr defTabSz="1371579"/>
            <a:r>
              <a:rPr lang="en-US" sz="2700" b="1" dirty="0">
                <a:solidFill>
                  <a:srgbClr val="FD9F4D"/>
                </a:solidFill>
                <a:latin typeface="Calibri" panose="020F0502020204030204"/>
              </a:rPr>
              <a:t>Personality </a:t>
            </a:r>
          </a:p>
        </p:txBody>
      </p:sp>
      <p:sp>
        <p:nvSpPr>
          <p:cNvPr id="34" name="Rectangle 33"/>
          <p:cNvSpPr/>
          <p:nvPr/>
        </p:nvSpPr>
        <p:spPr>
          <a:xfrm>
            <a:off x="14158195" y="1437388"/>
            <a:ext cx="2049536" cy="520667"/>
          </a:xfrm>
          <a:prstGeom prst="rect">
            <a:avLst/>
          </a:prstGeom>
        </p:spPr>
        <p:txBody>
          <a:bodyPr wrap="none">
            <a:spAutoFit/>
          </a:bodyPr>
          <a:lstStyle/>
          <a:p>
            <a:pPr defTabSz="1371579"/>
            <a:r>
              <a:rPr lang="en-US" sz="2700" b="1" dirty="0">
                <a:solidFill>
                  <a:srgbClr val="FD9F4D"/>
                </a:solidFill>
                <a:latin typeface="Calibri" panose="020F0502020204030204"/>
              </a:rPr>
              <a:t>Motivations </a:t>
            </a:r>
          </a:p>
        </p:txBody>
      </p:sp>
      <p:sp>
        <p:nvSpPr>
          <p:cNvPr id="5" name="TextBox 4"/>
          <p:cNvSpPr txBox="1"/>
          <p:nvPr/>
        </p:nvSpPr>
        <p:spPr>
          <a:xfrm>
            <a:off x="457200" y="4435832"/>
            <a:ext cx="4497266" cy="1088668"/>
          </a:xfrm>
          <a:prstGeom prst="rect">
            <a:avLst/>
          </a:prstGeom>
          <a:noFill/>
        </p:spPr>
        <p:txBody>
          <a:bodyPr wrap="square" rtlCol="0">
            <a:spAutoFit/>
          </a:bodyPr>
          <a:lstStyle/>
          <a:p>
            <a:pPr defTabSz="1371579"/>
            <a:r>
              <a:rPr lang="en-US" sz="2100" dirty="0">
                <a:solidFill>
                  <a:srgbClr val="052B3E"/>
                </a:solidFill>
                <a:latin typeface="Calibri" panose="020F0502020204030204"/>
              </a:rPr>
              <a:t>Age: 35</a:t>
            </a:r>
          </a:p>
          <a:p>
            <a:pPr defTabSz="1371579"/>
            <a:r>
              <a:rPr lang="en-US" sz="2100" dirty="0">
                <a:solidFill>
                  <a:srgbClr val="052B3E"/>
                </a:solidFill>
                <a:latin typeface="Calibri" panose="020F0502020204030204"/>
              </a:rPr>
              <a:t>Occupation: Family Business 	</a:t>
            </a:r>
          </a:p>
          <a:p>
            <a:pPr defTabSz="1371579"/>
            <a:r>
              <a:rPr lang="en-US" sz="2100" dirty="0">
                <a:solidFill>
                  <a:srgbClr val="052B3E"/>
                </a:solidFill>
                <a:latin typeface="Calibri" panose="020F0502020204030204"/>
              </a:rPr>
              <a:t>Location: Bengaluru</a:t>
            </a:r>
          </a:p>
        </p:txBody>
      </p:sp>
      <p:sp>
        <p:nvSpPr>
          <p:cNvPr id="25" name="Rounded Rectangle 24"/>
          <p:cNvSpPr/>
          <p:nvPr/>
        </p:nvSpPr>
        <p:spPr>
          <a:xfrm>
            <a:off x="6270301" y="1285996"/>
            <a:ext cx="2354642" cy="5671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defTabSz="1371579"/>
            <a:r>
              <a:rPr lang="en-US" sz="1650" dirty="0" err="1">
                <a:solidFill>
                  <a:schemeClr val="tx1"/>
                </a:solidFill>
                <a:latin typeface="Calibri" panose="020F0502020204030204"/>
              </a:rPr>
              <a:t>Responsilbe</a:t>
            </a:r>
            <a:endParaRPr lang="en-US" sz="1650" dirty="0">
              <a:solidFill>
                <a:schemeClr val="tx1"/>
              </a:solidFill>
              <a:latin typeface="Calibri" panose="020F0502020204030204"/>
            </a:endParaRPr>
          </a:p>
        </p:txBody>
      </p:sp>
      <p:pic>
        <p:nvPicPr>
          <p:cNvPr id="13" name="Picture 12"/>
          <p:cNvPicPr>
            <a:picLocks noChangeAspect="1"/>
          </p:cNvPicPr>
          <p:nvPr/>
        </p:nvPicPr>
        <p:blipFill>
          <a:blip r:embed="rId3">
            <a:duotone>
              <a:prstClr val="black"/>
              <a:schemeClr val="accent6">
                <a:tint val="45000"/>
                <a:satMod val="400000"/>
              </a:schemeClr>
            </a:duotone>
          </a:blip>
          <a:stretch>
            <a:fillRect/>
          </a:stretch>
        </p:blipFill>
        <p:spPr>
          <a:xfrm>
            <a:off x="609487" y="6134100"/>
            <a:ext cx="3553359" cy="2187914"/>
          </a:xfrm>
          <a:prstGeom prst="rect">
            <a:avLst/>
          </a:prstGeom>
        </p:spPr>
      </p:pic>
      <p:pic>
        <p:nvPicPr>
          <p:cNvPr id="15" name="Picture 14"/>
          <p:cNvPicPr>
            <a:picLocks noChangeAspect="1"/>
          </p:cNvPicPr>
          <p:nvPr/>
        </p:nvPicPr>
        <p:blipFill>
          <a:blip r:embed="rId4">
            <a:duotone>
              <a:prstClr val="black"/>
              <a:schemeClr val="accent3">
                <a:tint val="45000"/>
                <a:satMod val="400000"/>
              </a:schemeClr>
            </a:duotone>
          </a:blip>
          <a:stretch>
            <a:fillRect/>
          </a:stretch>
        </p:blipFill>
        <p:spPr>
          <a:xfrm>
            <a:off x="14310982" y="1853155"/>
            <a:ext cx="3254332" cy="2498557"/>
          </a:xfrm>
          <a:prstGeom prst="rect">
            <a:avLst/>
          </a:prstGeom>
        </p:spPr>
      </p:pic>
      <p:sp>
        <p:nvSpPr>
          <p:cNvPr id="16" name="Rectangle 15"/>
          <p:cNvSpPr/>
          <p:nvPr/>
        </p:nvSpPr>
        <p:spPr>
          <a:xfrm>
            <a:off x="381000" y="2019300"/>
            <a:ext cx="4093839" cy="19590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371579"/>
            <a:r>
              <a:rPr lang="en-US" sz="2100" b="1" dirty="0">
                <a:solidFill>
                  <a:prstClr val="white"/>
                </a:solidFill>
                <a:latin typeface="Calibri" panose="020F0502020204030204"/>
              </a:rPr>
              <a:t>Ethos : He is a responsible and practical individual who values stability, minimizes waste, and prefers reliable cost-effective solutions to support his family’s long-term well-being.</a:t>
            </a:r>
          </a:p>
        </p:txBody>
      </p:sp>
      <p:sp>
        <p:nvSpPr>
          <p:cNvPr id="17" name="TextBox 16"/>
          <p:cNvSpPr txBox="1"/>
          <p:nvPr/>
        </p:nvSpPr>
        <p:spPr>
          <a:xfrm>
            <a:off x="486195" y="339098"/>
            <a:ext cx="11351228" cy="840230"/>
          </a:xfrm>
          <a:prstGeom prst="rect">
            <a:avLst/>
          </a:prstGeom>
          <a:noFill/>
        </p:spPr>
        <p:txBody>
          <a:bodyPr wrap="square" rtlCol="0">
            <a:spAutoFit/>
          </a:bodyPr>
          <a:lstStyle/>
          <a:p>
            <a:pPr defTabSz="1371613">
              <a:lnSpc>
                <a:spcPct val="90000"/>
              </a:lnSpc>
              <a:spcBef>
                <a:spcPct val="0"/>
              </a:spcBef>
            </a:pPr>
            <a:r>
              <a:rPr lang="en-US" sz="5400" b="1" dirty="0"/>
              <a:t>Customer Persona</a:t>
            </a:r>
          </a:p>
        </p:txBody>
      </p:sp>
      <p:sp>
        <p:nvSpPr>
          <p:cNvPr id="18" name="Rounded Rectangle 17"/>
          <p:cNvSpPr/>
          <p:nvPr/>
        </p:nvSpPr>
        <p:spPr>
          <a:xfrm>
            <a:off x="8777729" y="1285995"/>
            <a:ext cx="2354642" cy="5671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defTabSz="1371579"/>
            <a:r>
              <a:rPr lang="en-US" sz="1650" dirty="0">
                <a:solidFill>
                  <a:schemeClr val="tx1"/>
                </a:solidFill>
                <a:latin typeface="Calibri" panose="020F0502020204030204"/>
              </a:rPr>
              <a:t>Environment conscious</a:t>
            </a:r>
          </a:p>
        </p:txBody>
      </p:sp>
      <p:sp>
        <p:nvSpPr>
          <p:cNvPr id="19" name="Rounded Rectangle 18"/>
          <p:cNvSpPr/>
          <p:nvPr/>
        </p:nvSpPr>
        <p:spPr>
          <a:xfrm>
            <a:off x="11285158" y="1285993"/>
            <a:ext cx="2354642" cy="5671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defTabSz="1371579"/>
            <a:r>
              <a:rPr lang="en-US" sz="1650" dirty="0">
                <a:solidFill>
                  <a:schemeClr val="tx1"/>
                </a:solidFill>
                <a:latin typeface="Calibri" panose="020F0502020204030204"/>
              </a:rPr>
              <a:t>Tech-friendly</a:t>
            </a:r>
          </a:p>
        </p:txBody>
      </p:sp>
    </p:spTree>
    <p:extLst>
      <p:ext uri="{BB962C8B-B14F-4D97-AF65-F5344CB8AC3E}">
        <p14:creationId xmlns:p14="http://schemas.microsoft.com/office/powerpoint/2010/main" val="3605066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5"/>
          <p:cNvSpPr txBox="1"/>
          <p:nvPr/>
        </p:nvSpPr>
        <p:spPr>
          <a:xfrm>
            <a:off x="738845" y="546240"/>
            <a:ext cx="12338484" cy="1019574"/>
          </a:xfrm>
          <a:prstGeom prst="rect">
            <a:avLst/>
          </a:prstGeom>
        </p:spPr>
        <p:txBody>
          <a:bodyPr wrap="square" lIns="0" tIns="0" rIns="0" bIns="0" rtlCol="0" anchor="t">
            <a:spAutoFit/>
          </a:bodyPr>
          <a:lstStyle/>
          <a:p>
            <a:pPr>
              <a:lnSpc>
                <a:spcPts val="8747"/>
              </a:lnSpc>
            </a:pPr>
            <a:r>
              <a:rPr lang="en-US" sz="5400" b="1" dirty="0"/>
              <a:t>Value Proposition Canvas </a:t>
            </a:r>
          </a:p>
        </p:txBody>
      </p:sp>
      <p:sp>
        <p:nvSpPr>
          <p:cNvPr id="37" name="Rectangle 36">
            <a:extLst>
              <a:ext uri="{FF2B5EF4-FFF2-40B4-BE49-F238E27FC236}">
                <a16:creationId xmlns:a16="http://schemas.microsoft.com/office/drawing/2014/main" id="{5DE34494-019C-4AF1-907B-33245967C575}"/>
              </a:ext>
            </a:extLst>
          </p:cNvPr>
          <p:cNvSpPr/>
          <p:nvPr/>
        </p:nvSpPr>
        <p:spPr>
          <a:xfrm>
            <a:off x="16120030" y="150126"/>
            <a:ext cx="1695221" cy="1288685"/>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grpSp>
        <p:nvGrpSpPr>
          <p:cNvPr id="7" name="Group 6"/>
          <p:cNvGrpSpPr/>
          <p:nvPr/>
        </p:nvGrpSpPr>
        <p:grpSpPr>
          <a:xfrm>
            <a:off x="1257989" y="2168971"/>
            <a:ext cx="14862812" cy="6107272"/>
            <a:chOff x="993509" y="1275171"/>
            <a:chExt cx="6765358" cy="3556846"/>
          </a:xfrm>
        </p:grpSpPr>
        <p:grpSp>
          <p:nvGrpSpPr>
            <p:cNvPr id="14" name="Group 13"/>
            <p:cNvGrpSpPr/>
            <p:nvPr/>
          </p:nvGrpSpPr>
          <p:grpSpPr>
            <a:xfrm>
              <a:off x="2991814" y="2419869"/>
              <a:ext cx="2911566" cy="1229114"/>
              <a:chOff x="587719" y="1125830"/>
              <a:chExt cx="4350054" cy="1835386"/>
            </a:xfrm>
          </p:grpSpPr>
          <p:grpSp>
            <p:nvGrpSpPr>
              <p:cNvPr id="15" name="Group 14"/>
              <p:cNvGrpSpPr/>
              <p:nvPr/>
            </p:nvGrpSpPr>
            <p:grpSpPr>
              <a:xfrm>
                <a:off x="2884450" y="1125830"/>
                <a:ext cx="2053323" cy="1828800"/>
                <a:chOff x="2884450" y="1125830"/>
                <a:chExt cx="2053323" cy="1828800"/>
              </a:xfrm>
            </p:grpSpPr>
            <p:sp>
              <p:nvSpPr>
                <p:cNvPr id="25" name="Flowchart: Connector 24"/>
                <p:cNvSpPr/>
                <p:nvPr/>
              </p:nvSpPr>
              <p:spPr>
                <a:xfrm>
                  <a:off x="2884450" y="1125830"/>
                  <a:ext cx="1828800" cy="1828800"/>
                </a:xfrm>
                <a:prstGeom prst="flowChartConnector">
                  <a:avLst/>
                </a:prstGeom>
                <a:solidFill>
                  <a:srgbClr val="FFC000">
                    <a:lumMod val="60000"/>
                    <a:lumOff val="40000"/>
                  </a:srgbClr>
                </a:solidFill>
                <a:ln w="6350" cap="flat" cmpd="sng" algn="ctr">
                  <a:noFill/>
                  <a:prstDash val="solid"/>
                  <a:miter lim="800000"/>
                </a:ln>
                <a:effectLst/>
              </p:spPr>
              <p:txBody>
                <a:bodyPr rtlCol="0" anchor="ctr"/>
                <a:lstStyle/>
                <a:p>
                  <a:pPr marL="0" marR="0" lvl="0" indent="0" algn="ctr" defTabSz="685783" eaLnBrk="1" fontAlgn="auto" latinLnBrk="0" hangingPunct="1">
                    <a:lnSpc>
                      <a:spcPct val="100000"/>
                    </a:lnSpc>
                    <a:spcBef>
                      <a:spcPts val="0"/>
                    </a:spcBef>
                    <a:spcAft>
                      <a:spcPts val="0"/>
                    </a:spcAft>
                    <a:buClrTx/>
                    <a:buSzTx/>
                    <a:buFont typeface="Arial"/>
                    <a:buNone/>
                    <a:tabLst/>
                    <a:defRPr/>
                  </a:pPr>
                  <a:endParaRPr kumimoji="0" lang="en-US" sz="3200" b="0" i="0" u="none" strike="noStrike" kern="0" cap="none" spc="0" normalizeH="0" baseline="0" noProof="0">
                    <a:ln>
                      <a:noFill/>
                    </a:ln>
                    <a:solidFill>
                      <a:prstClr val="black"/>
                    </a:solidFill>
                    <a:effectLst/>
                    <a:uLnTx/>
                    <a:uFillTx/>
                    <a:latin typeface="Calibri" panose="020F0502020204030204"/>
                    <a:ea typeface="+mn-ea"/>
                    <a:cs typeface="+mn-cs"/>
                    <a:sym typeface="Arial"/>
                  </a:endParaRPr>
                </a:p>
              </p:txBody>
            </p:sp>
            <p:sp>
              <p:nvSpPr>
                <p:cNvPr id="26" name="Flowchart: Connector 25"/>
                <p:cNvSpPr/>
                <p:nvPr/>
              </p:nvSpPr>
              <p:spPr>
                <a:xfrm>
                  <a:off x="3646450" y="1887830"/>
                  <a:ext cx="304800" cy="304800"/>
                </a:xfrm>
                <a:prstGeom prst="flowChartConnector">
                  <a:avLst/>
                </a:prstGeom>
                <a:solidFill>
                  <a:srgbClr val="FFC000"/>
                </a:solidFill>
                <a:ln w="12700" cap="flat" cmpd="sng" algn="ctr">
                  <a:noFill/>
                  <a:prstDash val="solid"/>
                  <a:miter lim="800000"/>
                </a:ln>
                <a:effectLst/>
              </p:spPr>
              <p:txBody>
                <a:bodyPr rtlCol="0" anchor="ctr"/>
                <a:lstStyle/>
                <a:p>
                  <a:pPr marL="0" marR="0" lvl="0" indent="0" algn="ctr" defTabSz="685783" eaLnBrk="1" fontAlgn="auto" latinLnBrk="0" hangingPunct="1">
                    <a:lnSpc>
                      <a:spcPct val="100000"/>
                    </a:lnSpc>
                    <a:spcBef>
                      <a:spcPts val="0"/>
                    </a:spcBef>
                    <a:spcAft>
                      <a:spcPts val="0"/>
                    </a:spcAft>
                    <a:buClrTx/>
                    <a:buSzTx/>
                    <a:buFont typeface="Arial"/>
                    <a:buNone/>
                    <a:tabLst/>
                    <a:defRPr/>
                  </a:pPr>
                  <a:endParaRPr kumimoji="0" lang="en-US" sz="32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cxnSp>
              <p:nvCxnSpPr>
                <p:cNvPr id="27" name="Straight Arrow Connector 26"/>
                <p:cNvCxnSpPr>
                  <a:endCxn id="25" idx="2"/>
                </p:cNvCxnSpPr>
                <p:nvPr/>
              </p:nvCxnSpPr>
              <p:spPr>
                <a:xfrm flipH="1">
                  <a:off x="2884450" y="2040230"/>
                  <a:ext cx="762000" cy="0"/>
                </a:xfrm>
                <a:prstGeom prst="straightConnector1">
                  <a:avLst/>
                </a:prstGeom>
                <a:noFill/>
                <a:ln w="38100" cap="flat" cmpd="sng" algn="ctr">
                  <a:solidFill>
                    <a:srgbClr val="A5A5A5"/>
                  </a:solidFill>
                  <a:prstDash val="solid"/>
                  <a:miter lim="800000"/>
                  <a:tailEnd type="triangle"/>
                </a:ln>
                <a:effectLst/>
              </p:spPr>
            </p:cxnSp>
            <p:cxnSp>
              <p:nvCxnSpPr>
                <p:cNvPr id="28" name="Straight Connector 27"/>
                <p:cNvCxnSpPr>
                  <a:stCxn id="25" idx="7"/>
                  <a:endCxn id="26" idx="0"/>
                </p:cNvCxnSpPr>
                <p:nvPr/>
              </p:nvCxnSpPr>
              <p:spPr>
                <a:xfrm flipH="1">
                  <a:off x="3798850" y="1393652"/>
                  <a:ext cx="646578" cy="494178"/>
                </a:xfrm>
                <a:prstGeom prst="line">
                  <a:avLst/>
                </a:prstGeom>
                <a:noFill/>
                <a:ln w="28575" cap="flat" cmpd="sng" algn="ctr">
                  <a:solidFill>
                    <a:srgbClr val="A5A5A5"/>
                  </a:solidFill>
                  <a:prstDash val="solid"/>
                  <a:miter lim="800000"/>
                </a:ln>
                <a:effectLst/>
              </p:spPr>
            </p:cxnSp>
            <p:cxnSp>
              <p:nvCxnSpPr>
                <p:cNvPr id="29" name="Straight Connector 28"/>
                <p:cNvCxnSpPr>
                  <a:stCxn id="25" idx="5"/>
                  <a:endCxn id="26" idx="4"/>
                </p:cNvCxnSpPr>
                <p:nvPr/>
              </p:nvCxnSpPr>
              <p:spPr>
                <a:xfrm flipH="1" flipV="1">
                  <a:off x="3798850" y="2192630"/>
                  <a:ext cx="646578" cy="494178"/>
                </a:xfrm>
                <a:prstGeom prst="line">
                  <a:avLst/>
                </a:prstGeom>
                <a:noFill/>
                <a:ln w="28575" cap="flat" cmpd="sng" algn="ctr">
                  <a:solidFill>
                    <a:srgbClr val="A5A5A5"/>
                  </a:solidFill>
                  <a:prstDash val="solid"/>
                  <a:miter lim="800000"/>
                </a:ln>
                <a:effectLst/>
              </p:spPr>
            </p:cxnSp>
            <p:sp>
              <p:nvSpPr>
                <p:cNvPr id="30" name="TextBox 29"/>
                <p:cNvSpPr txBox="1"/>
                <p:nvPr/>
              </p:nvSpPr>
              <p:spPr>
                <a:xfrm>
                  <a:off x="4063533" y="1920026"/>
                  <a:ext cx="874240" cy="321196"/>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a:ln>
                        <a:noFill/>
                      </a:ln>
                      <a:solidFill>
                        <a:srgbClr val="ED7D31">
                          <a:lumMod val="50000"/>
                        </a:srgbClr>
                      </a:solidFill>
                      <a:effectLst/>
                      <a:uLnTx/>
                      <a:uFillTx/>
                      <a:cs typeface="Arial"/>
                      <a:sym typeface="Arial"/>
                    </a:rPr>
                    <a:t>JOBS</a:t>
                  </a:r>
                </a:p>
              </p:txBody>
            </p:sp>
            <p:sp>
              <p:nvSpPr>
                <p:cNvPr id="31" name="TextBox 30"/>
                <p:cNvSpPr txBox="1"/>
                <p:nvPr/>
              </p:nvSpPr>
              <p:spPr>
                <a:xfrm>
                  <a:off x="3355370" y="2351186"/>
                  <a:ext cx="874240" cy="321196"/>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a:ln>
                        <a:noFill/>
                      </a:ln>
                      <a:solidFill>
                        <a:srgbClr val="ED7D31">
                          <a:lumMod val="50000"/>
                        </a:srgbClr>
                      </a:solidFill>
                      <a:effectLst/>
                      <a:uLnTx/>
                      <a:uFillTx/>
                      <a:cs typeface="Arial"/>
                      <a:sym typeface="Arial"/>
                    </a:rPr>
                    <a:t>PAINS</a:t>
                  </a:r>
                </a:p>
              </p:txBody>
            </p:sp>
            <p:sp>
              <p:nvSpPr>
                <p:cNvPr id="32" name="TextBox 31"/>
                <p:cNvSpPr txBox="1"/>
                <p:nvPr/>
              </p:nvSpPr>
              <p:spPr>
                <a:xfrm>
                  <a:off x="3315382" y="1377593"/>
                  <a:ext cx="874240" cy="321196"/>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a:ln>
                        <a:noFill/>
                      </a:ln>
                      <a:solidFill>
                        <a:srgbClr val="ED7D31">
                          <a:lumMod val="50000"/>
                        </a:srgbClr>
                      </a:solidFill>
                      <a:effectLst/>
                      <a:uLnTx/>
                      <a:uFillTx/>
                      <a:cs typeface="Arial"/>
                      <a:sym typeface="Arial"/>
                    </a:rPr>
                    <a:t>GAINS</a:t>
                  </a:r>
                </a:p>
              </p:txBody>
            </p:sp>
          </p:grpSp>
          <p:grpSp>
            <p:nvGrpSpPr>
              <p:cNvPr id="16" name="Group 15"/>
              <p:cNvGrpSpPr/>
              <p:nvPr/>
            </p:nvGrpSpPr>
            <p:grpSpPr>
              <a:xfrm>
                <a:off x="587719" y="1125830"/>
                <a:ext cx="2080915" cy="1835386"/>
                <a:chOff x="587719" y="1125830"/>
                <a:chExt cx="2080915" cy="1835386"/>
              </a:xfrm>
            </p:grpSpPr>
            <p:sp>
              <p:nvSpPr>
                <p:cNvPr id="17" name="Rectangle 16"/>
                <p:cNvSpPr/>
                <p:nvPr/>
              </p:nvSpPr>
              <p:spPr>
                <a:xfrm>
                  <a:off x="653143" y="1125830"/>
                  <a:ext cx="1828800" cy="1828800"/>
                </a:xfrm>
                <a:prstGeom prst="rect">
                  <a:avLst/>
                </a:prstGeom>
                <a:solidFill>
                  <a:srgbClr val="70AD47">
                    <a:lumMod val="60000"/>
                    <a:lumOff val="40000"/>
                  </a:srgbClr>
                </a:solidFill>
                <a:ln w="12700" cap="flat" cmpd="sng" algn="ctr">
                  <a:noFill/>
                  <a:prstDash val="solid"/>
                  <a:miter lim="800000"/>
                </a:ln>
                <a:effectLst/>
              </p:spPr>
              <p:txBody>
                <a:bodyPr rtlCol="0" anchor="ctr"/>
                <a:lstStyle/>
                <a:p>
                  <a:pPr marL="0" marR="0" lvl="0" indent="0" algn="ctr" defTabSz="685783" eaLnBrk="1" fontAlgn="auto" latinLnBrk="0" hangingPunct="1">
                    <a:lnSpc>
                      <a:spcPct val="100000"/>
                    </a:lnSpc>
                    <a:spcBef>
                      <a:spcPts val="0"/>
                    </a:spcBef>
                    <a:spcAft>
                      <a:spcPts val="0"/>
                    </a:spcAft>
                    <a:buClrTx/>
                    <a:buSzTx/>
                    <a:buFont typeface="Arial"/>
                    <a:buNone/>
                    <a:tabLst/>
                    <a:defRPr/>
                  </a:pPr>
                  <a:endParaRPr kumimoji="0" lang="en-US" sz="32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8" name="Flowchart: Connector 17"/>
                <p:cNvSpPr/>
                <p:nvPr/>
              </p:nvSpPr>
              <p:spPr>
                <a:xfrm>
                  <a:off x="1415143" y="1891123"/>
                  <a:ext cx="304800" cy="304800"/>
                </a:xfrm>
                <a:prstGeom prst="flowChartConnector">
                  <a:avLst/>
                </a:prstGeom>
                <a:solidFill>
                  <a:srgbClr val="70AD47">
                    <a:lumMod val="75000"/>
                  </a:srgbClr>
                </a:solidFill>
                <a:ln w="12700" cap="flat" cmpd="sng" algn="ctr">
                  <a:noFill/>
                  <a:prstDash val="solid"/>
                  <a:miter lim="800000"/>
                </a:ln>
                <a:effectLst/>
              </p:spPr>
              <p:txBody>
                <a:bodyPr rtlCol="0" anchor="ctr"/>
                <a:lstStyle/>
                <a:p>
                  <a:pPr marL="0" marR="0" lvl="0" indent="0" algn="ctr" defTabSz="685783" eaLnBrk="1" fontAlgn="auto" latinLnBrk="0" hangingPunct="1">
                    <a:lnSpc>
                      <a:spcPct val="100000"/>
                    </a:lnSpc>
                    <a:spcBef>
                      <a:spcPts val="0"/>
                    </a:spcBef>
                    <a:spcAft>
                      <a:spcPts val="0"/>
                    </a:spcAft>
                    <a:buClrTx/>
                    <a:buSzTx/>
                    <a:buFont typeface="Arial"/>
                    <a:buNone/>
                    <a:tabLst/>
                    <a:defRPr/>
                  </a:pPr>
                  <a:endParaRPr kumimoji="0" lang="en-US" sz="32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cxnSp>
              <p:nvCxnSpPr>
                <p:cNvPr id="19" name="Straight Arrow Connector 18"/>
                <p:cNvCxnSpPr>
                  <a:endCxn id="17" idx="3"/>
                </p:cNvCxnSpPr>
                <p:nvPr/>
              </p:nvCxnSpPr>
              <p:spPr>
                <a:xfrm>
                  <a:off x="1738265" y="2040230"/>
                  <a:ext cx="743678" cy="0"/>
                </a:xfrm>
                <a:prstGeom prst="straightConnector1">
                  <a:avLst/>
                </a:prstGeom>
                <a:noFill/>
                <a:ln w="38100" cap="flat" cmpd="sng" algn="ctr">
                  <a:solidFill>
                    <a:srgbClr val="A5A5A5"/>
                  </a:solidFill>
                  <a:prstDash val="solid"/>
                  <a:miter lim="800000"/>
                  <a:tailEnd type="triangle"/>
                </a:ln>
                <a:effectLst/>
              </p:spPr>
            </p:cxnSp>
            <p:cxnSp>
              <p:nvCxnSpPr>
                <p:cNvPr id="20" name="Straight Connector 19"/>
                <p:cNvCxnSpPr>
                  <a:stCxn id="18" idx="0"/>
                </p:cNvCxnSpPr>
                <p:nvPr/>
              </p:nvCxnSpPr>
              <p:spPr>
                <a:xfrm flipH="1" flipV="1">
                  <a:off x="653143" y="1125830"/>
                  <a:ext cx="914400" cy="765293"/>
                </a:xfrm>
                <a:prstGeom prst="line">
                  <a:avLst/>
                </a:prstGeom>
                <a:noFill/>
                <a:ln w="38100" cap="flat" cmpd="sng" algn="ctr">
                  <a:solidFill>
                    <a:srgbClr val="A5A5A5"/>
                  </a:solidFill>
                  <a:prstDash val="solid"/>
                  <a:miter lim="800000"/>
                </a:ln>
                <a:effectLst/>
              </p:spPr>
            </p:cxnSp>
            <p:cxnSp>
              <p:nvCxnSpPr>
                <p:cNvPr id="21" name="Straight Connector 20"/>
                <p:cNvCxnSpPr/>
                <p:nvPr/>
              </p:nvCxnSpPr>
              <p:spPr>
                <a:xfrm flipH="1">
                  <a:off x="653143" y="2202509"/>
                  <a:ext cx="925766" cy="758707"/>
                </a:xfrm>
                <a:prstGeom prst="line">
                  <a:avLst/>
                </a:prstGeom>
                <a:noFill/>
                <a:ln w="38100" cap="flat" cmpd="sng" algn="ctr">
                  <a:solidFill>
                    <a:srgbClr val="A5A5A5"/>
                  </a:solidFill>
                  <a:prstDash val="solid"/>
                  <a:miter lim="800000"/>
                </a:ln>
                <a:effectLst/>
              </p:spPr>
            </p:cxnSp>
            <p:sp>
              <p:nvSpPr>
                <p:cNvPr id="22" name="TextBox 21"/>
                <p:cNvSpPr txBox="1"/>
                <p:nvPr/>
              </p:nvSpPr>
              <p:spPr>
                <a:xfrm>
                  <a:off x="1298136" y="1377594"/>
                  <a:ext cx="1277154" cy="321196"/>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a:ln>
                        <a:noFill/>
                      </a:ln>
                      <a:solidFill>
                        <a:srgbClr val="70AD47">
                          <a:lumMod val="50000"/>
                        </a:srgbClr>
                      </a:solidFill>
                      <a:effectLst/>
                      <a:uLnTx/>
                      <a:uFillTx/>
                      <a:cs typeface="Arial"/>
                      <a:sym typeface="Arial"/>
                    </a:rPr>
                    <a:t>GAIN CREATORS </a:t>
                  </a:r>
                </a:p>
              </p:txBody>
            </p:sp>
            <p:sp>
              <p:nvSpPr>
                <p:cNvPr id="23" name="TextBox 22"/>
                <p:cNvSpPr txBox="1"/>
                <p:nvPr/>
              </p:nvSpPr>
              <p:spPr>
                <a:xfrm>
                  <a:off x="1391480" y="2351187"/>
                  <a:ext cx="1277154" cy="321196"/>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a:ln>
                        <a:noFill/>
                      </a:ln>
                      <a:solidFill>
                        <a:srgbClr val="70AD47">
                          <a:lumMod val="50000"/>
                        </a:srgbClr>
                      </a:solidFill>
                      <a:effectLst/>
                      <a:uLnTx/>
                      <a:uFillTx/>
                      <a:cs typeface="Arial"/>
                      <a:sym typeface="Arial"/>
                    </a:rPr>
                    <a:t>PAIN KILLERS</a:t>
                  </a:r>
                </a:p>
              </p:txBody>
            </p:sp>
            <p:sp>
              <p:nvSpPr>
                <p:cNvPr id="24" name="TextBox 23"/>
                <p:cNvSpPr txBox="1"/>
                <p:nvPr/>
              </p:nvSpPr>
              <p:spPr>
                <a:xfrm>
                  <a:off x="587719" y="1764605"/>
                  <a:ext cx="1277154" cy="562093"/>
                </a:xfrm>
                <a:prstGeom prst="rect">
                  <a:avLst/>
                </a:prstGeom>
                <a:noFill/>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a:ln>
                        <a:noFill/>
                      </a:ln>
                      <a:solidFill>
                        <a:srgbClr val="70AD47">
                          <a:lumMod val="50000"/>
                        </a:srgbClr>
                      </a:solidFill>
                      <a:effectLst/>
                      <a:uLnTx/>
                      <a:uFillTx/>
                      <a:cs typeface="Arial"/>
                      <a:sym typeface="Arial"/>
                    </a:rPr>
                    <a:t>PRODUCT/ </a:t>
                  </a:r>
                </a:p>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b="1" i="0" u="none" strike="noStrike" kern="0" cap="none" spc="0" normalizeH="0" baseline="0" noProof="0">
                      <a:ln>
                        <a:noFill/>
                      </a:ln>
                      <a:solidFill>
                        <a:srgbClr val="70AD47">
                          <a:lumMod val="50000"/>
                        </a:srgbClr>
                      </a:solidFill>
                      <a:effectLst/>
                      <a:uLnTx/>
                      <a:uFillTx/>
                      <a:cs typeface="Arial"/>
                      <a:sym typeface="Arial"/>
                    </a:rPr>
                    <a:t>SERVICE</a:t>
                  </a:r>
                </a:p>
              </p:txBody>
            </p:sp>
          </p:grpSp>
        </p:grpSp>
        <p:cxnSp>
          <p:nvCxnSpPr>
            <p:cNvPr id="33" name="Straight Connector 32"/>
            <p:cNvCxnSpPr/>
            <p:nvPr/>
          </p:nvCxnSpPr>
          <p:spPr>
            <a:xfrm flipV="1">
              <a:off x="3639097" y="1771429"/>
              <a:ext cx="7608" cy="648440"/>
            </a:xfrm>
            <a:prstGeom prst="line">
              <a:avLst/>
            </a:prstGeom>
            <a:noFill/>
            <a:ln w="19050" cap="flat" cmpd="sng" algn="ctr">
              <a:solidFill>
                <a:srgbClr val="70AD47"/>
              </a:solidFill>
              <a:prstDash val="solid"/>
              <a:miter lim="800000"/>
            </a:ln>
            <a:effectLst/>
          </p:spPr>
        </p:cxnSp>
        <p:cxnSp>
          <p:nvCxnSpPr>
            <p:cNvPr id="34" name="Straight Connector 33"/>
            <p:cNvCxnSpPr/>
            <p:nvPr/>
          </p:nvCxnSpPr>
          <p:spPr>
            <a:xfrm flipH="1" flipV="1">
              <a:off x="2949027" y="1775840"/>
              <a:ext cx="706208" cy="6152"/>
            </a:xfrm>
            <a:prstGeom prst="line">
              <a:avLst/>
            </a:prstGeom>
            <a:noFill/>
            <a:ln w="19050" cap="flat" cmpd="sng" algn="ctr">
              <a:solidFill>
                <a:srgbClr val="70AD47"/>
              </a:solidFill>
              <a:prstDash val="solid"/>
              <a:miter lim="800000"/>
            </a:ln>
            <a:effectLst/>
          </p:spPr>
        </p:cxnSp>
        <p:sp>
          <p:nvSpPr>
            <p:cNvPr id="35" name="TextBox 34"/>
            <p:cNvSpPr txBox="1"/>
            <p:nvPr/>
          </p:nvSpPr>
          <p:spPr>
            <a:xfrm>
              <a:off x="993509" y="1343410"/>
              <a:ext cx="1949094" cy="806614"/>
            </a:xfrm>
            <a:prstGeom prst="rect">
              <a:avLst/>
            </a:prstGeom>
            <a:noFill/>
            <a:ln>
              <a:solidFill>
                <a:srgbClr val="E7E6E6">
                  <a:lumMod val="50000"/>
                </a:srgbClr>
              </a:solidFill>
            </a:ln>
          </p:spPr>
          <p:txBody>
            <a:bodyPr wrap="square" rtlCol="0">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Arial"/>
                </a:rPr>
                <a:t> </a:t>
              </a:r>
            </a:p>
            <a:p>
              <a:pPr marL="128585" marR="0" lvl="0" indent="-128585"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pt-BR" sz="1400" b="0" i="1" u="none" strike="noStrike" kern="0" cap="none" spc="0" normalizeH="0" baseline="0" noProof="0" dirty="0">
                  <a:ln>
                    <a:noFill/>
                  </a:ln>
                  <a:solidFill>
                    <a:prstClr val="black"/>
                  </a:solidFill>
                  <a:effectLst/>
                  <a:uLnTx/>
                  <a:uFillTx/>
                  <a:cs typeface="Arial"/>
                  <a:sym typeface="Arial"/>
                </a:rPr>
                <a:t>What do you offer that makes the customers happy?</a:t>
              </a: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0" dirty="0">
                  <a:solidFill>
                    <a:prstClr val="white">
                      <a:lumMod val="50000"/>
                    </a:prstClr>
                  </a:solidFill>
                  <a:cs typeface="Arial"/>
                  <a:sym typeface="Wingdings" panose="05000000000000000000" pitchFamily="2" charset="2"/>
                </a:rPr>
                <a:t>Real-time tracking of water usage.</a:t>
              </a: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Wingdings" panose="05000000000000000000" pitchFamily="2" charset="2"/>
                </a:rPr>
                <a:t>Reduces water </a:t>
              </a:r>
              <a:r>
                <a:rPr kumimoji="0" lang="en-US" sz="1400" b="0" i="0" u="none" strike="noStrike" kern="0" cap="none" spc="0" normalizeH="0" baseline="0" noProof="0" dirty="0" err="1">
                  <a:ln>
                    <a:noFill/>
                  </a:ln>
                  <a:solidFill>
                    <a:prstClr val="white">
                      <a:lumMod val="50000"/>
                    </a:prstClr>
                  </a:solidFill>
                  <a:effectLst/>
                  <a:uLnTx/>
                  <a:uFillTx/>
                  <a:cs typeface="Arial"/>
                  <a:sym typeface="Wingdings" panose="05000000000000000000" pitchFamily="2" charset="2"/>
                </a:rPr>
                <a:t>wa</a:t>
              </a:r>
              <a:r>
                <a:rPr lang="en-US" sz="1400" kern="0" dirty="0">
                  <a:solidFill>
                    <a:prstClr val="white">
                      <a:lumMod val="50000"/>
                    </a:prstClr>
                  </a:solidFill>
                  <a:cs typeface="Arial"/>
                  <a:sym typeface="Wingdings" panose="05000000000000000000" pitchFamily="2" charset="2"/>
                </a:rPr>
                <a:t>stage significantly</a:t>
              </a: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Wingdings" panose="05000000000000000000" pitchFamily="2" charset="2"/>
                </a:rPr>
                <a:t>Saves </a:t>
              </a:r>
              <a:r>
                <a:rPr lang="en-US" sz="1400" kern="0" dirty="0">
                  <a:solidFill>
                    <a:prstClr val="white">
                      <a:lumMod val="50000"/>
                    </a:prstClr>
                  </a:solidFill>
                  <a:cs typeface="Arial"/>
                  <a:sym typeface="Wingdings" panose="05000000000000000000" pitchFamily="2" charset="2"/>
                </a:rPr>
                <a:t>money on water bills</a:t>
              </a: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Wingdings" panose="05000000000000000000" pitchFamily="2" charset="2"/>
                </a:rPr>
                <a:t>Increases awareness of consumption</a:t>
              </a:r>
            </a:p>
          </p:txBody>
        </p:sp>
        <p:cxnSp>
          <p:nvCxnSpPr>
            <p:cNvPr id="38" name="Straight Connector 37"/>
            <p:cNvCxnSpPr/>
            <p:nvPr/>
          </p:nvCxnSpPr>
          <p:spPr>
            <a:xfrm flipV="1">
              <a:off x="3639097" y="3644573"/>
              <a:ext cx="0" cy="385285"/>
            </a:xfrm>
            <a:prstGeom prst="line">
              <a:avLst/>
            </a:prstGeom>
            <a:noFill/>
            <a:ln w="19050" cap="flat" cmpd="sng" algn="ctr">
              <a:solidFill>
                <a:srgbClr val="70AD47"/>
              </a:solidFill>
              <a:prstDash val="solid"/>
              <a:miter lim="800000"/>
            </a:ln>
            <a:effectLst/>
          </p:spPr>
        </p:cxnSp>
        <p:cxnSp>
          <p:nvCxnSpPr>
            <p:cNvPr id="39" name="Straight Connector 38"/>
            <p:cNvCxnSpPr>
              <a:cxnSpLocks/>
            </p:cNvCxnSpPr>
            <p:nvPr/>
          </p:nvCxnSpPr>
          <p:spPr>
            <a:xfrm flipH="1" flipV="1">
              <a:off x="2814378" y="4029857"/>
              <a:ext cx="840857" cy="1839"/>
            </a:xfrm>
            <a:prstGeom prst="line">
              <a:avLst/>
            </a:prstGeom>
            <a:noFill/>
            <a:ln w="19050" cap="flat" cmpd="sng" algn="ctr">
              <a:solidFill>
                <a:srgbClr val="70AD47"/>
              </a:solidFill>
              <a:prstDash val="solid"/>
              <a:miter lim="800000"/>
            </a:ln>
            <a:effectLst/>
          </p:spPr>
        </p:cxnSp>
        <p:sp>
          <p:nvSpPr>
            <p:cNvPr id="40" name="TextBox 39"/>
            <p:cNvSpPr txBox="1"/>
            <p:nvPr/>
          </p:nvSpPr>
          <p:spPr>
            <a:xfrm>
              <a:off x="1010229" y="3648983"/>
              <a:ext cx="1804149" cy="1183034"/>
            </a:xfrm>
            <a:prstGeom prst="rect">
              <a:avLst/>
            </a:prstGeom>
            <a:noFill/>
            <a:ln>
              <a:solidFill>
                <a:srgbClr val="E7E6E6">
                  <a:lumMod val="50000"/>
                </a:srgbClr>
              </a:solidFill>
            </a:ln>
          </p:spPr>
          <p:txBody>
            <a:bodyPr wrap="square" rtlCol="0">
              <a:spAutoFit/>
            </a:bodyPr>
            <a:lstStyle/>
            <a:p>
              <a:pPr marL="128585" marR="0" lvl="0" indent="-128585" defTabSz="685783"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pt-BR" sz="1400" b="0" i="1" u="none" strike="noStrike" kern="0" cap="none" spc="0" normalizeH="0" baseline="0" noProof="0" dirty="0">
                  <a:ln>
                    <a:noFill/>
                  </a:ln>
                  <a:solidFill>
                    <a:prstClr val="black"/>
                  </a:solidFill>
                  <a:effectLst/>
                  <a:uLnTx/>
                  <a:uFillTx/>
                  <a:cs typeface="Arial"/>
                  <a:sym typeface="Arial"/>
                </a:rPr>
                <a:t>Which features of your offering relieve the customer's pains?</a:t>
              </a:r>
              <a:endParaRPr kumimoji="0" lang="en-US" sz="1400" b="0" i="0" u="none" strike="noStrike" kern="0" cap="none" spc="0" normalizeH="0" baseline="0" noProof="0" dirty="0">
                <a:ln>
                  <a:noFill/>
                </a:ln>
                <a:solidFill>
                  <a:prstClr val="black"/>
                </a:solidFill>
                <a:effectLst/>
                <a:uLnTx/>
                <a:uFillTx/>
                <a:cs typeface="Arial"/>
                <a:sym typeface="Arial"/>
              </a:endParaRP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Wingdings" panose="05000000000000000000" pitchFamily="2" charset="2"/>
                </a:rPr>
                <a:t>Detects leaks instantly</a:t>
              </a: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0" dirty="0">
                  <a:solidFill>
                    <a:prstClr val="white">
                      <a:lumMod val="50000"/>
                    </a:prstClr>
                  </a:solidFill>
                  <a:cs typeface="Arial"/>
                  <a:sym typeface="Wingdings" panose="05000000000000000000" pitchFamily="2" charset="2"/>
                </a:rPr>
                <a:t>Alerts users</a:t>
              </a: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Wingdings" panose="05000000000000000000" pitchFamily="2" charset="2"/>
                </a:rPr>
                <a:t>Provides usage d</a:t>
              </a:r>
              <a:r>
                <a:rPr lang="en-US" sz="1400" kern="0" dirty="0" err="1">
                  <a:solidFill>
                    <a:prstClr val="white">
                      <a:lumMod val="50000"/>
                    </a:prstClr>
                  </a:solidFill>
                  <a:cs typeface="Arial"/>
                  <a:sym typeface="Wingdings" panose="05000000000000000000" pitchFamily="2" charset="2"/>
                </a:rPr>
                <a:t>ata</a:t>
              </a:r>
              <a:endParaRPr lang="en-US" sz="1400" kern="0" dirty="0">
                <a:solidFill>
                  <a:prstClr val="white">
                    <a:lumMod val="50000"/>
                  </a:prstClr>
                </a:solidFill>
                <a:cs typeface="Arial"/>
                <a:sym typeface="Wingdings" panose="05000000000000000000" pitchFamily="2" charset="2"/>
              </a:endParaRP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0" dirty="0">
                  <a:solidFill>
                    <a:prstClr val="white">
                      <a:lumMod val="50000"/>
                    </a:prstClr>
                  </a:solidFill>
                  <a:cs typeface="Arial"/>
                  <a:sym typeface="Wingdings" panose="05000000000000000000" pitchFamily="2" charset="2"/>
                </a:rPr>
                <a:t>Prevents tank overflow automatically.</a:t>
              </a: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Wingdings" panose="05000000000000000000" pitchFamily="2" charset="2"/>
                </a:rPr>
                <a:t>Reduces stress related to high bills</a:t>
              </a:r>
            </a:p>
            <a:p>
              <a:pPr marL="0" marR="0" lvl="0" indent="0" defTabSz="685783" eaLnBrk="1" fontAlgn="auto" latinLnBrk="0" hangingPunct="1">
                <a:lnSpc>
                  <a:spcPct val="100000"/>
                </a:lnSpc>
                <a:spcBef>
                  <a:spcPts val="0"/>
                </a:spcBef>
                <a:spcAft>
                  <a:spcPts val="0"/>
                </a:spcAft>
                <a:buClrTx/>
                <a:buSzTx/>
                <a:buFont typeface="Arial"/>
                <a:buNone/>
                <a:tabLst/>
                <a:defRPr/>
              </a:pPr>
              <a:endParaRPr kumimoji="0" lang="en-US" sz="1400" b="0" i="0" u="none" strike="noStrike" kern="0" cap="none" spc="0" normalizeH="0" baseline="0" noProof="0" dirty="0">
                <a:ln>
                  <a:noFill/>
                </a:ln>
                <a:solidFill>
                  <a:prstClr val="white">
                    <a:lumMod val="50000"/>
                  </a:prstClr>
                </a:solidFill>
                <a:effectLst/>
                <a:uLnTx/>
                <a:uFillTx/>
                <a:cs typeface="Arial"/>
                <a:sym typeface="Wingdings" panose="05000000000000000000" pitchFamily="2" charset="2"/>
              </a:endParaRPr>
            </a:p>
            <a:p>
              <a:pPr marL="0" marR="0" lvl="0" indent="0" defTabSz="685783" eaLnBrk="1" fontAlgn="auto" latinLnBrk="0" hangingPunct="1">
                <a:lnSpc>
                  <a:spcPct val="100000"/>
                </a:lnSpc>
                <a:spcBef>
                  <a:spcPts val="0"/>
                </a:spcBef>
                <a:spcAft>
                  <a:spcPts val="0"/>
                </a:spcAft>
                <a:buClrTx/>
                <a:buSzTx/>
                <a:buFont typeface="Arial"/>
                <a:buNone/>
                <a:tabLst/>
                <a:defRPr/>
              </a:pPr>
              <a:endParaRPr kumimoji="0" lang="en-US" sz="1400" b="0" i="0" u="none" strike="noStrike" kern="0" cap="none" spc="0" normalizeH="0" baseline="0" noProof="0" dirty="0">
                <a:ln>
                  <a:noFill/>
                </a:ln>
                <a:solidFill>
                  <a:prstClr val="white">
                    <a:lumMod val="50000"/>
                  </a:prstClr>
                </a:solidFill>
                <a:effectLst/>
                <a:uLnTx/>
                <a:uFillTx/>
                <a:cs typeface="Arial"/>
                <a:sym typeface="Wingdings" panose="05000000000000000000" pitchFamily="2" charset="2"/>
              </a:endParaRPr>
            </a:p>
          </p:txBody>
        </p:sp>
        <p:cxnSp>
          <p:nvCxnSpPr>
            <p:cNvPr id="41" name="Straight Connector 40"/>
            <p:cNvCxnSpPr/>
            <p:nvPr/>
          </p:nvCxnSpPr>
          <p:spPr>
            <a:xfrm flipH="1">
              <a:off x="3515381" y="2838188"/>
              <a:ext cx="36888" cy="0"/>
            </a:xfrm>
            <a:prstGeom prst="line">
              <a:avLst/>
            </a:prstGeom>
            <a:noFill/>
            <a:ln w="19050" cap="flat" cmpd="sng" algn="ctr">
              <a:solidFill>
                <a:srgbClr val="70AD47"/>
              </a:solidFill>
              <a:prstDash val="solid"/>
              <a:miter lim="800000"/>
            </a:ln>
            <a:effectLst/>
          </p:spPr>
        </p:cxnSp>
        <p:cxnSp>
          <p:nvCxnSpPr>
            <p:cNvPr id="42" name="Straight Connector 41"/>
            <p:cNvCxnSpPr/>
            <p:nvPr/>
          </p:nvCxnSpPr>
          <p:spPr>
            <a:xfrm flipV="1">
              <a:off x="2899064" y="2419868"/>
              <a:ext cx="0" cy="1182920"/>
            </a:xfrm>
            <a:prstGeom prst="line">
              <a:avLst/>
            </a:prstGeom>
            <a:noFill/>
            <a:ln w="19050" cap="flat" cmpd="sng" algn="ctr">
              <a:solidFill>
                <a:srgbClr val="70AD47"/>
              </a:solidFill>
              <a:prstDash val="solid"/>
              <a:miter lim="800000"/>
            </a:ln>
            <a:effectLst/>
          </p:spPr>
        </p:cxnSp>
        <p:cxnSp>
          <p:nvCxnSpPr>
            <p:cNvPr id="43" name="Straight Connector 42"/>
            <p:cNvCxnSpPr/>
            <p:nvPr/>
          </p:nvCxnSpPr>
          <p:spPr>
            <a:xfrm flipV="1">
              <a:off x="5141079" y="1771429"/>
              <a:ext cx="0" cy="648440"/>
            </a:xfrm>
            <a:prstGeom prst="line">
              <a:avLst/>
            </a:prstGeom>
            <a:noFill/>
            <a:ln w="19050" cap="flat" cmpd="sng" algn="ctr">
              <a:solidFill>
                <a:srgbClr val="FFC000"/>
              </a:solidFill>
              <a:prstDash val="solid"/>
              <a:miter lim="800000"/>
            </a:ln>
            <a:effectLst/>
          </p:spPr>
        </p:cxnSp>
        <p:cxnSp>
          <p:nvCxnSpPr>
            <p:cNvPr id="44" name="Straight Connector 43"/>
            <p:cNvCxnSpPr>
              <a:cxnSpLocks/>
            </p:cNvCxnSpPr>
            <p:nvPr/>
          </p:nvCxnSpPr>
          <p:spPr>
            <a:xfrm flipH="1">
              <a:off x="5136823" y="1781993"/>
              <a:ext cx="668957" cy="1167"/>
            </a:xfrm>
            <a:prstGeom prst="line">
              <a:avLst/>
            </a:prstGeom>
            <a:noFill/>
            <a:ln w="19050" cap="flat" cmpd="sng" algn="ctr">
              <a:solidFill>
                <a:srgbClr val="FFC000"/>
              </a:solidFill>
              <a:prstDash val="solid"/>
              <a:miter lim="800000"/>
            </a:ln>
            <a:effectLst/>
          </p:spPr>
        </p:cxnSp>
        <p:sp>
          <p:nvSpPr>
            <p:cNvPr id="45" name="TextBox 44"/>
            <p:cNvSpPr txBox="1"/>
            <p:nvPr/>
          </p:nvSpPr>
          <p:spPr>
            <a:xfrm>
              <a:off x="5822840" y="1275171"/>
              <a:ext cx="1936027" cy="667697"/>
            </a:xfrm>
            <a:prstGeom prst="rect">
              <a:avLst/>
            </a:prstGeom>
            <a:noFill/>
            <a:ln>
              <a:solidFill>
                <a:srgbClr val="E7E6E6">
                  <a:lumMod val="50000"/>
                </a:srgbClr>
              </a:solidFill>
            </a:ln>
          </p:spPr>
          <p:txBody>
            <a:bodyPr wrap="square" lIns="68580" tIns="34290" rIns="68580" bIns="34290" rtlCol="0" anchor="t">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Arial"/>
                </a:rPr>
                <a:t>I would </a:t>
              </a:r>
              <a:r>
                <a:rPr kumimoji="0" lang="en-US" sz="1400" b="1" i="0" u="none" strike="noStrike" kern="0" cap="none" spc="0" normalizeH="0" baseline="0" noProof="0" dirty="0">
                  <a:ln>
                    <a:noFill/>
                  </a:ln>
                  <a:solidFill>
                    <a:prstClr val="white">
                      <a:lumMod val="50000"/>
                    </a:prstClr>
                  </a:solidFill>
                  <a:effectLst/>
                  <a:uLnTx/>
                  <a:uFillTx/>
                  <a:cs typeface="Arial"/>
                  <a:sym typeface="Arial"/>
                </a:rPr>
                <a:t>LOVE</a:t>
              </a:r>
              <a:r>
                <a:rPr kumimoji="0" lang="en-US" sz="1400" b="0" i="0" u="none" strike="noStrike" kern="0" cap="none" spc="0" normalizeH="0" baseline="0" noProof="0" dirty="0">
                  <a:ln>
                    <a:noFill/>
                  </a:ln>
                  <a:solidFill>
                    <a:prstClr val="white">
                      <a:lumMod val="50000"/>
                    </a:prstClr>
                  </a:solidFill>
                  <a:effectLst/>
                  <a:uLnTx/>
                  <a:uFillTx/>
                  <a:cs typeface="Arial"/>
                  <a:sym typeface="Arial"/>
                </a:rPr>
                <a:t> it if: </a:t>
              </a: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err="1">
                  <a:ln>
                    <a:noFill/>
                  </a:ln>
                  <a:solidFill>
                    <a:prstClr val="white">
                      <a:lumMod val="50000"/>
                    </a:prstClr>
                  </a:solidFill>
                  <a:effectLst/>
                  <a:uLnTx/>
                  <a:uFillTx/>
                  <a:cs typeface="Arial"/>
                  <a:sym typeface="Arial"/>
                </a:rPr>
                <a:t>Efficent</a:t>
              </a:r>
              <a:r>
                <a:rPr kumimoji="0" lang="en-US" sz="1400" b="0" i="0" u="none" strike="noStrike" kern="0" cap="none" spc="0" normalizeH="0" baseline="0" noProof="0" dirty="0">
                  <a:ln>
                    <a:noFill/>
                  </a:ln>
                  <a:solidFill>
                    <a:prstClr val="white">
                      <a:lumMod val="50000"/>
                    </a:prstClr>
                  </a:solidFill>
                  <a:effectLst/>
                  <a:uLnTx/>
                  <a:uFillTx/>
                  <a:cs typeface="Arial"/>
                  <a:sym typeface="Arial"/>
                </a:rPr>
                <a:t> and controlled water usage</a:t>
              </a: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0" dirty="0">
                  <a:solidFill>
                    <a:prstClr val="white">
                      <a:lumMod val="50000"/>
                    </a:prstClr>
                  </a:solidFill>
                  <a:cs typeface="Arial"/>
                  <a:sym typeface="Arial"/>
                </a:rPr>
                <a:t>Real time monitoring and alerts </a:t>
              </a: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Arial"/>
                </a:rPr>
                <a:t>Eco-friendly lifestyle </a:t>
              </a: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0" dirty="0">
                  <a:solidFill>
                    <a:prstClr val="white">
                      <a:lumMod val="50000"/>
                    </a:prstClr>
                  </a:solidFill>
                  <a:cs typeface="Arial"/>
                  <a:sym typeface="Arial"/>
                </a:rPr>
                <a:t>Reliable and long-term solution</a:t>
              </a:r>
              <a:endParaRPr kumimoji="0" lang="en-US" sz="1400" b="0" i="0" u="none" strike="noStrike" kern="0" cap="none" spc="0" normalizeH="0" baseline="0" noProof="0" dirty="0">
                <a:ln>
                  <a:noFill/>
                </a:ln>
                <a:solidFill>
                  <a:prstClr val="white">
                    <a:lumMod val="50000"/>
                  </a:prstClr>
                </a:solidFill>
                <a:effectLst/>
                <a:uLnTx/>
                <a:uFillTx/>
                <a:cs typeface="Arial"/>
                <a:sym typeface="Arial"/>
              </a:endParaRPr>
            </a:p>
          </p:txBody>
        </p:sp>
        <p:cxnSp>
          <p:nvCxnSpPr>
            <p:cNvPr id="46" name="Straight Connector 45"/>
            <p:cNvCxnSpPr/>
            <p:nvPr/>
          </p:nvCxnSpPr>
          <p:spPr>
            <a:xfrm>
              <a:off x="5824125" y="2947312"/>
              <a:ext cx="151861" cy="2850"/>
            </a:xfrm>
            <a:prstGeom prst="line">
              <a:avLst/>
            </a:prstGeom>
            <a:noFill/>
            <a:ln w="6350" cap="flat" cmpd="sng" algn="ctr">
              <a:solidFill>
                <a:srgbClr val="ED7D31"/>
              </a:solidFill>
              <a:prstDash val="solid"/>
              <a:miter lim="800000"/>
            </a:ln>
            <a:effectLst/>
          </p:spPr>
        </p:cxnSp>
        <p:cxnSp>
          <p:nvCxnSpPr>
            <p:cNvPr id="47" name="Straight Connector 46"/>
            <p:cNvCxnSpPr/>
            <p:nvPr/>
          </p:nvCxnSpPr>
          <p:spPr>
            <a:xfrm flipH="1" flipV="1">
              <a:off x="5963697" y="2419869"/>
              <a:ext cx="8108" cy="1082870"/>
            </a:xfrm>
            <a:prstGeom prst="line">
              <a:avLst/>
            </a:prstGeom>
            <a:noFill/>
            <a:ln w="6350" cap="flat" cmpd="sng" algn="ctr">
              <a:solidFill>
                <a:srgbClr val="ED7D31"/>
              </a:solidFill>
              <a:prstDash val="solid"/>
              <a:miter lim="800000"/>
            </a:ln>
            <a:effectLst/>
          </p:spPr>
        </p:cxnSp>
        <p:cxnSp>
          <p:nvCxnSpPr>
            <p:cNvPr id="48" name="Straight Connector 47"/>
            <p:cNvCxnSpPr/>
            <p:nvPr/>
          </p:nvCxnSpPr>
          <p:spPr>
            <a:xfrm flipV="1">
              <a:off x="5136822" y="3644573"/>
              <a:ext cx="1" cy="385252"/>
            </a:xfrm>
            <a:prstGeom prst="line">
              <a:avLst/>
            </a:prstGeom>
            <a:noFill/>
            <a:ln w="19050" cap="flat" cmpd="sng" algn="ctr">
              <a:solidFill>
                <a:srgbClr val="FFC000"/>
              </a:solidFill>
              <a:prstDash val="solid"/>
              <a:miter lim="800000"/>
            </a:ln>
            <a:effectLst/>
          </p:spPr>
        </p:cxnSp>
        <p:cxnSp>
          <p:nvCxnSpPr>
            <p:cNvPr id="49" name="Straight Connector 48"/>
            <p:cNvCxnSpPr>
              <a:cxnSpLocks/>
            </p:cNvCxnSpPr>
            <p:nvPr/>
          </p:nvCxnSpPr>
          <p:spPr>
            <a:xfrm flipH="1" flipV="1">
              <a:off x="5136823" y="4029825"/>
              <a:ext cx="536268" cy="32"/>
            </a:xfrm>
            <a:prstGeom prst="line">
              <a:avLst/>
            </a:prstGeom>
            <a:noFill/>
            <a:ln w="19050" cap="flat" cmpd="sng" algn="ctr">
              <a:solidFill>
                <a:srgbClr val="FFC000"/>
              </a:solidFill>
              <a:prstDash val="solid"/>
              <a:miter lim="800000"/>
            </a:ln>
            <a:effectLst/>
          </p:spPr>
        </p:cxnSp>
        <p:sp>
          <p:nvSpPr>
            <p:cNvPr id="50" name="TextBox 49"/>
            <p:cNvSpPr txBox="1"/>
            <p:nvPr/>
          </p:nvSpPr>
          <p:spPr>
            <a:xfrm>
              <a:off x="5673091" y="3648982"/>
              <a:ext cx="2068716" cy="793170"/>
            </a:xfrm>
            <a:prstGeom prst="rect">
              <a:avLst/>
            </a:prstGeom>
            <a:noFill/>
            <a:ln>
              <a:solidFill>
                <a:srgbClr val="E7E6E6">
                  <a:lumMod val="50000"/>
                </a:srgbClr>
              </a:solidFill>
            </a:ln>
          </p:spPr>
          <p:txBody>
            <a:bodyPr wrap="square" lIns="68580" tIns="34290" rIns="68580" bIns="34290" rtlCol="0" anchor="t">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Arial"/>
                </a:rPr>
                <a:t>I would </a:t>
              </a:r>
              <a:r>
                <a:rPr kumimoji="0" lang="en-US" sz="1400" b="1" i="0" u="none" strike="noStrike" kern="0" cap="none" spc="0" normalizeH="0" baseline="0" noProof="0" dirty="0">
                  <a:ln>
                    <a:noFill/>
                  </a:ln>
                  <a:solidFill>
                    <a:prstClr val="white">
                      <a:lumMod val="50000"/>
                    </a:prstClr>
                  </a:solidFill>
                  <a:effectLst/>
                  <a:uLnTx/>
                  <a:uFillTx/>
                  <a:cs typeface="Arial"/>
                  <a:sym typeface="Arial"/>
                </a:rPr>
                <a:t>HATE</a:t>
              </a:r>
              <a:r>
                <a:rPr kumimoji="0" lang="en-US" sz="1400" b="0" i="0" u="none" strike="noStrike" kern="0" cap="none" spc="0" normalizeH="0" baseline="0" noProof="0" dirty="0">
                  <a:ln>
                    <a:noFill/>
                  </a:ln>
                  <a:solidFill>
                    <a:prstClr val="white">
                      <a:lumMod val="50000"/>
                    </a:prstClr>
                  </a:solidFill>
                  <a:effectLst/>
                  <a:uLnTx/>
                  <a:uFillTx/>
                  <a:cs typeface="Arial"/>
                  <a:sym typeface="Arial"/>
                </a:rPr>
                <a:t> it if: </a:t>
              </a: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0" dirty="0">
                  <a:solidFill>
                    <a:prstClr val="white">
                      <a:lumMod val="50000"/>
                    </a:prstClr>
                  </a:solidFill>
                  <a:cs typeface="Arial"/>
                  <a:sym typeface="Arial"/>
                </a:rPr>
                <a:t>Water wastage due to leaks and overflow</a:t>
              </a: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0" cap="none" spc="0" normalizeH="0" baseline="0" noProof="0" dirty="0">
                  <a:ln>
                    <a:noFill/>
                  </a:ln>
                  <a:solidFill>
                    <a:prstClr val="white">
                      <a:lumMod val="50000"/>
                    </a:prstClr>
                  </a:solidFill>
                  <a:effectLst/>
                  <a:uLnTx/>
                  <a:uFillTx/>
                  <a:cs typeface="Arial"/>
                  <a:sym typeface="Arial"/>
                </a:rPr>
                <a:t>High </a:t>
              </a:r>
              <a:r>
                <a:rPr lang="en-US" sz="1400" i="1" kern="0" dirty="0">
                  <a:solidFill>
                    <a:prstClr val="white">
                      <a:lumMod val="50000"/>
                    </a:prstClr>
                  </a:solidFill>
                  <a:cs typeface="Arial"/>
                  <a:sym typeface="Arial"/>
                </a:rPr>
                <a:t>water bills </a:t>
              </a: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0" cap="none" spc="0" normalizeH="0" baseline="0" noProof="0" dirty="0">
                  <a:ln>
                    <a:noFill/>
                  </a:ln>
                  <a:solidFill>
                    <a:prstClr val="white">
                      <a:lumMod val="50000"/>
                    </a:prstClr>
                  </a:solidFill>
                  <a:effectLst/>
                  <a:uLnTx/>
                  <a:uFillTx/>
                  <a:cs typeface="Arial"/>
                  <a:sym typeface="Arial"/>
                </a:rPr>
                <a:t>Lack of monitoring syst</a:t>
              </a:r>
              <a:r>
                <a:rPr lang="en-US" sz="1400" i="1" kern="0" dirty="0" err="1">
                  <a:solidFill>
                    <a:prstClr val="white">
                      <a:lumMod val="50000"/>
                    </a:prstClr>
                  </a:solidFill>
                  <a:cs typeface="Arial"/>
                  <a:sym typeface="Arial"/>
                </a:rPr>
                <a:t>ems</a:t>
              </a:r>
              <a:endParaRPr lang="en-US" sz="1400" i="1" kern="0" dirty="0">
                <a:solidFill>
                  <a:prstClr val="white">
                    <a:lumMod val="50000"/>
                  </a:prstClr>
                </a:solidFill>
                <a:cs typeface="Arial"/>
                <a:sym typeface="Arial"/>
              </a:endParaRP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0" cap="none" spc="0" normalizeH="0" baseline="0" noProof="0" dirty="0">
                  <a:ln>
                    <a:noFill/>
                  </a:ln>
                  <a:solidFill>
                    <a:prstClr val="white">
                      <a:lumMod val="50000"/>
                    </a:prstClr>
                  </a:solidFill>
                  <a:effectLst/>
                  <a:uLnTx/>
                  <a:uFillTx/>
                  <a:cs typeface="Arial"/>
                  <a:sym typeface="Arial"/>
                </a:rPr>
                <a:t>Manual effort and forgetful</a:t>
              </a:r>
              <a:r>
                <a:rPr lang="en-US" sz="1400" i="1" kern="0" dirty="0">
                  <a:solidFill>
                    <a:prstClr val="white">
                      <a:lumMod val="50000"/>
                    </a:prstClr>
                  </a:solidFill>
                  <a:cs typeface="Arial"/>
                  <a:sym typeface="Arial"/>
                </a:rPr>
                <a:t>ness</a:t>
              </a: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0" cap="none" spc="0" normalizeH="0" baseline="0" noProof="0" dirty="0">
                  <a:ln>
                    <a:noFill/>
                  </a:ln>
                  <a:solidFill>
                    <a:prstClr val="white">
                      <a:lumMod val="50000"/>
                    </a:prstClr>
                  </a:solidFill>
                  <a:effectLst/>
                  <a:uLnTx/>
                  <a:uFillTx/>
                  <a:cs typeface="Arial"/>
                  <a:sym typeface="Arial"/>
                </a:rPr>
                <a:t>Sudden</a:t>
              </a:r>
              <a:r>
                <a:rPr lang="en-US" sz="1400" i="1" kern="0" dirty="0">
                  <a:solidFill>
                    <a:prstClr val="white">
                      <a:lumMod val="50000"/>
                    </a:prstClr>
                  </a:solidFill>
                  <a:cs typeface="Arial"/>
                  <a:sym typeface="Arial"/>
                </a:rPr>
                <a:t> water shortages</a:t>
              </a:r>
            </a:p>
          </p:txBody>
        </p:sp>
        <p:sp>
          <p:nvSpPr>
            <p:cNvPr id="51" name="TextBox 50"/>
            <p:cNvSpPr txBox="1"/>
            <p:nvPr/>
          </p:nvSpPr>
          <p:spPr>
            <a:xfrm>
              <a:off x="6022507" y="2422024"/>
              <a:ext cx="1719300" cy="793170"/>
            </a:xfrm>
            <a:prstGeom prst="rect">
              <a:avLst/>
            </a:prstGeom>
            <a:noFill/>
            <a:ln>
              <a:solidFill>
                <a:srgbClr val="E7E6E6">
                  <a:lumMod val="50000"/>
                </a:srgbClr>
              </a:solidFill>
            </a:ln>
          </p:spPr>
          <p:txBody>
            <a:bodyPr wrap="square" lIns="68580" tIns="34290" rIns="68580" bIns="34290" rtlCol="0" anchor="t">
              <a:spAutoFit/>
            </a:bodyPr>
            <a:lstStyle/>
            <a:p>
              <a:pPr marL="0" marR="0" lvl="0" indent="0" defTabSz="685783" eaLnBrk="1" fontAlgn="auto" latinLnBrk="0" hangingPunct="1">
                <a:lnSpc>
                  <a:spcPct val="100000"/>
                </a:lnSpc>
                <a:spcBef>
                  <a:spcPts val="0"/>
                </a:spcBef>
                <a:spcAft>
                  <a:spcPts val="0"/>
                </a:spcAft>
                <a:buClrTx/>
                <a:buSzTx/>
                <a:buFont typeface="Arial"/>
                <a:buNone/>
                <a:tabLst/>
                <a:defRPr/>
              </a:pPr>
              <a:r>
                <a:rPr kumimoji="0" lang="en-US" sz="1400" b="0" i="0" u="none" strike="noStrike" kern="0" cap="none" spc="0" normalizeH="0" baseline="0" noProof="0" dirty="0">
                  <a:ln>
                    <a:noFill/>
                  </a:ln>
                  <a:solidFill>
                    <a:prstClr val="white">
                      <a:lumMod val="50000"/>
                    </a:prstClr>
                  </a:solidFill>
                  <a:effectLst/>
                  <a:uLnTx/>
                  <a:uFillTx/>
                  <a:cs typeface="Arial"/>
                  <a:sym typeface="Arial"/>
                </a:rPr>
                <a:t>I would </a:t>
              </a:r>
              <a:r>
                <a:rPr kumimoji="0" lang="en-US" sz="1400" b="1" i="0" u="none" strike="noStrike" kern="0" cap="none" spc="0" normalizeH="0" baseline="0" noProof="0" dirty="0">
                  <a:ln>
                    <a:noFill/>
                  </a:ln>
                  <a:solidFill>
                    <a:prstClr val="white">
                      <a:lumMod val="50000"/>
                    </a:prstClr>
                  </a:solidFill>
                  <a:effectLst/>
                  <a:uLnTx/>
                  <a:uFillTx/>
                  <a:cs typeface="Arial"/>
                  <a:sym typeface="Arial"/>
                </a:rPr>
                <a:t>WANT</a:t>
              </a:r>
              <a:r>
                <a:rPr kumimoji="0" lang="en-US" sz="1400" b="0" i="0" u="none" strike="noStrike" kern="0" cap="none" spc="0" normalizeH="0" baseline="0" noProof="0" dirty="0">
                  <a:ln>
                    <a:noFill/>
                  </a:ln>
                  <a:solidFill>
                    <a:prstClr val="white">
                      <a:lumMod val="50000"/>
                    </a:prstClr>
                  </a:solidFill>
                  <a:effectLst/>
                  <a:uLnTx/>
                  <a:uFillTx/>
                  <a:cs typeface="Arial"/>
                  <a:sym typeface="Arial"/>
                </a:rPr>
                <a:t>: </a:t>
              </a: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0" dirty="0">
                  <a:solidFill>
                    <a:prstClr val="white">
                      <a:lumMod val="50000"/>
                    </a:prstClr>
                  </a:solidFill>
                  <a:cs typeface="Arial"/>
                  <a:sym typeface="Arial"/>
                </a:rPr>
                <a:t>Use water for daily activities</a:t>
              </a: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0" cap="none" spc="0" normalizeH="0" baseline="0" noProof="0" dirty="0">
                  <a:ln>
                    <a:noFill/>
                  </a:ln>
                  <a:solidFill>
                    <a:prstClr val="white">
                      <a:lumMod val="50000"/>
                    </a:prstClr>
                  </a:solidFill>
                  <a:effectLst/>
                  <a:uLnTx/>
                  <a:uFillTx/>
                  <a:cs typeface="Arial"/>
                  <a:sym typeface="Arial"/>
                </a:rPr>
                <a:t>Manage household water consumption</a:t>
              </a: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1" kern="0" dirty="0">
                  <a:solidFill>
                    <a:prstClr val="white">
                      <a:lumMod val="50000"/>
                    </a:prstClr>
                  </a:solidFill>
                  <a:cs typeface="Arial"/>
                  <a:sym typeface="Arial"/>
                </a:rPr>
                <a:t>Avoid wastage and reduce bills</a:t>
              </a: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0" cap="none" spc="0" normalizeH="0" baseline="0" noProof="0" dirty="0">
                  <a:ln>
                    <a:noFill/>
                  </a:ln>
                  <a:solidFill>
                    <a:prstClr val="white">
                      <a:lumMod val="50000"/>
                    </a:prstClr>
                  </a:solidFill>
                  <a:effectLst/>
                  <a:uLnTx/>
                  <a:uFillTx/>
                  <a:cs typeface="Arial"/>
                  <a:sym typeface="Arial"/>
                </a:rPr>
                <a:t>Monitor water tank levels</a:t>
              </a:r>
            </a:p>
            <a:p>
              <a:pPr marL="285750" marR="0" lvl="0" indent="-285750"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1" kern="0" dirty="0">
                  <a:solidFill>
                    <a:prstClr val="white">
                      <a:lumMod val="50000"/>
                    </a:prstClr>
                  </a:solidFill>
                  <a:cs typeface="Arial"/>
                  <a:sym typeface="Arial"/>
                </a:rPr>
                <a:t>Fix Leaks and maintain plumbing</a:t>
              </a:r>
              <a:endParaRPr kumimoji="0" lang="pt-BR" sz="1400" b="0" i="1" u="none" strike="noStrike" kern="0" cap="none" spc="0" normalizeH="0" baseline="0" noProof="0" dirty="0">
                <a:ln>
                  <a:noFill/>
                </a:ln>
                <a:solidFill>
                  <a:srgbClr val="000000"/>
                </a:solidFill>
                <a:effectLst/>
                <a:uLnTx/>
                <a:uFillTx/>
                <a:cs typeface="Calibri"/>
                <a:sym typeface="Arial"/>
              </a:endParaRPr>
            </a:p>
          </p:txBody>
        </p:sp>
        <p:sp>
          <p:nvSpPr>
            <p:cNvPr id="52" name="TextBox 51"/>
            <p:cNvSpPr txBox="1"/>
            <p:nvPr/>
          </p:nvSpPr>
          <p:spPr>
            <a:xfrm>
              <a:off x="993510" y="2381024"/>
              <a:ext cx="1819070" cy="1057561"/>
            </a:xfrm>
            <a:prstGeom prst="rect">
              <a:avLst/>
            </a:prstGeom>
            <a:noFill/>
            <a:ln>
              <a:solidFill>
                <a:srgbClr val="E7E6E6">
                  <a:lumMod val="50000"/>
                </a:srgbClr>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400" b="1" i="1" u="none" strike="noStrike" kern="0" cap="none" spc="0" normalizeH="0" baseline="0" noProof="0" dirty="0">
                  <a:ln>
                    <a:noFill/>
                  </a:ln>
                  <a:solidFill>
                    <a:srgbClr val="FF0000"/>
                  </a:solidFill>
                  <a:effectLst/>
                  <a:uLnTx/>
                  <a:uFillTx/>
                  <a:cs typeface="Arial"/>
                  <a:sym typeface="Arial"/>
                </a:rPr>
                <a:t>What is the product or service that you are offering?</a:t>
              </a:r>
              <a:endParaRPr kumimoji="0" lang="en-US" sz="1400" b="1" i="0" u="none" strike="noStrike" kern="0" cap="none" spc="0" normalizeH="0" baseline="0" noProof="0" dirty="0">
                <a:ln>
                  <a:noFill/>
                </a:ln>
                <a:solidFill>
                  <a:srgbClr val="FF0000"/>
                </a:solidFill>
                <a:effectLst/>
                <a:uLnTx/>
                <a:uFillTx/>
                <a:cs typeface="Arial"/>
                <a:sym typeface="Arial"/>
              </a:endParaRPr>
            </a:p>
            <a:p>
              <a:pPr marL="285750" marR="0" lvl="0" indent="-285750" algn="just"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0" cap="none" spc="0" normalizeH="0" baseline="0" noProof="0" dirty="0">
                  <a:ln>
                    <a:noFill/>
                  </a:ln>
                  <a:solidFill>
                    <a:prstClr val="white">
                      <a:lumMod val="50000"/>
                    </a:prstClr>
                  </a:solidFill>
                  <a:effectLst/>
                  <a:uLnTx/>
                  <a:uFillTx/>
                  <a:cs typeface="Arial"/>
                  <a:sym typeface="Arial"/>
                </a:rPr>
                <a:t>Smart water monitoring system </a:t>
              </a:r>
            </a:p>
            <a:p>
              <a:pPr marL="285750" marR="0" lvl="0" indent="-285750" algn="just"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0" cap="none" spc="0" normalizeH="0" baseline="0" noProof="0" dirty="0">
                  <a:ln>
                    <a:noFill/>
                  </a:ln>
                  <a:solidFill>
                    <a:prstClr val="white">
                      <a:lumMod val="50000"/>
                    </a:prstClr>
                  </a:solidFill>
                  <a:effectLst/>
                  <a:uLnTx/>
                  <a:uFillTx/>
                  <a:cs typeface="Arial"/>
                  <a:sym typeface="Arial"/>
                </a:rPr>
                <a:t>Uses water flow sensors + microcontroller</a:t>
              </a:r>
            </a:p>
            <a:p>
              <a:pPr marL="285750" marR="0" lvl="0" indent="-285750" algn="just"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kern="0" dirty="0">
                  <a:solidFill>
                    <a:prstClr val="white">
                      <a:lumMod val="50000"/>
                    </a:prstClr>
                  </a:solidFill>
                  <a:cs typeface="Arial"/>
                  <a:sym typeface="Arial"/>
                </a:rPr>
                <a:t>Tracks real time water consumption</a:t>
              </a:r>
            </a:p>
            <a:p>
              <a:pPr marL="285750" marR="0" lvl="0" indent="-285750" algn="just"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0" cap="none" spc="0" normalizeH="0" baseline="0" noProof="0" dirty="0">
                  <a:ln>
                    <a:noFill/>
                  </a:ln>
                  <a:solidFill>
                    <a:prstClr val="white">
                      <a:lumMod val="50000"/>
                    </a:prstClr>
                  </a:solidFill>
                  <a:effectLst/>
                  <a:uLnTx/>
                  <a:uFillTx/>
                  <a:cs typeface="Arial"/>
                  <a:sym typeface="Arial"/>
                </a:rPr>
                <a:t>Provides alerts for overuse and leak detection</a:t>
              </a:r>
            </a:p>
            <a:p>
              <a:pPr marL="285750" marR="0" lvl="0" indent="-285750" algn="just" defTabSz="685783"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kern="0" dirty="0">
                  <a:solidFill>
                    <a:prstClr val="white">
                      <a:lumMod val="50000"/>
                    </a:prstClr>
                  </a:solidFill>
                  <a:cs typeface="Arial"/>
                  <a:sym typeface="Arial"/>
                </a:rPr>
                <a:t>Optional automatic water shut off system</a:t>
              </a:r>
              <a:endParaRPr kumimoji="0" lang="en-IN" sz="1400" b="0" i="0" u="none" strike="noStrike" kern="0" cap="none" spc="0" normalizeH="0" baseline="0" noProof="0" dirty="0">
                <a:ln>
                  <a:noFill/>
                </a:ln>
                <a:solidFill>
                  <a:prstClr val="white">
                    <a:lumMod val="50000"/>
                  </a:prstClr>
                </a:solidFill>
                <a:effectLst/>
                <a:uLnTx/>
                <a:uFillTx/>
                <a:cs typeface="Arial"/>
                <a:sym typeface="Arial"/>
              </a:endParaRPr>
            </a:p>
            <a:p>
              <a:pPr marL="0" marR="0" lvl="0" indent="0" algn="just" defTabSz="685783" eaLnBrk="1" fontAlgn="auto" latinLnBrk="0" hangingPunct="1">
                <a:lnSpc>
                  <a:spcPct val="100000"/>
                </a:lnSpc>
                <a:spcBef>
                  <a:spcPts val="0"/>
                </a:spcBef>
                <a:spcAft>
                  <a:spcPts val="0"/>
                </a:spcAft>
                <a:buClrTx/>
                <a:buSzTx/>
                <a:buFont typeface="Arial"/>
                <a:buNone/>
                <a:tabLst/>
                <a:defRPr/>
              </a:pPr>
              <a:endParaRPr kumimoji="0" lang="en-IN" sz="1400" b="0" i="0" u="none" strike="noStrike" kern="0" cap="none" spc="0" normalizeH="0" baseline="0" noProof="0" dirty="0">
                <a:ln>
                  <a:noFill/>
                </a:ln>
                <a:solidFill>
                  <a:prstClr val="white">
                    <a:lumMod val="50000"/>
                  </a:prstClr>
                </a:solidFill>
                <a:effectLst/>
                <a:uLnTx/>
                <a:uFillTx/>
                <a:cs typeface="Arial"/>
                <a:sym typeface="Arial"/>
              </a:endParaRPr>
            </a:p>
          </p:txBody>
        </p:sp>
        <p:cxnSp>
          <p:nvCxnSpPr>
            <p:cNvPr id="53" name="Straight Connector 52"/>
            <p:cNvCxnSpPr>
              <a:cxnSpLocks/>
            </p:cNvCxnSpPr>
            <p:nvPr/>
          </p:nvCxnSpPr>
          <p:spPr>
            <a:xfrm flipH="1">
              <a:off x="2899064" y="3002224"/>
              <a:ext cx="92750" cy="0"/>
            </a:xfrm>
            <a:prstGeom prst="line">
              <a:avLst/>
            </a:prstGeom>
            <a:noFill/>
            <a:ln w="19050" cap="flat" cmpd="sng" algn="ctr">
              <a:solidFill>
                <a:srgbClr val="70AD47"/>
              </a:solidFill>
              <a:prstDash val="solid"/>
              <a:miter lim="800000"/>
            </a:ln>
            <a:effectLst/>
          </p:spPr>
        </p:cxnSp>
      </p:grpSp>
      <p:sp>
        <p:nvSpPr>
          <p:cNvPr id="8" name="Rectangle 7"/>
          <p:cNvSpPr/>
          <p:nvPr/>
        </p:nvSpPr>
        <p:spPr>
          <a:xfrm>
            <a:off x="8016362" y="4626289"/>
            <a:ext cx="1714342" cy="369332"/>
          </a:xfrm>
          <a:prstGeom prst="rect">
            <a:avLst/>
          </a:prstGeom>
        </p:spPr>
        <p:txBody>
          <a:bodyPr wrap="square">
            <a:spAutoFit/>
          </a:bodyPr>
          <a:lstStyle/>
          <a:p>
            <a:pPr algn="ctr"/>
            <a:r>
              <a:rPr lang="en-US" dirty="0"/>
              <a:t>FIT</a:t>
            </a:r>
          </a:p>
        </p:txBody>
      </p:sp>
      <p:sp>
        <p:nvSpPr>
          <p:cNvPr id="2" name="Rectangle 1"/>
          <p:cNvSpPr/>
          <p:nvPr/>
        </p:nvSpPr>
        <p:spPr>
          <a:xfrm>
            <a:off x="6286487" y="1477264"/>
            <a:ext cx="248786" cy="369332"/>
          </a:xfrm>
          <a:prstGeom prst="rect">
            <a:avLst/>
          </a:prstGeom>
        </p:spPr>
        <p:txBody>
          <a:bodyPr wrap="none">
            <a:spAutoFit/>
          </a:bodyPr>
          <a:lstStyle/>
          <a:p>
            <a:r>
              <a:rPr lang="en-US" dirty="0">
                <a:solidFill>
                  <a:srgbClr val="292929"/>
                </a:solidFill>
                <a:latin typeface="charter"/>
              </a:rPr>
              <a:t>.</a:t>
            </a:r>
            <a:endParaRPr lang="en-US" dirty="0"/>
          </a:p>
        </p:txBody>
      </p:sp>
    </p:spTree>
    <p:extLst>
      <p:ext uri="{BB962C8B-B14F-4D97-AF65-F5344CB8AC3E}">
        <p14:creationId xmlns:p14="http://schemas.microsoft.com/office/powerpoint/2010/main" val="3640215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extBox 58"/>
          <p:cNvSpPr txBox="1"/>
          <p:nvPr/>
        </p:nvSpPr>
        <p:spPr>
          <a:xfrm>
            <a:off x="405009" y="28190"/>
            <a:ext cx="11351678" cy="1178400"/>
          </a:xfrm>
          <a:prstGeom prst="rect">
            <a:avLst/>
          </a:prstGeom>
          <a:noFill/>
        </p:spPr>
        <p:txBody>
          <a:bodyPr wrap="square" lIns="137160" tIns="68580" rIns="137160" bIns="68580" rtlCol="0" anchor="t">
            <a:spAutoFit/>
          </a:bodyPr>
          <a:lstStyle/>
          <a:p>
            <a:pPr>
              <a:lnSpc>
                <a:spcPts val="8747"/>
              </a:lnSpc>
              <a:spcBef>
                <a:spcPct val="0"/>
              </a:spcBef>
            </a:pPr>
            <a:r>
              <a:rPr lang="en-US" sz="5400" b="1" dirty="0"/>
              <a:t>Solution</a:t>
            </a:r>
          </a:p>
        </p:txBody>
      </p:sp>
      <p:sp>
        <p:nvSpPr>
          <p:cNvPr id="110" name="Content Placeholder 2"/>
          <p:cNvSpPr txBox="1">
            <a:spLocks/>
          </p:cNvSpPr>
          <p:nvPr/>
        </p:nvSpPr>
        <p:spPr>
          <a:xfrm>
            <a:off x="955434" y="2043904"/>
            <a:ext cx="7045566" cy="4471196"/>
          </a:xfrm>
          <a:prstGeom prst="rect">
            <a:avLst/>
          </a:prstGeom>
          <a:ln>
            <a:solidFill>
              <a:schemeClr val="tx1"/>
            </a:solidFill>
          </a:ln>
        </p:spPr>
        <p:txBody>
          <a:bodyPr vert="horz" lIns="137160" tIns="68580" rIns="137160" bIns="6858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b="1" dirty="0"/>
              <a:t>Describe your Solution:</a:t>
            </a:r>
          </a:p>
          <a:p>
            <a:pPr marL="0" indent="0">
              <a:buNone/>
            </a:pPr>
            <a:r>
              <a:rPr lang="en-GB" sz="2400" dirty="0"/>
              <a:t>We offer </a:t>
            </a:r>
            <a:r>
              <a:rPr lang="en-US" sz="2400" dirty="0"/>
              <a:t>a smart water management system called AquaSmart that monitors and controls water usage in households</a:t>
            </a:r>
            <a:r>
              <a:rPr lang="en-US" sz="1600" dirty="0"/>
              <a:t>.</a:t>
            </a:r>
            <a:r>
              <a:rPr lang="en-GB" sz="2400" dirty="0"/>
              <a:t> </a:t>
            </a:r>
            <a:endParaRPr lang="en-GB" sz="2400" dirty="0">
              <a:cs typeface="Calibri"/>
            </a:endParaRPr>
          </a:p>
          <a:p>
            <a:pPr marL="0" indent="0">
              <a:buNone/>
            </a:pPr>
            <a:r>
              <a:rPr lang="en-GB" sz="2400" dirty="0"/>
              <a:t>The details of our offering consist of:</a:t>
            </a:r>
            <a:endParaRPr lang="en-GB" sz="2400" dirty="0">
              <a:cs typeface="Calibri"/>
            </a:endParaRPr>
          </a:p>
          <a:p>
            <a:pPr marL="514350" indent="-514350">
              <a:buFont typeface="Arial" panose="020B0604020202020204" pitchFamily="34" charset="0"/>
              <a:buAutoNum type="arabicPeriod"/>
            </a:pPr>
            <a:r>
              <a:rPr lang="en-US" sz="2400" dirty="0"/>
              <a:t>Water flow sensor to measure real-time water consumption</a:t>
            </a:r>
          </a:p>
          <a:p>
            <a:pPr marL="514350" indent="-514350">
              <a:buFont typeface="Arial" panose="020B0604020202020204" pitchFamily="34" charset="0"/>
              <a:buAutoNum type="arabicPeriod"/>
            </a:pPr>
            <a:r>
              <a:rPr lang="en-US" sz="2400" dirty="0"/>
              <a:t>Microcontroller-based system for data processing and alert generation</a:t>
            </a:r>
            <a:endParaRPr lang="en-GB" sz="2400" dirty="0"/>
          </a:p>
          <a:p>
            <a:pPr marL="514350" indent="-514350">
              <a:buFont typeface="Arial" panose="020B0604020202020204" pitchFamily="34" charset="0"/>
              <a:buAutoNum type="arabicPeriod"/>
            </a:pPr>
            <a:r>
              <a:rPr lang="en-US" sz="2400" dirty="0"/>
              <a:t>Alert/notification system (buzzer or mobile app) for leak detection and overuse</a:t>
            </a:r>
            <a:endParaRPr lang="en-GB" sz="2400" dirty="0"/>
          </a:p>
          <a:p>
            <a:pPr marL="514350" indent="-514350">
              <a:buFont typeface="Arial" panose="020B0604020202020204" pitchFamily="34" charset="0"/>
              <a:buAutoNum type="arabicPeriod"/>
            </a:pPr>
            <a:endParaRPr lang="en-GB" sz="2400" dirty="0">
              <a:cs typeface="Calibri"/>
            </a:endParaRPr>
          </a:p>
          <a:p>
            <a:pPr marL="0" indent="0">
              <a:buNone/>
            </a:pPr>
            <a:endParaRPr lang="en-GB" sz="2700" dirty="0">
              <a:cs typeface="Calibri"/>
            </a:endParaRPr>
          </a:p>
          <a:p>
            <a:pPr marL="0" indent="0">
              <a:buNone/>
            </a:pPr>
            <a:endParaRPr lang="en-GB" sz="2100" dirty="0">
              <a:cs typeface="Calibri"/>
            </a:endParaRPr>
          </a:p>
        </p:txBody>
      </p:sp>
      <p:sp>
        <p:nvSpPr>
          <p:cNvPr id="14" name="Rectangle 13">
            <a:extLst>
              <a:ext uri="{FF2B5EF4-FFF2-40B4-BE49-F238E27FC236}">
                <a16:creationId xmlns:a16="http://schemas.microsoft.com/office/drawing/2014/main" id="{5DE34494-019C-4AF1-907B-33245967C575}"/>
              </a:ext>
            </a:extLst>
          </p:cNvPr>
          <p:cNvSpPr/>
          <p:nvPr/>
        </p:nvSpPr>
        <p:spPr>
          <a:xfrm>
            <a:off x="15849600" y="562247"/>
            <a:ext cx="1695221" cy="1288685"/>
          </a:xfrm>
          <a:prstGeom prst="rect">
            <a:avLst/>
          </a:prstGeom>
          <a:blipFill dpi="0" rotWithShape="1">
            <a:blip r:embed="rId3" cstate="print">
              <a:extLst>
                <a:ext uri="{28A0092B-C50C-407E-A947-70E740481C1C}">
                  <a14:useLocalDpi xmlns:a14="http://schemas.microsoft.com/office/drawing/2010/main" val="0"/>
                </a:ext>
              </a:extLst>
            </a:blip>
            <a:srcRect/>
            <a:stretch>
              <a:fillRect/>
            </a:stretch>
          </a:blip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2" name="Rectangle 1"/>
          <p:cNvSpPr/>
          <p:nvPr/>
        </p:nvSpPr>
        <p:spPr>
          <a:xfrm>
            <a:off x="8839200" y="2043904"/>
            <a:ext cx="5867400" cy="5755422"/>
          </a:xfrm>
          <a:prstGeom prst="rect">
            <a:avLst/>
          </a:prstGeom>
          <a:ln>
            <a:solidFill>
              <a:schemeClr val="tx1"/>
            </a:solidFill>
          </a:ln>
        </p:spPr>
        <p:txBody>
          <a:bodyPr wrap="square">
            <a:spAutoFit/>
          </a:bodyPr>
          <a:lstStyle/>
          <a:p>
            <a:r>
              <a:rPr lang="en-GB" sz="2800" b="1" dirty="0"/>
              <a:t>List the Benefits of Your solutions</a:t>
            </a:r>
          </a:p>
          <a:p>
            <a:r>
              <a:rPr lang="en-GB" sz="2800" b="1" dirty="0"/>
              <a:t>1.</a:t>
            </a:r>
            <a:r>
              <a:rPr lang="en-US" sz="2800" dirty="0"/>
              <a:t> </a:t>
            </a:r>
            <a:r>
              <a:rPr lang="en-US" sz="2400" dirty="0"/>
              <a:t>Reduces water wastage through real-time monitoring and alerts</a:t>
            </a:r>
            <a:endParaRPr lang="en-GB" sz="2400" dirty="0"/>
          </a:p>
          <a:p>
            <a:endParaRPr lang="en-GB" sz="2800" b="1" dirty="0"/>
          </a:p>
          <a:p>
            <a:r>
              <a:rPr lang="en-GB" sz="2800" b="1" dirty="0"/>
              <a:t>2.</a:t>
            </a:r>
            <a:r>
              <a:rPr lang="en-US" sz="2800" dirty="0"/>
              <a:t> </a:t>
            </a:r>
            <a:r>
              <a:rPr lang="en-US" sz="2400" dirty="0"/>
              <a:t>Saves money by controlling unnecessary water usage</a:t>
            </a:r>
            <a:endParaRPr lang="en-GB" sz="2400" dirty="0"/>
          </a:p>
          <a:p>
            <a:endParaRPr lang="en-GB" sz="2800" b="1" dirty="0"/>
          </a:p>
          <a:p>
            <a:r>
              <a:rPr lang="en-GB" sz="2800" b="1" dirty="0"/>
              <a:t>3.</a:t>
            </a:r>
            <a:r>
              <a:rPr lang="en-US" sz="2800" dirty="0"/>
              <a:t> </a:t>
            </a:r>
            <a:r>
              <a:rPr lang="en-US" sz="2400" dirty="0"/>
              <a:t>Provides a smart, automated, and user-friendly solution for households</a:t>
            </a:r>
            <a:endParaRPr lang="en-GB" sz="2400" dirty="0"/>
          </a:p>
          <a:p>
            <a:endParaRPr lang="en-GB" sz="2800" b="1" dirty="0"/>
          </a:p>
          <a:p>
            <a:endParaRPr lang="en-GB" sz="2800" b="1" dirty="0"/>
          </a:p>
          <a:p>
            <a:endParaRPr lang="en-GB" sz="2000" b="1" dirty="0">
              <a:cs typeface="Calibri"/>
            </a:endParaRPr>
          </a:p>
          <a:p>
            <a:endParaRPr lang="en-GB" sz="2000" b="1" dirty="0">
              <a:cs typeface="Calibri"/>
            </a:endParaRPr>
          </a:p>
          <a:p>
            <a:endParaRPr lang="en-GB" sz="2000" b="1" dirty="0">
              <a:cs typeface="Calibri"/>
            </a:endParaRPr>
          </a:p>
        </p:txBody>
      </p:sp>
    </p:spTree>
    <p:extLst>
      <p:ext uri="{BB962C8B-B14F-4D97-AF65-F5344CB8AC3E}">
        <p14:creationId xmlns:p14="http://schemas.microsoft.com/office/powerpoint/2010/main" val="2644944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5"/>
          <p:cNvSpPr txBox="1"/>
          <p:nvPr/>
        </p:nvSpPr>
        <p:spPr>
          <a:xfrm>
            <a:off x="533400" y="800100"/>
            <a:ext cx="12338484" cy="1019574"/>
          </a:xfrm>
          <a:prstGeom prst="rect">
            <a:avLst/>
          </a:prstGeom>
        </p:spPr>
        <p:txBody>
          <a:bodyPr wrap="square" lIns="0" tIns="0" rIns="0" bIns="0" rtlCol="0" anchor="t">
            <a:spAutoFit/>
          </a:bodyPr>
          <a:lstStyle/>
          <a:p>
            <a:pPr>
              <a:lnSpc>
                <a:spcPts val="8747"/>
              </a:lnSpc>
            </a:pPr>
            <a:r>
              <a:rPr lang="en-US" sz="5400" b="1" dirty="0"/>
              <a:t>Competition Analysis</a:t>
            </a:r>
          </a:p>
        </p:txBody>
      </p:sp>
      <p:sp>
        <p:nvSpPr>
          <p:cNvPr id="37" name="Rectangle 36">
            <a:extLst>
              <a:ext uri="{FF2B5EF4-FFF2-40B4-BE49-F238E27FC236}">
                <a16:creationId xmlns:a16="http://schemas.microsoft.com/office/drawing/2014/main" id="{5DE34494-019C-4AF1-907B-33245967C575}"/>
              </a:ext>
            </a:extLst>
          </p:cNvPr>
          <p:cNvSpPr/>
          <p:nvPr/>
        </p:nvSpPr>
        <p:spPr>
          <a:xfrm>
            <a:off x="15925800" y="315439"/>
            <a:ext cx="1695221" cy="1288685"/>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graphicFrame>
        <p:nvGraphicFramePr>
          <p:cNvPr id="7" name="Table 6"/>
          <p:cNvGraphicFramePr>
            <a:graphicFrameLocks noGrp="1"/>
          </p:cNvGraphicFramePr>
          <p:nvPr>
            <p:extLst>
              <p:ext uri="{D42A27DB-BD31-4B8C-83A1-F6EECF244321}">
                <p14:modId xmlns:p14="http://schemas.microsoft.com/office/powerpoint/2010/main" val="1861306546"/>
              </p:ext>
            </p:extLst>
          </p:nvPr>
        </p:nvGraphicFramePr>
        <p:xfrm>
          <a:off x="1600200" y="2476500"/>
          <a:ext cx="14111520" cy="6187440"/>
        </p:xfrm>
        <a:graphic>
          <a:graphicData uri="http://schemas.openxmlformats.org/drawingml/2006/table">
            <a:tbl>
              <a:tblPr firstRow="1" bandRow="1">
                <a:tableStyleId>{93296810-A885-4BE3-A3E7-6D5BEEA58F35}</a:tableStyleId>
              </a:tblPr>
              <a:tblGrid>
                <a:gridCol w="2351920">
                  <a:extLst>
                    <a:ext uri="{9D8B030D-6E8A-4147-A177-3AD203B41FA5}">
                      <a16:colId xmlns:a16="http://schemas.microsoft.com/office/drawing/2014/main" val="666748423"/>
                    </a:ext>
                  </a:extLst>
                </a:gridCol>
                <a:gridCol w="2351920">
                  <a:extLst>
                    <a:ext uri="{9D8B030D-6E8A-4147-A177-3AD203B41FA5}">
                      <a16:colId xmlns:a16="http://schemas.microsoft.com/office/drawing/2014/main" val="837611741"/>
                    </a:ext>
                  </a:extLst>
                </a:gridCol>
                <a:gridCol w="2351920">
                  <a:extLst>
                    <a:ext uri="{9D8B030D-6E8A-4147-A177-3AD203B41FA5}">
                      <a16:colId xmlns:a16="http://schemas.microsoft.com/office/drawing/2014/main" val="2522811997"/>
                    </a:ext>
                  </a:extLst>
                </a:gridCol>
                <a:gridCol w="2351920">
                  <a:extLst>
                    <a:ext uri="{9D8B030D-6E8A-4147-A177-3AD203B41FA5}">
                      <a16:colId xmlns:a16="http://schemas.microsoft.com/office/drawing/2014/main" val="2808365038"/>
                    </a:ext>
                  </a:extLst>
                </a:gridCol>
                <a:gridCol w="2351920">
                  <a:extLst>
                    <a:ext uri="{9D8B030D-6E8A-4147-A177-3AD203B41FA5}">
                      <a16:colId xmlns:a16="http://schemas.microsoft.com/office/drawing/2014/main" val="842314674"/>
                    </a:ext>
                  </a:extLst>
                </a:gridCol>
                <a:gridCol w="2351920">
                  <a:extLst>
                    <a:ext uri="{9D8B030D-6E8A-4147-A177-3AD203B41FA5}">
                      <a16:colId xmlns:a16="http://schemas.microsoft.com/office/drawing/2014/main" val="3630476225"/>
                    </a:ext>
                  </a:extLst>
                </a:gridCol>
              </a:tblGrid>
              <a:tr h="609600">
                <a:tc>
                  <a:txBody>
                    <a:bodyPr/>
                    <a:lstStyle/>
                    <a:p>
                      <a:pPr algn="ctr"/>
                      <a:r>
                        <a:rPr lang="en-US" sz="2400" b="1" dirty="0">
                          <a:solidFill>
                            <a:schemeClr val="tx1"/>
                          </a:solidFill>
                        </a:rPr>
                        <a:t>Benefits </a:t>
                      </a:r>
                    </a:p>
                  </a:txBody>
                  <a:tcPr/>
                </a:tc>
                <a:tc>
                  <a:txBody>
                    <a:bodyPr/>
                    <a:lstStyle/>
                    <a:p>
                      <a:pPr algn="ctr"/>
                      <a:r>
                        <a:rPr lang="en-US" sz="2400" b="1" dirty="0">
                          <a:solidFill>
                            <a:schemeClr val="tx1"/>
                          </a:solidFill>
                        </a:rPr>
                        <a:t>Competitor 1</a:t>
                      </a:r>
                    </a:p>
                    <a:p>
                      <a:pPr algn="ctr"/>
                      <a:r>
                        <a:rPr lang="en-US" sz="2400" b="1" dirty="0">
                          <a:solidFill>
                            <a:schemeClr val="tx1"/>
                          </a:solidFill>
                        </a:rPr>
                        <a:t>(Water Level Indicator)</a:t>
                      </a:r>
                    </a:p>
                  </a:txBody>
                  <a:tcPr/>
                </a:tc>
                <a:tc>
                  <a:txBody>
                    <a:bodyPr/>
                    <a:lstStyle/>
                    <a:p>
                      <a:pPr algn="ctr"/>
                      <a:r>
                        <a:rPr lang="en-US" sz="2400" b="1" dirty="0">
                          <a:solidFill>
                            <a:schemeClr val="tx1"/>
                          </a:solidFill>
                        </a:rPr>
                        <a:t>Competitor 2</a:t>
                      </a:r>
                    </a:p>
                    <a:p>
                      <a:pPr algn="ctr"/>
                      <a:r>
                        <a:rPr lang="en-US" sz="2400" b="1" dirty="0">
                          <a:solidFill>
                            <a:schemeClr val="tx1"/>
                          </a:solidFill>
                        </a:rPr>
                        <a:t>(Float valve System)</a:t>
                      </a:r>
                    </a:p>
                  </a:txBody>
                  <a:tcPr/>
                </a:tc>
                <a:tc>
                  <a:txBody>
                    <a:bodyPr/>
                    <a:lstStyle/>
                    <a:p>
                      <a:pPr algn="ctr"/>
                      <a:r>
                        <a:rPr lang="en-US" sz="2400" b="1" dirty="0">
                          <a:solidFill>
                            <a:schemeClr val="tx1"/>
                          </a:solidFill>
                        </a:rPr>
                        <a:t>Competitor 3</a:t>
                      </a:r>
                    </a:p>
                    <a:p>
                      <a:pPr algn="ctr"/>
                      <a:r>
                        <a:rPr lang="en-US" sz="2400" b="1" dirty="0">
                          <a:solidFill>
                            <a:schemeClr val="tx1"/>
                          </a:solidFill>
                        </a:rPr>
                        <a:t>(Smart Water Meter)</a:t>
                      </a:r>
                    </a:p>
                  </a:txBody>
                  <a:tcPr/>
                </a:tc>
                <a:tc>
                  <a:txBody>
                    <a:bodyPr/>
                    <a:lstStyle/>
                    <a:p>
                      <a:pPr algn="ctr"/>
                      <a:r>
                        <a:rPr lang="en-US" sz="2400" b="1" dirty="0">
                          <a:solidFill>
                            <a:schemeClr val="tx1"/>
                          </a:solidFill>
                        </a:rPr>
                        <a:t>Competitor 4</a:t>
                      </a:r>
                    </a:p>
                    <a:p>
                      <a:pPr algn="ctr"/>
                      <a:r>
                        <a:rPr lang="en-US" sz="2400" b="1" dirty="0">
                          <a:solidFill>
                            <a:schemeClr val="tx1"/>
                          </a:solidFill>
                        </a:rPr>
                        <a:t>(Xylem Smart Solutions)</a:t>
                      </a:r>
                    </a:p>
                  </a:txBody>
                  <a:tcPr/>
                </a:tc>
                <a:tc>
                  <a:txBody>
                    <a:bodyPr/>
                    <a:lstStyle/>
                    <a:p>
                      <a:pPr algn="ctr"/>
                      <a:r>
                        <a:rPr lang="en-US" sz="2400" b="1" dirty="0">
                          <a:solidFill>
                            <a:schemeClr val="tx1"/>
                          </a:solidFill>
                        </a:rPr>
                        <a:t>Your Venture </a:t>
                      </a:r>
                    </a:p>
                  </a:txBody>
                  <a:tcPr/>
                </a:tc>
                <a:extLst>
                  <a:ext uri="{0D108BD9-81ED-4DB2-BD59-A6C34878D82A}">
                    <a16:rowId xmlns:a16="http://schemas.microsoft.com/office/drawing/2014/main" val="1806830575"/>
                  </a:ext>
                </a:extLst>
              </a:tr>
              <a:tr h="609600">
                <a:tc>
                  <a:txBody>
                    <a:bodyPr/>
                    <a:lstStyle/>
                    <a:p>
                      <a:r>
                        <a:rPr lang="en-US" dirty="0"/>
                        <a:t>Product</a:t>
                      </a:r>
                    </a:p>
                  </a:txBody>
                  <a:tcPr/>
                </a:tc>
                <a:tc>
                  <a:txBody>
                    <a:bodyPr/>
                    <a:lstStyle/>
                    <a:p>
                      <a:r>
                        <a:rPr lang="en-US" dirty="0"/>
                        <a:t>Tank level monitoring</a:t>
                      </a:r>
                    </a:p>
                  </a:txBody>
                  <a:tcPr/>
                </a:tc>
                <a:tc>
                  <a:txBody>
                    <a:bodyPr/>
                    <a:lstStyle/>
                    <a:p>
                      <a:r>
                        <a:rPr lang="en-US" dirty="0"/>
                        <a:t>Overflow prevention</a:t>
                      </a:r>
                    </a:p>
                  </a:txBody>
                  <a:tcPr/>
                </a:tc>
                <a:tc>
                  <a:txBody>
                    <a:bodyPr/>
                    <a:lstStyle/>
                    <a:p>
                      <a:r>
                        <a:rPr lang="en-US" dirty="0"/>
                        <a:t>Water usage tracking</a:t>
                      </a:r>
                    </a:p>
                  </a:txBody>
                  <a:tcPr/>
                </a:tc>
                <a:tc>
                  <a:txBody>
                    <a:bodyPr/>
                    <a:lstStyle/>
                    <a:p>
                      <a:r>
                        <a:rPr lang="en-US" dirty="0"/>
                        <a:t>Advanced water management system</a:t>
                      </a:r>
                    </a:p>
                  </a:txBody>
                  <a:tcPr/>
                </a:tc>
                <a:tc>
                  <a:txBody>
                    <a:bodyPr/>
                    <a:lstStyle/>
                    <a:p>
                      <a:r>
                        <a:rPr lang="en-US" dirty="0"/>
                        <a:t>Smart water monitoring &amp; alerts</a:t>
                      </a:r>
                    </a:p>
                  </a:txBody>
                  <a:tcPr/>
                </a:tc>
                <a:extLst>
                  <a:ext uri="{0D108BD9-81ED-4DB2-BD59-A6C34878D82A}">
                    <a16:rowId xmlns:a16="http://schemas.microsoft.com/office/drawing/2014/main" val="584068931"/>
                  </a:ext>
                </a:extLst>
              </a:tr>
              <a:tr h="609600">
                <a:tc>
                  <a:txBody>
                    <a:bodyPr/>
                    <a:lstStyle/>
                    <a:p>
                      <a:r>
                        <a:rPr lang="en-US" dirty="0"/>
                        <a:t>Price </a:t>
                      </a:r>
                    </a:p>
                  </a:txBody>
                  <a:tcPr/>
                </a:tc>
                <a:tc>
                  <a:txBody>
                    <a:bodyPr/>
                    <a:lstStyle/>
                    <a:p>
                      <a:r>
                        <a:rPr lang="en-US" dirty="0"/>
                        <a:t>Low</a:t>
                      </a:r>
                    </a:p>
                  </a:txBody>
                  <a:tcPr/>
                </a:tc>
                <a:tc>
                  <a:txBody>
                    <a:bodyPr/>
                    <a:lstStyle/>
                    <a:p>
                      <a:r>
                        <a:rPr lang="en-US" dirty="0"/>
                        <a:t>Low</a:t>
                      </a:r>
                    </a:p>
                  </a:txBody>
                  <a:tcPr/>
                </a:tc>
                <a:tc>
                  <a:txBody>
                    <a:bodyPr/>
                    <a:lstStyle/>
                    <a:p>
                      <a:r>
                        <a:rPr lang="en-US" dirty="0"/>
                        <a:t>High</a:t>
                      </a:r>
                    </a:p>
                  </a:txBody>
                  <a:tcPr/>
                </a:tc>
                <a:tc>
                  <a:txBody>
                    <a:bodyPr/>
                    <a:lstStyle/>
                    <a:p>
                      <a:r>
                        <a:rPr lang="en-US" dirty="0"/>
                        <a:t>High</a:t>
                      </a:r>
                    </a:p>
                  </a:txBody>
                  <a:tcPr/>
                </a:tc>
                <a:tc>
                  <a:txBody>
                    <a:bodyPr/>
                    <a:lstStyle/>
                    <a:p>
                      <a:r>
                        <a:rPr lang="en-US" dirty="0"/>
                        <a:t>Affordable</a:t>
                      </a:r>
                    </a:p>
                  </a:txBody>
                  <a:tcPr/>
                </a:tc>
                <a:extLst>
                  <a:ext uri="{0D108BD9-81ED-4DB2-BD59-A6C34878D82A}">
                    <a16:rowId xmlns:a16="http://schemas.microsoft.com/office/drawing/2014/main" val="3832088801"/>
                  </a:ext>
                </a:extLst>
              </a:tr>
              <a:tr h="609600">
                <a:tc>
                  <a:txBody>
                    <a:bodyPr/>
                    <a:lstStyle/>
                    <a:p>
                      <a:r>
                        <a:rPr lang="en-US" dirty="0"/>
                        <a:t>Branding channels </a:t>
                      </a:r>
                    </a:p>
                  </a:txBody>
                  <a:tcPr/>
                </a:tc>
                <a:tc>
                  <a:txBody>
                    <a:bodyPr/>
                    <a:lstStyle/>
                    <a:p>
                      <a:r>
                        <a:rPr lang="en-US" dirty="0"/>
                        <a:t>Local hardware stores</a:t>
                      </a:r>
                    </a:p>
                  </a:txBody>
                  <a:tcPr/>
                </a:tc>
                <a:tc>
                  <a:txBody>
                    <a:bodyPr/>
                    <a:lstStyle/>
                    <a:p>
                      <a:r>
                        <a:rPr lang="en-US" dirty="0"/>
                        <a:t>Plumbing suppliers</a:t>
                      </a:r>
                    </a:p>
                  </a:txBody>
                  <a:tcPr/>
                </a:tc>
                <a:tc>
                  <a:txBody>
                    <a:bodyPr/>
                    <a:lstStyle/>
                    <a:p>
                      <a:r>
                        <a:rPr lang="en-US" dirty="0"/>
                        <a:t>Online &amp; dealers</a:t>
                      </a:r>
                    </a:p>
                  </a:txBody>
                  <a:tcPr/>
                </a:tc>
                <a:tc>
                  <a:txBody>
                    <a:bodyPr/>
                    <a:lstStyle/>
                    <a:p>
                      <a:r>
                        <a:rPr lang="en-US" dirty="0"/>
                        <a:t>Smart home retailers</a:t>
                      </a:r>
                    </a:p>
                  </a:txBody>
                  <a:tcPr/>
                </a:tc>
                <a:tc>
                  <a:txBody>
                    <a:bodyPr/>
                    <a:lstStyle/>
                    <a:p>
                      <a:r>
                        <a:rPr lang="en-US" dirty="0"/>
                        <a:t>Online, app &amp; local dealers</a:t>
                      </a:r>
                    </a:p>
                  </a:txBody>
                  <a:tcPr/>
                </a:tc>
                <a:extLst>
                  <a:ext uri="{0D108BD9-81ED-4DB2-BD59-A6C34878D82A}">
                    <a16:rowId xmlns:a16="http://schemas.microsoft.com/office/drawing/2014/main" val="457005780"/>
                  </a:ext>
                </a:extLst>
              </a:tr>
              <a:tr h="609600">
                <a:tc>
                  <a:txBody>
                    <a:bodyPr/>
                    <a:lstStyle/>
                    <a:p>
                      <a:r>
                        <a:rPr lang="en-US" dirty="0"/>
                        <a:t>Packaging</a:t>
                      </a:r>
                    </a:p>
                  </a:txBody>
                  <a:tcPr/>
                </a:tc>
                <a:tc>
                  <a:txBody>
                    <a:bodyPr/>
                    <a:lstStyle/>
                    <a:p>
                      <a:r>
                        <a:rPr lang="en-US" dirty="0"/>
                        <a:t>Basic</a:t>
                      </a:r>
                    </a:p>
                  </a:txBody>
                  <a:tcPr/>
                </a:tc>
                <a:tc>
                  <a:txBody>
                    <a:bodyPr/>
                    <a:lstStyle/>
                    <a:p>
                      <a:r>
                        <a:rPr lang="en-US" dirty="0"/>
                        <a:t>Basic</a:t>
                      </a:r>
                    </a:p>
                  </a:txBody>
                  <a:tcPr/>
                </a:tc>
                <a:tc>
                  <a:txBody>
                    <a:bodyPr/>
                    <a:lstStyle/>
                    <a:p>
                      <a:r>
                        <a:rPr lang="en-US" dirty="0"/>
                        <a:t>Premium</a:t>
                      </a:r>
                    </a:p>
                  </a:txBody>
                  <a:tcPr/>
                </a:tc>
                <a:tc>
                  <a:txBody>
                    <a:bodyPr/>
                    <a:lstStyle/>
                    <a:p>
                      <a:r>
                        <a:rPr lang="en-US" dirty="0"/>
                        <a:t>Enterprise-grade systems</a:t>
                      </a:r>
                    </a:p>
                  </a:txBody>
                  <a:tcPr/>
                </a:tc>
                <a:tc>
                  <a:txBody>
                    <a:bodyPr/>
                    <a:lstStyle/>
                    <a:p>
                      <a:r>
                        <a:rPr lang="en-US" dirty="0"/>
                        <a:t>Compact &amp; user-friendly</a:t>
                      </a:r>
                    </a:p>
                  </a:txBody>
                  <a:tcPr/>
                </a:tc>
                <a:extLst>
                  <a:ext uri="{0D108BD9-81ED-4DB2-BD59-A6C34878D82A}">
                    <a16:rowId xmlns:a16="http://schemas.microsoft.com/office/drawing/2014/main" val="3498795634"/>
                  </a:ext>
                </a:extLst>
              </a:tr>
              <a:tr h="609600">
                <a:tc>
                  <a:txBody>
                    <a:bodyPr/>
                    <a:lstStyle/>
                    <a:p>
                      <a:r>
                        <a:rPr lang="en-US" dirty="0"/>
                        <a:t>Market reviews </a:t>
                      </a:r>
                    </a:p>
                  </a:txBody>
                  <a:tcPr/>
                </a:tc>
                <a:tc>
                  <a:txBody>
                    <a:bodyPr/>
                    <a:lstStyle/>
                    <a:p>
                      <a:r>
                        <a:rPr lang="en-US" dirty="0"/>
                        <a:t>Useful but limited</a:t>
                      </a:r>
                    </a:p>
                  </a:txBody>
                  <a:tcPr/>
                </a:tc>
                <a:tc>
                  <a:txBody>
                    <a:bodyPr/>
                    <a:lstStyle/>
                    <a:p>
                      <a:r>
                        <a:rPr lang="en-US" dirty="0"/>
                        <a:t>Reliable but limited</a:t>
                      </a:r>
                    </a:p>
                  </a:txBody>
                  <a:tcPr/>
                </a:tc>
                <a:tc>
                  <a:txBody>
                    <a:bodyPr/>
                    <a:lstStyle/>
                    <a:p>
                      <a:r>
                        <a:rPr lang="en-US" dirty="0"/>
                        <a:t>Good but expensive</a:t>
                      </a:r>
                    </a:p>
                  </a:txBody>
                  <a:tcPr/>
                </a:tc>
                <a:tc>
                  <a:txBody>
                    <a:bodyPr/>
                    <a:lstStyle/>
                    <a:p>
                      <a:r>
                        <a:rPr lang="en-US" dirty="0"/>
                        <a:t>Highly effective but costly</a:t>
                      </a:r>
                    </a:p>
                  </a:txBody>
                  <a:tcPr/>
                </a:tc>
                <a:tc>
                  <a:txBody>
                    <a:bodyPr/>
                    <a:lstStyle/>
                    <a:p>
                      <a:r>
                        <a:rPr lang="en-US" dirty="0"/>
                        <a:t>Smart, affordable &amp; feature-rich</a:t>
                      </a:r>
                    </a:p>
                  </a:txBody>
                  <a:tcPr/>
                </a:tc>
                <a:extLst>
                  <a:ext uri="{0D108BD9-81ED-4DB2-BD59-A6C34878D82A}">
                    <a16:rowId xmlns:a16="http://schemas.microsoft.com/office/drawing/2014/main" val="1009763486"/>
                  </a:ext>
                </a:extLst>
              </a:tr>
              <a:tr h="609600">
                <a:tc>
                  <a:txBody>
                    <a:bodyPr/>
                    <a:lstStyle/>
                    <a:p>
                      <a:r>
                        <a:rPr lang="en-US" dirty="0"/>
                        <a:t>UVP</a:t>
                      </a:r>
                    </a:p>
                  </a:txBody>
                  <a:tcPr/>
                </a:tc>
                <a:tc>
                  <a:txBody>
                    <a:bodyPr/>
                    <a:lstStyle/>
                    <a:p>
                      <a:r>
                        <a:rPr lang="en-US" dirty="0"/>
                        <a:t>Shows water level only </a:t>
                      </a:r>
                    </a:p>
                  </a:txBody>
                  <a:tcPr/>
                </a:tc>
                <a:tc>
                  <a:txBody>
                    <a:bodyPr/>
                    <a:lstStyle/>
                    <a:p>
                      <a:r>
                        <a:rPr lang="en-US" dirty="0"/>
                        <a:t>Stops overflow only</a:t>
                      </a:r>
                    </a:p>
                  </a:txBody>
                  <a:tcPr/>
                </a:tc>
                <a:tc>
                  <a:txBody>
                    <a:bodyPr/>
                    <a:lstStyle/>
                    <a:p>
                      <a:r>
                        <a:rPr lang="en-US" dirty="0"/>
                        <a:t>Usage tracking only</a:t>
                      </a:r>
                    </a:p>
                  </a:txBody>
                  <a:tcPr/>
                </a:tc>
                <a:tc>
                  <a:txBody>
                    <a:bodyPr/>
                    <a:lstStyle/>
                    <a:p>
                      <a:r>
                        <a:rPr lang="en-US" dirty="0"/>
                        <a:t>Large-scale smart water infrastructure</a:t>
                      </a:r>
                    </a:p>
                  </a:txBody>
                  <a:tcPr/>
                </a:tc>
                <a:tc>
                  <a:txBody>
                    <a:bodyPr/>
                    <a:lstStyle/>
                    <a:p>
                      <a:r>
                        <a:rPr lang="en-US" dirty="0"/>
                        <a:t>Detects leaks, overflow &amp; limit exceedance with mobile alerts</a:t>
                      </a:r>
                    </a:p>
                  </a:txBody>
                  <a:tcPr/>
                </a:tc>
                <a:extLst>
                  <a:ext uri="{0D108BD9-81ED-4DB2-BD59-A6C34878D82A}">
                    <a16:rowId xmlns:a16="http://schemas.microsoft.com/office/drawing/2014/main" val="1794513914"/>
                  </a:ext>
                </a:extLst>
              </a:tr>
              <a:tr h="609600">
                <a:tc>
                  <a:txBody>
                    <a:bodyPr/>
                    <a:lstStyle/>
                    <a:p>
                      <a:r>
                        <a:rPr lang="en-US" dirty="0"/>
                        <a:t>Add more as required </a:t>
                      </a:r>
                    </a:p>
                  </a:txBody>
                  <a:tcPr/>
                </a:tc>
                <a:tc>
                  <a:txBody>
                    <a:bodyPr/>
                    <a:lstStyle/>
                    <a:p>
                      <a:r>
                        <a:rPr lang="en-US" dirty="0"/>
                        <a:t>No alerts</a:t>
                      </a:r>
                    </a:p>
                  </a:txBody>
                  <a:tcPr/>
                </a:tc>
                <a:tc>
                  <a:txBody>
                    <a:bodyPr/>
                    <a:lstStyle/>
                    <a:p>
                      <a:r>
                        <a:rPr lang="en-US" dirty="0"/>
                        <a:t>No alerts</a:t>
                      </a:r>
                    </a:p>
                  </a:txBody>
                  <a:tcPr/>
                </a:tc>
                <a:tc>
                  <a:txBody>
                    <a:bodyPr/>
                    <a:lstStyle/>
                    <a:p>
                      <a:r>
                        <a:rPr lang="en-US" dirty="0"/>
                        <a:t>Limited notifications</a:t>
                      </a:r>
                    </a:p>
                  </a:txBody>
                  <a:tcPr/>
                </a:tc>
                <a:tc>
                  <a:txBody>
                    <a:bodyPr/>
                    <a:lstStyle/>
                    <a:p>
                      <a:r>
                        <a:rPr lang="en-US" dirty="0"/>
                        <a:t>Advanced analytics &amp; monitoring</a:t>
                      </a:r>
                    </a:p>
                  </a:txBody>
                  <a:tcPr/>
                </a:tc>
                <a:tc>
                  <a:txBody>
                    <a:bodyPr/>
                    <a:lstStyle/>
                    <a:p>
                      <a:r>
                        <a:rPr lang="en-US" dirty="0"/>
                        <a:t>Cloud storage, app dashboard &amp; real-time notifications</a:t>
                      </a:r>
                    </a:p>
                  </a:txBody>
                  <a:tcPr/>
                </a:tc>
                <a:extLst>
                  <a:ext uri="{0D108BD9-81ED-4DB2-BD59-A6C34878D82A}">
                    <a16:rowId xmlns:a16="http://schemas.microsoft.com/office/drawing/2014/main" val="3836816247"/>
                  </a:ext>
                </a:extLst>
              </a:tr>
            </a:tbl>
          </a:graphicData>
        </a:graphic>
      </p:graphicFrame>
    </p:spTree>
    <p:extLst>
      <p:ext uri="{BB962C8B-B14F-4D97-AF65-F5344CB8AC3E}">
        <p14:creationId xmlns:p14="http://schemas.microsoft.com/office/powerpoint/2010/main" val="2946946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p:cNvSpPr txBox="1"/>
          <p:nvPr/>
        </p:nvSpPr>
        <p:spPr>
          <a:xfrm>
            <a:off x="738845" y="546240"/>
            <a:ext cx="12338484" cy="1115690"/>
          </a:xfrm>
          <a:prstGeom prst="rect">
            <a:avLst/>
          </a:prstGeom>
        </p:spPr>
        <p:txBody>
          <a:bodyPr wrap="square" lIns="0" tIns="0" rIns="0" bIns="0" rtlCol="0" anchor="t">
            <a:spAutoFit/>
          </a:bodyPr>
          <a:lstStyle/>
          <a:p>
            <a:pPr>
              <a:lnSpc>
                <a:spcPts val="8747"/>
              </a:lnSpc>
            </a:pPr>
            <a:r>
              <a:rPr lang="en-US" sz="6000" b="1" dirty="0"/>
              <a:t>Lean Canvas</a:t>
            </a:r>
          </a:p>
        </p:txBody>
      </p:sp>
      <p:sp>
        <p:nvSpPr>
          <p:cNvPr id="14" name="TextBox 13"/>
          <p:cNvSpPr txBox="1"/>
          <p:nvPr/>
        </p:nvSpPr>
        <p:spPr>
          <a:xfrm>
            <a:off x="14670351" y="1943100"/>
            <a:ext cx="3084249" cy="7448193"/>
          </a:xfrm>
          <a:prstGeom prst="rect">
            <a:avLst/>
          </a:prstGeom>
          <a:noFill/>
          <a:ln>
            <a:solidFill>
              <a:schemeClr val="bg2">
                <a:lumMod val="50000"/>
              </a:schemeClr>
            </a:solidFill>
          </a:ln>
        </p:spPr>
        <p:txBody>
          <a:bodyPr wrap="square" rtlCol="0">
            <a:spAutoFit/>
          </a:bodyPr>
          <a:lstStyle/>
          <a:p>
            <a:r>
              <a:rPr lang="en-IN" b="1" dirty="0"/>
              <a:t>Business Model </a:t>
            </a:r>
            <a:r>
              <a:rPr lang="en-IN" sz="1200" dirty="0"/>
              <a:t>(Explain with a process diagram)</a:t>
            </a:r>
          </a:p>
          <a:p>
            <a:r>
              <a:rPr lang="en-US" sz="1400" dirty="0">
                <a:solidFill>
                  <a:srgbClr val="002060"/>
                </a:solidFill>
              </a:rPr>
              <a:t>AquaSmart generates revenue by selling smart water monitoring devices to households and residential buildings. Customers purchase the system, which is installed in their water pipeline network. The system continuously monitors water consumption and provides alerts for leakages, overuse, and tank overflow. Revenue is earned through device sales, installation charges, maintenance services, and future subscription-based monitoring features.</a:t>
            </a:r>
          </a:p>
          <a:p>
            <a:endParaRPr lang="en-US" sz="1400" dirty="0">
              <a:solidFill>
                <a:srgbClr val="002060"/>
              </a:solidFill>
            </a:endParaRPr>
          </a:p>
          <a:p>
            <a:r>
              <a:rPr lang="en-IN" sz="1400" dirty="0">
                <a:solidFill>
                  <a:srgbClr val="002060"/>
                </a:solidFill>
              </a:rPr>
              <a:t>Customer</a:t>
            </a:r>
          </a:p>
          <a:p>
            <a:r>
              <a:rPr lang="en-IN" sz="1400" dirty="0">
                <a:solidFill>
                  <a:srgbClr val="002060"/>
                </a:solidFill>
              </a:rPr>
              <a:t>   ↓</a:t>
            </a:r>
          </a:p>
          <a:p>
            <a:r>
              <a:rPr lang="en-IN" sz="1400" dirty="0">
                <a:solidFill>
                  <a:srgbClr val="002060"/>
                </a:solidFill>
              </a:rPr>
              <a:t>Purchase AquaSmart System</a:t>
            </a:r>
          </a:p>
          <a:p>
            <a:r>
              <a:rPr lang="en-IN" sz="1400" dirty="0">
                <a:solidFill>
                  <a:srgbClr val="002060"/>
                </a:solidFill>
              </a:rPr>
              <a:t>   ↓</a:t>
            </a:r>
          </a:p>
          <a:p>
            <a:r>
              <a:rPr lang="en-IN" sz="1400" dirty="0">
                <a:solidFill>
                  <a:srgbClr val="002060"/>
                </a:solidFill>
              </a:rPr>
              <a:t>Installation in Home</a:t>
            </a:r>
          </a:p>
          <a:p>
            <a:r>
              <a:rPr lang="en-IN" sz="1400" dirty="0">
                <a:solidFill>
                  <a:srgbClr val="002060"/>
                </a:solidFill>
              </a:rPr>
              <a:t>   ↓</a:t>
            </a:r>
          </a:p>
          <a:p>
            <a:r>
              <a:rPr lang="en-IN" sz="1400" dirty="0">
                <a:solidFill>
                  <a:srgbClr val="002060"/>
                </a:solidFill>
              </a:rPr>
              <a:t>Water Usage Monitoring</a:t>
            </a:r>
          </a:p>
          <a:p>
            <a:r>
              <a:rPr lang="en-IN" sz="1400" dirty="0">
                <a:solidFill>
                  <a:srgbClr val="002060"/>
                </a:solidFill>
              </a:rPr>
              <a:t>   ↓</a:t>
            </a:r>
          </a:p>
          <a:p>
            <a:r>
              <a:rPr lang="en-IN" sz="1400" dirty="0">
                <a:solidFill>
                  <a:srgbClr val="002060"/>
                </a:solidFill>
              </a:rPr>
              <a:t>Leakage / Overflow Detection</a:t>
            </a:r>
          </a:p>
          <a:p>
            <a:r>
              <a:rPr lang="en-IN" sz="1400" dirty="0">
                <a:solidFill>
                  <a:srgbClr val="002060"/>
                </a:solidFill>
              </a:rPr>
              <a:t>   ↓</a:t>
            </a:r>
          </a:p>
          <a:p>
            <a:r>
              <a:rPr lang="en-IN" sz="1400" dirty="0">
                <a:solidFill>
                  <a:srgbClr val="002060"/>
                </a:solidFill>
              </a:rPr>
              <a:t>Real-Time Alerts to User</a:t>
            </a:r>
          </a:p>
          <a:p>
            <a:r>
              <a:rPr lang="en-IN" sz="1400" dirty="0">
                <a:solidFill>
                  <a:srgbClr val="002060"/>
                </a:solidFill>
              </a:rPr>
              <a:t>   ↓</a:t>
            </a:r>
          </a:p>
          <a:p>
            <a:r>
              <a:rPr lang="en-IN" sz="1400" dirty="0">
                <a:solidFill>
                  <a:srgbClr val="002060"/>
                </a:solidFill>
              </a:rPr>
              <a:t>Reduced Water Wastage &amp; Bills</a:t>
            </a:r>
          </a:p>
          <a:p>
            <a:r>
              <a:rPr lang="en-IN" sz="1400" dirty="0">
                <a:solidFill>
                  <a:srgbClr val="002060"/>
                </a:solidFill>
              </a:rPr>
              <a:t>   ↓</a:t>
            </a:r>
          </a:p>
          <a:p>
            <a:r>
              <a:rPr lang="en-IN" sz="1400" dirty="0">
                <a:solidFill>
                  <a:srgbClr val="002060"/>
                </a:solidFill>
              </a:rPr>
              <a:t>Customer Satisfaction</a:t>
            </a:r>
          </a:p>
          <a:p>
            <a:r>
              <a:rPr lang="en-IN" sz="1400" dirty="0">
                <a:solidFill>
                  <a:srgbClr val="002060"/>
                </a:solidFill>
              </a:rPr>
              <a:t>   ↓</a:t>
            </a:r>
          </a:p>
          <a:p>
            <a:r>
              <a:rPr lang="en-IN" sz="1400" dirty="0">
                <a:solidFill>
                  <a:srgbClr val="002060"/>
                </a:solidFill>
              </a:rPr>
              <a:t>Revenue through Product Sales,</a:t>
            </a:r>
          </a:p>
          <a:p>
            <a:r>
              <a:rPr lang="en-IN" sz="1400" dirty="0">
                <a:solidFill>
                  <a:srgbClr val="002060"/>
                </a:solidFill>
              </a:rPr>
              <a:t>Installation &amp; Maintenance Services</a:t>
            </a:r>
          </a:p>
        </p:txBody>
      </p:sp>
      <p:sp>
        <p:nvSpPr>
          <p:cNvPr id="23" name="Rectangle 22">
            <a:extLst>
              <a:ext uri="{FF2B5EF4-FFF2-40B4-BE49-F238E27FC236}">
                <a16:creationId xmlns:a16="http://schemas.microsoft.com/office/drawing/2014/main" id="{5DE34494-019C-4AF1-907B-33245967C575}"/>
              </a:ext>
            </a:extLst>
          </p:cNvPr>
          <p:cNvSpPr/>
          <p:nvPr/>
        </p:nvSpPr>
        <p:spPr>
          <a:xfrm>
            <a:off x="16230600" y="398995"/>
            <a:ext cx="1695221" cy="1288685"/>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grpSp>
        <p:nvGrpSpPr>
          <p:cNvPr id="24" name="Group 23">
            <a:extLst>
              <a:ext uri="{FF2B5EF4-FFF2-40B4-BE49-F238E27FC236}">
                <a16:creationId xmlns:a16="http://schemas.microsoft.com/office/drawing/2014/main" id="{2871DA2D-B3CE-4F68-958C-EFD80A045093}"/>
              </a:ext>
            </a:extLst>
          </p:cNvPr>
          <p:cNvGrpSpPr/>
          <p:nvPr/>
        </p:nvGrpSpPr>
        <p:grpSpPr>
          <a:xfrm>
            <a:off x="718063" y="1992878"/>
            <a:ext cx="13952288" cy="8182928"/>
            <a:chOff x="1057033" y="956344"/>
            <a:chExt cx="9301525" cy="5455285"/>
          </a:xfrm>
          <a:noFill/>
        </p:grpSpPr>
        <p:sp>
          <p:nvSpPr>
            <p:cNvPr id="25" name="Rectangle 24">
              <a:extLst>
                <a:ext uri="{FF2B5EF4-FFF2-40B4-BE49-F238E27FC236}">
                  <a16:creationId xmlns:a16="http://schemas.microsoft.com/office/drawing/2014/main" id="{142DE8B1-BA37-482F-A9F6-BEF943895596}"/>
                </a:ext>
              </a:extLst>
            </p:cNvPr>
            <p:cNvSpPr/>
            <p:nvPr/>
          </p:nvSpPr>
          <p:spPr>
            <a:xfrm>
              <a:off x="1057033" y="956344"/>
              <a:ext cx="1870333" cy="406161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r>
                <a:rPr lang="en-GB" b="1" dirty="0">
                  <a:solidFill>
                    <a:schemeClr val="tx1"/>
                  </a:solidFill>
                </a:rPr>
                <a:t>PROBLEM</a:t>
              </a:r>
            </a:p>
            <a:p>
              <a:pPr marL="285750" indent="-285750">
                <a:buFont typeface="Arial" panose="020B0604020202020204" pitchFamily="34" charset="0"/>
                <a:buChar char="•"/>
              </a:pPr>
              <a:r>
                <a:rPr lang="en-US" dirty="0">
                  <a:solidFill>
                    <a:schemeClr val="tx1"/>
                  </a:solidFill>
                </a:rPr>
                <a:t>Water wastage in households</a:t>
              </a:r>
            </a:p>
            <a:p>
              <a:pPr marL="285750" indent="-285750">
                <a:buFont typeface="Arial" panose="020B0604020202020204" pitchFamily="34" charset="0"/>
                <a:buChar char="•"/>
              </a:pPr>
              <a:r>
                <a:rPr lang="en-US" dirty="0">
                  <a:solidFill>
                    <a:schemeClr val="tx1"/>
                  </a:solidFill>
                </a:rPr>
                <a:t>Tank overflow</a:t>
              </a:r>
            </a:p>
            <a:p>
              <a:pPr marL="285750" indent="-285750">
                <a:buFont typeface="Arial" panose="020B0604020202020204" pitchFamily="34" charset="0"/>
                <a:buChar char="•"/>
              </a:pPr>
              <a:r>
                <a:rPr lang="en-US" dirty="0">
                  <a:solidFill>
                    <a:schemeClr val="tx1"/>
                  </a:solidFill>
                </a:rPr>
                <a:t>Pipeline leakages</a:t>
              </a:r>
            </a:p>
            <a:p>
              <a:pPr marL="285750" indent="-285750">
                <a:buFont typeface="Arial" panose="020B0604020202020204" pitchFamily="34" charset="0"/>
                <a:buChar char="•"/>
              </a:pPr>
              <a:r>
                <a:rPr lang="en-US" dirty="0">
                  <a:solidFill>
                    <a:schemeClr val="tx1"/>
                  </a:solidFill>
                </a:rPr>
                <a:t>High water bills</a:t>
              </a:r>
            </a:p>
            <a:p>
              <a:pPr marL="285750" indent="-285750">
                <a:buFont typeface="Arial" panose="020B0604020202020204" pitchFamily="34" charset="0"/>
                <a:buChar char="•"/>
              </a:pPr>
              <a:r>
                <a:rPr lang="en-US" dirty="0">
                  <a:solidFill>
                    <a:schemeClr val="tx1"/>
                  </a:solidFill>
                </a:rPr>
                <a:t>No monitoring system</a:t>
              </a:r>
              <a:endParaRPr lang="en-GB" dirty="0">
                <a:solidFill>
                  <a:schemeClr val="tx1"/>
                </a:solidFill>
              </a:endParaRPr>
            </a:p>
            <a:p>
              <a:endParaRPr lang="en-GB" dirty="0">
                <a:solidFill>
                  <a:schemeClr val="tx1"/>
                </a:solidFill>
              </a:endParaRPr>
            </a:p>
            <a:p>
              <a:endParaRPr lang="en-GB" dirty="0">
                <a:solidFill>
                  <a:schemeClr val="tx1"/>
                </a:solidFill>
              </a:endParaRPr>
            </a:p>
            <a:p>
              <a:endParaRPr lang="en-GB" dirty="0">
                <a:solidFill>
                  <a:schemeClr val="tx1"/>
                </a:solidFill>
              </a:endParaRPr>
            </a:p>
            <a:p>
              <a:r>
                <a:rPr lang="en-GB" b="1" dirty="0">
                  <a:solidFill>
                    <a:schemeClr val="tx1"/>
                  </a:solidFill>
                </a:rPr>
                <a:t>EXISTING ALTERNATIVES</a:t>
              </a:r>
            </a:p>
            <a:p>
              <a:pPr marL="285750" indent="-285750">
                <a:buFont typeface="Arial" panose="020B0604020202020204" pitchFamily="34" charset="0"/>
                <a:buChar char="•"/>
              </a:pPr>
              <a:r>
                <a:rPr lang="en-US" dirty="0">
                  <a:solidFill>
                    <a:schemeClr val="tx1"/>
                  </a:solidFill>
                </a:rPr>
                <a:t>Float valves</a:t>
              </a:r>
            </a:p>
            <a:p>
              <a:pPr marL="285750" indent="-285750">
                <a:buFont typeface="Arial" panose="020B0604020202020204" pitchFamily="34" charset="0"/>
                <a:buChar char="•"/>
              </a:pPr>
              <a:r>
                <a:rPr lang="en-US" dirty="0">
                  <a:solidFill>
                    <a:schemeClr val="tx1"/>
                  </a:solidFill>
                </a:rPr>
                <a:t>Manual monitoring</a:t>
              </a:r>
            </a:p>
            <a:p>
              <a:pPr marL="285750" indent="-285750">
                <a:buFont typeface="Arial" panose="020B0604020202020204" pitchFamily="34" charset="0"/>
                <a:buChar char="•"/>
              </a:pPr>
              <a:r>
                <a:rPr lang="en-US" dirty="0">
                  <a:solidFill>
                    <a:schemeClr val="tx1"/>
                  </a:solidFill>
                </a:rPr>
                <a:t>Timers</a:t>
              </a:r>
            </a:p>
            <a:p>
              <a:pPr marL="285750" indent="-285750">
                <a:buFont typeface="Arial" panose="020B0604020202020204" pitchFamily="34" charset="0"/>
                <a:buChar char="•"/>
              </a:pPr>
              <a:r>
                <a:rPr lang="en-US" dirty="0">
                  <a:solidFill>
                    <a:schemeClr val="tx1"/>
                  </a:solidFill>
                </a:rPr>
                <a:t>Water level indicators</a:t>
              </a:r>
              <a:endParaRPr lang="en-GB" dirty="0">
                <a:solidFill>
                  <a:schemeClr val="tx1"/>
                </a:solidFill>
              </a:endParaRPr>
            </a:p>
          </p:txBody>
        </p:sp>
        <p:sp>
          <p:nvSpPr>
            <p:cNvPr id="26" name="Rectangle 25">
              <a:extLst>
                <a:ext uri="{FF2B5EF4-FFF2-40B4-BE49-F238E27FC236}">
                  <a16:creationId xmlns:a16="http://schemas.microsoft.com/office/drawing/2014/main" id="{DA61AF53-C124-49C7-9FFB-00E90C7BD86C}"/>
                </a:ext>
              </a:extLst>
            </p:cNvPr>
            <p:cNvSpPr/>
            <p:nvPr/>
          </p:nvSpPr>
          <p:spPr>
            <a:xfrm>
              <a:off x="3032477" y="2637347"/>
              <a:ext cx="1608198" cy="236883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KEY METRICS</a:t>
              </a:r>
            </a:p>
            <a:p>
              <a:pPr marL="257176" indent="-257176">
                <a:buFont typeface="Arial" panose="020B0604020202020204" pitchFamily="34" charset="0"/>
                <a:buChar char="•"/>
              </a:pPr>
              <a:r>
                <a:rPr lang="en-US" dirty="0">
                  <a:solidFill>
                    <a:schemeClr val="tx1"/>
                  </a:solidFill>
                </a:rPr>
                <a:t>Water saved per household</a:t>
              </a:r>
            </a:p>
            <a:p>
              <a:pPr marL="257176" indent="-257176">
                <a:buFont typeface="Arial" panose="020B0604020202020204" pitchFamily="34" charset="0"/>
                <a:buChar char="•"/>
              </a:pPr>
              <a:r>
                <a:rPr lang="en-US" dirty="0">
                  <a:solidFill>
                    <a:schemeClr val="tx1"/>
                  </a:solidFill>
                </a:rPr>
                <a:t>Number of leak detections</a:t>
              </a:r>
            </a:p>
            <a:p>
              <a:pPr marL="257176" indent="-257176">
                <a:buFont typeface="Arial" panose="020B0604020202020204" pitchFamily="34" charset="0"/>
                <a:buChar char="•"/>
              </a:pPr>
              <a:r>
                <a:rPr lang="en-US" dirty="0">
                  <a:solidFill>
                    <a:schemeClr val="tx1"/>
                  </a:solidFill>
                </a:rPr>
                <a:t>Monthly active users</a:t>
              </a:r>
            </a:p>
            <a:p>
              <a:pPr marL="257176" indent="-257176">
                <a:buFont typeface="Arial" panose="020B0604020202020204" pitchFamily="34" charset="0"/>
                <a:buChar char="•"/>
              </a:pPr>
              <a:r>
                <a:rPr lang="en-US" dirty="0">
                  <a:solidFill>
                    <a:schemeClr val="tx1"/>
                  </a:solidFill>
                </a:rPr>
                <a:t>Reduction in water bills</a:t>
              </a:r>
            </a:p>
            <a:p>
              <a:pPr marL="257176" indent="-257176">
                <a:buFont typeface="Arial" panose="020B0604020202020204" pitchFamily="34" charset="0"/>
                <a:buChar char="•"/>
              </a:pPr>
              <a:endParaRPr lang="en-US" dirty="0">
                <a:solidFill>
                  <a:schemeClr val="tx1"/>
                </a:solidFill>
              </a:endParaRPr>
            </a:p>
            <a:p>
              <a:pPr marL="257176" indent="-257176">
                <a:buFont typeface="Arial" panose="020B0604020202020204" pitchFamily="34" charset="0"/>
                <a:buChar char="•"/>
              </a:pPr>
              <a:endParaRPr lang="en-US" dirty="0">
                <a:solidFill>
                  <a:schemeClr val="tx1"/>
                </a:solidFill>
              </a:endParaRPr>
            </a:p>
            <a:p>
              <a:pPr marL="257176" indent="-257176">
                <a:buFont typeface="Arial" panose="020B0604020202020204" pitchFamily="34" charset="0"/>
                <a:buChar char="•"/>
              </a:pPr>
              <a:endParaRPr lang="en-US" dirty="0">
                <a:solidFill>
                  <a:schemeClr val="tx1"/>
                </a:solidFill>
              </a:endParaRPr>
            </a:p>
            <a:p>
              <a:endParaRPr lang="en-ZA" b="1" dirty="0">
                <a:solidFill>
                  <a:schemeClr val="tx1"/>
                </a:solidFill>
              </a:endParaRPr>
            </a:p>
          </p:txBody>
        </p:sp>
        <p:sp>
          <p:nvSpPr>
            <p:cNvPr id="27" name="Rectangle 26">
              <a:extLst>
                <a:ext uri="{FF2B5EF4-FFF2-40B4-BE49-F238E27FC236}">
                  <a16:creationId xmlns:a16="http://schemas.microsoft.com/office/drawing/2014/main" id="{8C3C327D-2A6A-43E6-8F62-9A1FFF479CDC}"/>
                </a:ext>
              </a:extLst>
            </p:cNvPr>
            <p:cNvSpPr/>
            <p:nvPr/>
          </p:nvSpPr>
          <p:spPr>
            <a:xfrm>
              <a:off x="3036352" y="956345"/>
              <a:ext cx="1608198" cy="1610685"/>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SOLUTION</a:t>
              </a:r>
            </a:p>
            <a:p>
              <a:r>
                <a:rPr lang="en-US" dirty="0">
                  <a:solidFill>
                    <a:schemeClr val="tx1"/>
                  </a:solidFill>
                </a:rPr>
                <a:t>A smart IoT-based water management system that monitors water usage, detects leakage, and alerts users instantly.</a:t>
              </a:r>
            </a:p>
            <a:p>
              <a:endParaRPr lang="en-ZA" dirty="0">
                <a:solidFill>
                  <a:schemeClr val="tx1"/>
                </a:solidFill>
              </a:endParaRPr>
            </a:p>
          </p:txBody>
        </p:sp>
        <p:sp>
          <p:nvSpPr>
            <p:cNvPr id="28" name="Rectangle 27">
              <a:extLst>
                <a:ext uri="{FF2B5EF4-FFF2-40B4-BE49-F238E27FC236}">
                  <a16:creationId xmlns:a16="http://schemas.microsoft.com/office/drawing/2014/main" id="{EB374BDD-612A-4745-8EB3-8C7D069E8146}"/>
                </a:ext>
              </a:extLst>
            </p:cNvPr>
            <p:cNvSpPr/>
            <p:nvPr/>
          </p:nvSpPr>
          <p:spPr>
            <a:xfrm>
              <a:off x="4752681" y="956344"/>
              <a:ext cx="1835913" cy="406161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UNIQUE VALUE PROPOSITION</a:t>
              </a:r>
            </a:p>
            <a:p>
              <a:endParaRPr lang="en-US" b="1" dirty="0">
                <a:solidFill>
                  <a:schemeClr val="tx1"/>
                </a:solidFill>
              </a:endParaRPr>
            </a:p>
            <a:p>
              <a:r>
                <a:rPr lang="en-US" b="1" dirty="0">
                  <a:solidFill>
                    <a:schemeClr val="tx1"/>
                  </a:solidFill>
                </a:rPr>
                <a:t>"Monitor water. Detect leaks. Prevent overflow. </a:t>
              </a:r>
              <a:r>
                <a:rPr lang="en-US" b="1">
                  <a:solidFill>
                    <a:schemeClr val="tx1"/>
                  </a:solidFill>
                </a:rPr>
                <a:t>Save every drop.“</a:t>
              </a:r>
            </a:p>
            <a:p>
              <a:endParaRPr lang="en-US" b="1" dirty="0">
                <a:solidFill>
                  <a:schemeClr val="tx1"/>
                </a:solidFill>
              </a:endParaRPr>
            </a:p>
            <a:p>
              <a:endParaRPr lang="en-US" b="1" dirty="0">
                <a:solidFill>
                  <a:schemeClr val="tx1"/>
                </a:solidFill>
              </a:endParaRPr>
            </a:p>
            <a:p>
              <a:endParaRPr lang="en-US" b="1" dirty="0">
                <a:solidFill>
                  <a:schemeClr val="tx1"/>
                </a:solidFill>
              </a:endParaRPr>
            </a:p>
            <a:p>
              <a:endParaRPr lang="en-US" dirty="0">
                <a:solidFill>
                  <a:schemeClr val="tx1"/>
                </a:solidFill>
              </a:endParaRPr>
            </a:p>
            <a:p>
              <a:r>
                <a:rPr lang="en-US" b="1" dirty="0">
                  <a:solidFill>
                    <a:schemeClr val="tx1"/>
                  </a:solidFill>
                </a:rPr>
                <a:t>HIGH-LEVEL CONCEPT</a:t>
              </a:r>
            </a:p>
            <a:p>
              <a:endParaRPr lang="en-US" b="1" dirty="0">
                <a:solidFill>
                  <a:schemeClr val="tx1"/>
                </a:solidFill>
              </a:endParaRPr>
            </a:p>
            <a:p>
              <a:r>
                <a:rPr lang="en-US" b="1" dirty="0">
                  <a:solidFill>
                    <a:schemeClr val="tx1"/>
                  </a:solidFill>
                </a:rPr>
                <a:t>AquaSmart acts like a smart assistant for household water management.</a:t>
              </a:r>
            </a:p>
          </p:txBody>
        </p:sp>
        <p:sp>
          <p:nvSpPr>
            <p:cNvPr id="29" name="Rectangle 28">
              <a:extLst>
                <a:ext uri="{FF2B5EF4-FFF2-40B4-BE49-F238E27FC236}">
                  <a16:creationId xmlns:a16="http://schemas.microsoft.com/office/drawing/2014/main" id="{2BA62365-66A4-404F-8375-01904FBE1169}"/>
                </a:ext>
              </a:extLst>
            </p:cNvPr>
            <p:cNvSpPr/>
            <p:nvPr/>
          </p:nvSpPr>
          <p:spPr>
            <a:xfrm>
              <a:off x="6689796" y="956344"/>
              <a:ext cx="1657072" cy="1610685"/>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UNFAIR ADVANTAGE</a:t>
              </a:r>
            </a:p>
            <a:p>
              <a:pPr marL="285750" indent="-285750">
                <a:buFont typeface="Arial" panose="020B0604020202020204" pitchFamily="34" charset="0"/>
                <a:buChar char="•"/>
              </a:pPr>
              <a:r>
                <a:rPr lang="en-US" dirty="0">
                  <a:solidFill>
                    <a:schemeClr val="tx1"/>
                  </a:solidFill>
                </a:rPr>
                <a:t>Low-cost solution</a:t>
              </a:r>
            </a:p>
            <a:p>
              <a:pPr marL="285750" indent="-285750">
                <a:buFont typeface="Arial" panose="020B0604020202020204" pitchFamily="34" charset="0"/>
                <a:buChar char="•"/>
              </a:pPr>
              <a:r>
                <a:rPr lang="en-US" dirty="0">
                  <a:solidFill>
                    <a:schemeClr val="tx1"/>
                  </a:solidFill>
                </a:rPr>
                <a:t>Easy installation</a:t>
              </a:r>
            </a:p>
            <a:p>
              <a:pPr marL="285750" indent="-285750">
                <a:buFont typeface="Arial" panose="020B0604020202020204" pitchFamily="34" charset="0"/>
                <a:buChar char="•"/>
              </a:pPr>
              <a:r>
                <a:rPr lang="en-US" dirty="0">
                  <a:solidFill>
                    <a:schemeClr val="tx1"/>
                  </a:solidFill>
                </a:rPr>
                <a:t>User-friendly design</a:t>
              </a:r>
            </a:p>
            <a:p>
              <a:pPr marL="285750" indent="-285750">
                <a:buFont typeface="Arial" panose="020B0604020202020204" pitchFamily="34" charset="0"/>
                <a:buChar char="•"/>
              </a:pPr>
              <a:r>
                <a:rPr lang="en-US" dirty="0">
                  <a:solidFill>
                    <a:schemeClr val="tx1"/>
                  </a:solidFill>
                </a:rPr>
                <a:t>Real-time monitoring</a:t>
              </a:r>
            </a:p>
            <a:p>
              <a:pPr marL="285750" indent="-285750">
                <a:buFont typeface="Arial" panose="020B0604020202020204" pitchFamily="34" charset="0"/>
                <a:buChar char="•"/>
              </a:pPr>
              <a:r>
                <a:rPr lang="en-US" dirty="0">
                  <a:solidFill>
                    <a:schemeClr val="tx1"/>
                  </a:solidFill>
                </a:rPr>
                <a:t>Focus on Indian households</a:t>
              </a:r>
              <a:endParaRPr lang="en-ZA" dirty="0">
                <a:solidFill>
                  <a:schemeClr val="tx1"/>
                </a:solidFill>
              </a:endParaRPr>
            </a:p>
            <a:p>
              <a:endParaRPr lang="en-ZA" dirty="0">
                <a:solidFill>
                  <a:schemeClr val="tx1"/>
                </a:solidFill>
              </a:endParaRPr>
            </a:p>
          </p:txBody>
        </p:sp>
        <p:sp>
          <p:nvSpPr>
            <p:cNvPr id="30" name="Rectangle 29">
              <a:extLst>
                <a:ext uri="{FF2B5EF4-FFF2-40B4-BE49-F238E27FC236}">
                  <a16:creationId xmlns:a16="http://schemas.microsoft.com/office/drawing/2014/main" id="{F7BC84B1-956D-42A5-8672-FCFD7B07D99A}"/>
                </a:ext>
              </a:extLst>
            </p:cNvPr>
            <p:cNvSpPr/>
            <p:nvPr/>
          </p:nvSpPr>
          <p:spPr>
            <a:xfrm>
              <a:off x="6686843" y="2644352"/>
              <a:ext cx="1657072" cy="2373605"/>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CHANNELS</a:t>
              </a:r>
            </a:p>
            <a:p>
              <a:pPr marL="257176" indent="-257176">
                <a:buFont typeface="Arial" panose="020B0604020202020204" pitchFamily="34" charset="0"/>
                <a:buChar char="•"/>
              </a:pPr>
              <a:r>
                <a:rPr lang="en-US" dirty="0">
                  <a:solidFill>
                    <a:schemeClr val="tx1"/>
                  </a:solidFill>
                </a:rPr>
                <a:t>Online marketing</a:t>
              </a:r>
            </a:p>
            <a:p>
              <a:pPr marL="257176" indent="-257176">
                <a:buFont typeface="Arial" panose="020B0604020202020204" pitchFamily="34" charset="0"/>
                <a:buChar char="•"/>
              </a:pPr>
              <a:r>
                <a:rPr lang="en-US" dirty="0">
                  <a:solidFill>
                    <a:schemeClr val="tx1"/>
                  </a:solidFill>
                </a:rPr>
                <a:t>Social media</a:t>
              </a:r>
            </a:p>
            <a:p>
              <a:pPr marL="257176" indent="-257176">
                <a:buFont typeface="Arial" panose="020B0604020202020204" pitchFamily="34" charset="0"/>
                <a:buChar char="•"/>
              </a:pPr>
              <a:r>
                <a:rPr lang="en-US" dirty="0">
                  <a:solidFill>
                    <a:schemeClr val="tx1"/>
                  </a:solidFill>
                </a:rPr>
                <a:t>Hardware stores</a:t>
              </a:r>
            </a:p>
            <a:p>
              <a:pPr marL="257176" indent="-257176">
                <a:buFont typeface="Arial" panose="020B0604020202020204" pitchFamily="34" charset="0"/>
                <a:buChar char="•"/>
              </a:pPr>
              <a:r>
                <a:rPr lang="en-US" dirty="0">
                  <a:solidFill>
                    <a:schemeClr val="tx1"/>
                  </a:solidFill>
                </a:rPr>
                <a:t>Apartment partnerships</a:t>
              </a:r>
            </a:p>
            <a:p>
              <a:pPr marL="257176" indent="-257176">
                <a:buFont typeface="Arial" panose="020B0604020202020204" pitchFamily="34" charset="0"/>
                <a:buChar char="•"/>
              </a:pPr>
              <a:r>
                <a:rPr lang="en-US" dirty="0">
                  <a:solidFill>
                    <a:schemeClr val="tx1"/>
                  </a:solidFill>
                </a:rPr>
                <a:t>College exhibitions</a:t>
              </a:r>
            </a:p>
            <a:p>
              <a:pPr marL="257176" indent="-257176">
                <a:buFont typeface="Arial" panose="020B0604020202020204" pitchFamily="34" charset="0"/>
                <a:buChar char="•"/>
              </a:pPr>
              <a:endParaRPr lang="en-US" dirty="0">
                <a:solidFill>
                  <a:schemeClr val="tx1"/>
                </a:solidFill>
              </a:endParaRPr>
            </a:p>
            <a:p>
              <a:pPr marL="257176" indent="-257176">
                <a:buFont typeface="Arial" panose="020B0604020202020204" pitchFamily="34" charset="0"/>
                <a:buChar char="•"/>
              </a:pPr>
              <a:endParaRPr lang="en-US" dirty="0">
                <a:solidFill>
                  <a:schemeClr val="tx1"/>
                </a:solidFill>
              </a:endParaRPr>
            </a:p>
            <a:p>
              <a:pPr marL="257176" indent="-257176">
                <a:buFont typeface="Arial" panose="020B0604020202020204" pitchFamily="34" charset="0"/>
                <a:buChar char="•"/>
              </a:pPr>
              <a:endParaRPr lang="en-US" dirty="0">
                <a:solidFill>
                  <a:schemeClr val="tx1"/>
                </a:solidFill>
              </a:endParaRPr>
            </a:p>
            <a:p>
              <a:endParaRPr lang="en-US" dirty="0">
                <a:solidFill>
                  <a:schemeClr val="tx1"/>
                </a:solidFill>
              </a:endParaRPr>
            </a:p>
            <a:p>
              <a:endParaRPr lang="en-ZA" b="1" dirty="0">
                <a:solidFill>
                  <a:schemeClr val="tx1"/>
                </a:solidFill>
              </a:endParaRPr>
            </a:p>
          </p:txBody>
        </p:sp>
        <p:sp>
          <p:nvSpPr>
            <p:cNvPr id="31" name="Rectangle 30">
              <a:extLst>
                <a:ext uri="{FF2B5EF4-FFF2-40B4-BE49-F238E27FC236}">
                  <a16:creationId xmlns:a16="http://schemas.microsoft.com/office/drawing/2014/main" id="{FAC9E9F4-9BD4-4F01-9A69-4B416DF6CD3A}"/>
                </a:ext>
              </a:extLst>
            </p:cNvPr>
            <p:cNvSpPr/>
            <p:nvPr/>
          </p:nvSpPr>
          <p:spPr>
            <a:xfrm>
              <a:off x="5781668" y="5124246"/>
              <a:ext cx="4576890" cy="128738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REVENUE STREAMS</a:t>
              </a:r>
            </a:p>
            <a:p>
              <a:pPr marL="285750" indent="-285750">
                <a:buFont typeface="Arial" panose="020B0604020202020204" pitchFamily="34" charset="0"/>
                <a:buChar char="•"/>
              </a:pPr>
              <a:r>
                <a:rPr lang="en-US" dirty="0">
                  <a:solidFill>
                    <a:schemeClr val="tx1"/>
                  </a:solidFill>
                </a:rPr>
                <a:t>Product sales</a:t>
              </a:r>
            </a:p>
            <a:p>
              <a:pPr marL="285750" indent="-285750">
                <a:buFont typeface="Arial" panose="020B0604020202020204" pitchFamily="34" charset="0"/>
                <a:buChar char="•"/>
              </a:pPr>
              <a:r>
                <a:rPr lang="en-US" dirty="0">
                  <a:solidFill>
                    <a:schemeClr val="tx1"/>
                  </a:solidFill>
                </a:rPr>
                <a:t>Installation fees</a:t>
              </a:r>
            </a:p>
            <a:p>
              <a:pPr marL="285750" indent="-285750">
                <a:buFont typeface="Arial" panose="020B0604020202020204" pitchFamily="34" charset="0"/>
                <a:buChar char="•"/>
              </a:pPr>
              <a:r>
                <a:rPr lang="en-US" dirty="0">
                  <a:solidFill>
                    <a:schemeClr val="tx1"/>
                  </a:solidFill>
                </a:rPr>
                <a:t>Maintenance subscription</a:t>
              </a:r>
            </a:p>
            <a:p>
              <a:pPr marL="285750" indent="-285750">
                <a:buFont typeface="Arial" panose="020B0604020202020204" pitchFamily="34" charset="0"/>
                <a:buChar char="•"/>
              </a:pPr>
              <a:r>
                <a:rPr lang="en-US" dirty="0">
                  <a:solidFill>
                    <a:schemeClr val="tx1"/>
                  </a:solidFill>
                </a:rPr>
                <a:t>Future app subscriptions</a:t>
              </a:r>
            </a:p>
          </p:txBody>
        </p:sp>
        <p:sp>
          <p:nvSpPr>
            <p:cNvPr id="32" name="Rectangle 31">
              <a:extLst>
                <a:ext uri="{FF2B5EF4-FFF2-40B4-BE49-F238E27FC236}">
                  <a16:creationId xmlns:a16="http://schemas.microsoft.com/office/drawing/2014/main" id="{009C3843-A5E1-4267-892B-5C21CFF1D0BF}"/>
                </a:ext>
              </a:extLst>
            </p:cNvPr>
            <p:cNvSpPr/>
            <p:nvPr/>
          </p:nvSpPr>
          <p:spPr>
            <a:xfrm>
              <a:off x="8464027" y="956344"/>
              <a:ext cx="1894531" cy="404983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CUSTOMER SEGMENTS</a:t>
              </a:r>
            </a:p>
            <a:p>
              <a:pPr marL="285750" indent="-285750">
                <a:buFont typeface="Arial" panose="020B0604020202020204" pitchFamily="34" charset="0"/>
                <a:buChar char="•"/>
              </a:pPr>
              <a:r>
                <a:rPr lang="en-US" dirty="0">
                  <a:solidFill>
                    <a:schemeClr val="tx1"/>
                  </a:solidFill>
                </a:rPr>
                <a:t>Urban households</a:t>
              </a:r>
            </a:p>
            <a:p>
              <a:pPr marL="285750" indent="-285750">
                <a:buFont typeface="Arial" panose="020B0604020202020204" pitchFamily="34" charset="0"/>
                <a:buChar char="•"/>
              </a:pPr>
              <a:r>
                <a:rPr lang="en-US" dirty="0">
                  <a:solidFill>
                    <a:schemeClr val="tx1"/>
                  </a:solidFill>
                </a:rPr>
                <a:t>Apartment residents</a:t>
              </a:r>
            </a:p>
            <a:p>
              <a:pPr marL="285750" indent="-285750">
                <a:buFont typeface="Arial" panose="020B0604020202020204" pitchFamily="34" charset="0"/>
                <a:buChar char="•"/>
              </a:pPr>
              <a:r>
                <a:rPr lang="en-US" dirty="0">
                  <a:solidFill>
                    <a:schemeClr val="tx1"/>
                  </a:solidFill>
                </a:rPr>
                <a:t>Independent house owners</a:t>
              </a:r>
            </a:p>
            <a:p>
              <a:pPr marL="285750" indent="-285750">
                <a:buFont typeface="Arial" panose="020B0604020202020204" pitchFamily="34" charset="0"/>
                <a:buChar char="•"/>
              </a:pPr>
              <a:r>
                <a:rPr lang="en-US" dirty="0">
                  <a:solidFill>
                    <a:schemeClr val="tx1"/>
                  </a:solidFill>
                </a:rPr>
                <a:t>Small buildings</a:t>
              </a:r>
            </a:p>
            <a:p>
              <a:pPr marL="285750" indent="-285750">
                <a:buFont typeface="Arial" panose="020B0604020202020204" pitchFamily="34" charset="0"/>
                <a:buChar char="•"/>
              </a:pPr>
              <a:r>
                <a:rPr lang="en-US" dirty="0">
                  <a:solidFill>
                    <a:schemeClr val="tx1"/>
                  </a:solidFill>
                </a:rPr>
                <a:t>Water-conscious users</a:t>
              </a:r>
            </a:p>
            <a:p>
              <a:endParaRPr lang="en-US" dirty="0">
                <a:solidFill>
                  <a:schemeClr val="tx1"/>
                </a:solidFill>
              </a:endParaRPr>
            </a:p>
            <a:p>
              <a:endParaRPr lang="en-US" dirty="0">
                <a:solidFill>
                  <a:schemeClr val="tx1"/>
                </a:solidFill>
              </a:endParaRPr>
            </a:p>
            <a:p>
              <a:endParaRPr lang="en-US" dirty="0">
                <a:solidFill>
                  <a:schemeClr val="tx1"/>
                </a:solidFill>
              </a:endParaRPr>
            </a:p>
            <a:p>
              <a:endParaRPr lang="en-US" dirty="0">
                <a:solidFill>
                  <a:schemeClr val="tx1"/>
                </a:solidFill>
              </a:endParaRPr>
            </a:p>
            <a:p>
              <a:r>
                <a:rPr lang="en-US" b="1" dirty="0">
                  <a:solidFill>
                    <a:schemeClr val="tx1"/>
                  </a:solidFill>
                </a:rPr>
                <a:t>EARLY ADOPTERS </a:t>
              </a:r>
            </a:p>
            <a:p>
              <a:pPr marL="285750" indent="-285750">
                <a:buFont typeface="Arial" panose="020B0604020202020204" pitchFamily="34" charset="0"/>
                <a:buChar char="•"/>
              </a:pPr>
              <a:r>
                <a:rPr lang="en-US" b="1" dirty="0">
                  <a:solidFill>
                    <a:schemeClr val="tx1"/>
                  </a:solidFill>
                </a:rPr>
                <a:t>Tech-friendly families</a:t>
              </a:r>
            </a:p>
            <a:p>
              <a:pPr marL="285750" indent="-285750">
                <a:buFont typeface="Arial" panose="020B0604020202020204" pitchFamily="34" charset="0"/>
                <a:buChar char="•"/>
              </a:pPr>
              <a:r>
                <a:rPr lang="en-US" b="1" dirty="0">
                  <a:solidFill>
                    <a:schemeClr val="tx1"/>
                  </a:solidFill>
                </a:rPr>
                <a:t>Smart home users</a:t>
              </a:r>
            </a:p>
            <a:p>
              <a:pPr marL="285750" indent="-285750">
                <a:buFont typeface="Arial" panose="020B0604020202020204" pitchFamily="34" charset="0"/>
                <a:buChar char="•"/>
              </a:pPr>
              <a:r>
                <a:rPr lang="en-US" b="1" dirty="0">
                  <a:solidFill>
                    <a:schemeClr val="tx1"/>
                  </a:solidFill>
                </a:rPr>
                <a:t>Apartment associations</a:t>
              </a:r>
            </a:p>
            <a:p>
              <a:pPr marL="285750" indent="-285750">
                <a:buFont typeface="Arial" panose="020B0604020202020204" pitchFamily="34" charset="0"/>
                <a:buChar char="•"/>
              </a:pPr>
              <a:r>
                <a:rPr lang="en-US" b="1" dirty="0">
                  <a:solidFill>
                    <a:schemeClr val="tx1"/>
                  </a:solidFill>
                </a:rPr>
                <a:t>Environment-conscious households</a:t>
              </a:r>
            </a:p>
          </p:txBody>
        </p:sp>
        <p:sp>
          <p:nvSpPr>
            <p:cNvPr id="33" name="Rectangle 32">
              <a:extLst>
                <a:ext uri="{FF2B5EF4-FFF2-40B4-BE49-F238E27FC236}">
                  <a16:creationId xmlns:a16="http://schemas.microsoft.com/office/drawing/2014/main" id="{B433AFEF-AAB0-4118-9790-7694BAC47BCE}"/>
                </a:ext>
              </a:extLst>
            </p:cNvPr>
            <p:cNvSpPr/>
            <p:nvPr/>
          </p:nvSpPr>
          <p:spPr>
            <a:xfrm>
              <a:off x="1057033" y="5132637"/>
              <a:ext cx="4599726" cy="1278992"/>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COST STRUCTURE</a:t>
              </a:r>
            </a:p>
            <a:p>
              <a:pPr marL="257176" indent="-257176">
                <a:buFont typeface="Arial" panose="020B0604020202020204" pitchFamily="34" charset="0"/>
                <a:buChar char="•"/>
              </a:pPr>
              <a:r>
                <a:rPr lang="en-ZA" dirty="0">
                  <a:solidFill>
                    <a:schemeClr val="tx1"/>
                  </a:solidFill>
                </a:rPr>
                <a:t>Sensors and electronics</a:t>
              </a:r>
            </a:p>
            <a:p>
              <a:pPr marL="257176" indent="-257176">
                <a:buFont typeface="Arial" panose="020B0604020202020204" pitchFamily="34" charset="0"/>
                <a:buChar char="•"/>
              </a:pPr>
              <a:r>
                <a:rPr lang="en-ZA" dirty="0">
                  <a:solidFill>
                    <a:schemeClr val="tx1"/>
                  </a:solidFill>
                </a:rPr>
                <a:t>Manufacturing</a:t>
              </a:r>
            </a:p>
            <a:p>
              <a:pPr marL="257176" indent="-257176">
                <a:buFont typeface="Arial" panose="020B0604020202020204" pitchFamily="34" charset="0"/>
                <a:buChar char="•"/>
              </a:pPr>
              <a:r>
                <a:rPr lang="en-ZA" dirty="0">
                  <a:solidFill>
                    <a:schemeClr val="tx1"/>
                  </a:solidFill>
                </a:rPr>
                <a:t>Marketing</a:t>
              </a:r>
            </a:p>
            <a:p>
              <a:pPr marL="257176" indent="-257176">
                <a:buFont typeface="Arial" panose="020B0604020202020204" pitchFamily="34" charset="0"/>
                <a:buChar char="•"/>
              </a:pPr>
              <a:r>
                <a:rPr lang="en-ZA" dirty="0">
                  <a:solidFill>
                    <a:schemeClr val="tx1"/>
                  </a:solidFill>
                </a:rPr>
                <a:t>Packaging</a:t>
              </a:r>
            </a:p>
            <a:p>
              <a:pPr marL="257176" indent="-257176">
                <a:buFont typeface="Arial" panose="020B0604020202020204" pitchFamily="34" charset="0"/>
                <a:buChar char="•"/>
              </a:pPr>
              <a:r>
                <a:rPr lang="en-ZA" dirty="0">
                  <a:solidFill>
                    <a:schemeClr val="tx1"/>
                  </a:solidFill>
                </a:rPr>
                <a:t>Maintenance support</a:t>
              </a:r>
            </a:p>
            <a:p>
              <a:endParaRPr lang="en-ZA" dirty="0">
                <a:solidFill>
                  <a:schemeClr val="tx1"/>
                </a:solidFill>
              </a:endParaRPr>
            </a:p>
          </p:txBody>
        </p:sp>
      </p:grpSp>
    </p:spTree>
    <p:extLst>
      <p:ext uri="{BB962C8B-B14F-4D97-AF65-F5344CB8AC3E}">
        <p14:creationId xmlns:p14="http://schemas.microsoft.com/office/powerpoint/2010/main" val="3281390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95300"/>
            <a:ext cx="4191000" cy="652462"/>
          </a:xfrm>
        </p:spPr>
        <p:txBody>
          <a:bodyPr>
            <a:normAutofit fontScale="90000"/>
          </a:bodyPr>
          <a:lstStyle/>
          <a:p>
            <a:pPr algn="l"/>
            <a:r>
              <a:rPr lang="en-US" sz="4400" dirty="0">
                <a:solidFill>
                  <a:schemeClr val="tx1"/>
                </a:solidFill>
              </a:rPr>
              <a:t>MVP</a:t>
            </a:r>
            <a:endParaRPr lang="en-US" dirty="0">
              <a:solidFill>
                <a:schemeClr val="tx1"/>
              </a:solidFill>
            </a:endParaRPr>
          </a:p>
        </p:txBody>
      </p:sp>
      <p:sp>
        <p:nvSpPr>
          <p:cNvPr id="3" name="TextBox 2"/>
          <p:cNvSpPr txBox="1"/>
          <p:nvPr/>
        </p:nvSpPr>
        <p:spPr>
          <a:xfrm>
            <a:off x="1143000" y="2122281"/>
            <a:ext cx="13182600" cy="5093702"/>
          </a:xfrm>
          <a:prstGeom prst="rect">
            <a:avLst/>
          </a:prstGeom>
          <a:noFill/>
        </p:spPr>
        <p:txBody>
          <a:bodyPr wrap="square" rtlCol="0">
            <a:spAutoFit/>
          </a:bodyPr>
          <a:lstStyle/>
          <a:p>
            <a:pPr marL="457200" indent="-457200">
              <a:buClrTx/>
              <a:buFont typeface="Arial" panose="020B0604020202020204" pitchFamily="34" charset="0"/>
              <a:buChar char="•"/>
            </a:pPr>
            <a:r>
              <a:rPr lang="en-US" sz="2700" b="1" dirty="0"/>
              <a:t>Provide Full product/service description</a:t>
            </a:r>
            <a:endParaRPr lang="en-IN" sz="2700" b="1" dirty="0">
              <a:solidFill>
                <a:prstClr val="black"/>
              </a:solidFill>
              <a:latin typeface="Calibri" panose="020F0502020204030204"/>
            </a:endParaRPr>
          </a:p>
          <a:p>
            <a:pPr marL="457200" indent="-457200">
              <a:buClrTx/>
              <a:buFont typeface="Arial" panose="020B0604020202020204" pitchFamily="34" charset="0"/>
              <a:buChar char="•"/>
            </a:pPr>
            <a:r>
              <a:rPr lang="en-IN" sz="2700" b="1" dirty="0">
                <a:solidFill>
                  <a:prstClr val="black"/>
                </a:solidFill>
                <a:latin typeface="Calibri" panose="020F0502020204030204"/>
              </a:rPr>
              <a:t>Insert a picture of the prototype</a:t>
            </a:r>
          </a:p>
          <a:p>
            <a:pPr marL="457200" indent="-457200">
              <a:buClrTx/>
              <a:buFont typeface="Arial" panose="020B0604020202020204" pitchFamily="34" charset="0"/>
              <a:buChar char="•"/>
            </a:pPr>
            <a:r>
              <a:rPr lang="en-IN" sz="2700" b="1" dirty="0">
                <a:solidFill>
                  <a:prstClr val="black"/>
                </a:solidFill>
                <a:latin typeface="Calibri" panose="020F0502020204030204"/>
              </a:rPr>
              <a:t>Provide video link of the working prototype, if any</a:t>
            </a:r>
          </a:p>
          <a:p>
            <a:pPr marL="457200" indent="-457200">
              <a:buFont typeface="Arial" panose="020B0604020202020204" pitchFamily="34" charset="0"/>
              <a:buChar char="•"/>
            </a:pPr>
            <a:r>
              <a:rPr lang="en-IN" sz="2700" b="1" dirty="0">
                <a:solidFill>
                  <a:prstClr val="black"/>
                </a:solidFill>
                <a:latin typeface="Calibri" panose="020F0502020204030204"/>
              </a:rPr>
              <a:t>Share screenshots of website ( Landing page, testimony etc.,).</a:t>
            </a:r>
            <a:r>
              <a:rPr lang="en-US" sz="2800" dirty="0"/>
              <a:t> If the venture is in any online business, it must definitely showcase a functional website</a:t>
            </a:r>
            <a:r>
              <a:rPr lang="en-US" sz="2800" b="1" dirty="0"/>
              <a:t>.</a:t>
            </a:r>
            <a:endParaRPr lang="en-IN" sz="2700" b="1" dirty="0">
              <a:solidFill>
                <a:prstClr val="black"/>
              </a:solidFill>
              <a:latin typeface="Calibri" panose="020F0502020204030204"/>
            </a:endParaRPr>
          </a:p>
          <a:p>
            <a:pPr marL="457200" indent="-457200">
              <a:buFont typeface="Arial" panose="020B0604020202020204" pitchFamily="34" charset="0"/>
              <a:buChar char="•"/>
            </a:pPr>
            <a:r>
              <a:rPr lang="en-IN" sz="2700" b="1" dirty="0">
                <a:solidFill>
                  <a:prstClr val="black"/>
                </a:solidFill>
              </a:rPr>
              <a:t>Share website link (</a:t>
            </a:r>
            <a:r>
              <a:rPr lang="en-US" sz="2400" dirty="0"/>
              <a:t>If the venture is in any online business, it must definitely showcase a functional website</a:t>
            </a:r>
            <a:r>
              <a:rPr lang="en-US" sz="2400" b="1" dirty="0"/>
              <a:t>.</a:t>
            </a:r>
            <a:r>
              <a:rPr lang="en-IN" sz="2400" b="1" dirty="0">
                <a:solidFill>
                  <a:prstClr val="black"/>
                </a:solidFill>
              </a:rPr>
              <a:t>)</a:t>
            </a:r>
            <a:endParaRPr lang="en-IN" sz="2700" b="1" dirty="0">
              <a:solidFill>
                <a:prstClr val="black"/>
              </a:solidFill>
            </a:endParaRPr>
          </a:p>
          <a:p>
            <a:pPr marL="457200" indent="-457200">
              <a:buFont typeface="Arial" panose="020B0604020202020204" pitchFamily="34" charset="0"/>
              <a:buChar char="•"/>
            </a:pPr>
            <a:r>
              <a:rPr lang="en-IN" sz="2700" b="1" dirty="0">
                <a:solidFill>
                  <a:prstClr val="black"/>
                </a:solidFill>
              </a:rPr>
              <a:t>Share App link</a:t>
            </a:r>
          </a:p>
          <a:p>
            <a:pPr marL="457200" indent="-457200">
              <a:buFont typeface="Arial" panose="020B0604020202020204" pitchFamily="34" charset="0"/>
              <a:buChar char="•"/>
            </a:pPr>
            <a:r>
              <a:rPr lang="en-US" sz="2800" b="1" dirty="0"/>
              <a:t>Description of how the product will work and steps the customer will follow</a:t>
            </a:r>
          </a:p>
          <a:p>
            <a:pPr marL="457200" indent="-457200">
              <a:buFont typeface="Arial" panose="020B0604020202020204" pitchFamily="34" charset="0"/>
              <a:buChar char="•"/>
            </a:pPr>
            <a:r>
              <a:rPr lang="en-US" sz="2800" b="1" dirty="0"/>
              <a:t>Any other information</a:t>
            </a:r>
          </a:p>
          <a:p>
            <a:pPr marL="457200" indent="-457200">
              <a:buFont typeface="Arial" panose="020B0604020202020204" pitchFamily="34" charset="0"/>
              <a:buChar char="•"/>
            </a:pPr>
            <a:endParaRPr lang="en-IN" sz="2700" b="1" dirty="0">
              <a:solidFill>
                <a:prstClr val="black"/>
              </a:solidFill>
            </a:endParaRPr>
          </a:p>
          <a:p>
            <a:pPr marL="457200" indent="-457200">
              <a:buClrTx/>
              <a:buFont typeface="Arial" panose="020B0604020202020204" pitchFamily="34" charset="0"/>
              <a:buChar char="•"/>
            </a:pPr>
            <a:endParaRPr lang="en-IN" sz="2700" b="1" dirty="0">
              <a:solidFill>
                <a:prstClr val="black"/>
              </a:solidFill>
              <a:latin typeface="Calibri" panose="020F0502020204030204"/>
            </a:endParaRPr>
          </a:p>
        </p:txBody>
      </p:sp>
      <p:sp>
        <p:nvSpPr>
          <p:cNvPr id="4" name="Rectangle 3">
            <a:extLst>
              <a:ext uri="{FF2B5EF4-FFF2-40B4-BE49-F238E27FC236}">
                <a16:creationId xmlns:a16="http://schemas.microsoft.com/office/drawing/2014/main" id="{5DE34494-019C-4AF1-907B-33245967C575}"/>
              </a:ext>
            </a:extLst>
          </p:cNvPr>
          <p:cNvSpPr/>
          <p:nvPr/>
        </p:nvSpPr>
        <p:spPr>
          <a:xfrm>
            <a:off x="15925800" y="315439"/>
            <a:ext cx="1695221" cy="1288685"/>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6" name="Rectangle 5"/>
          <p:cNvSpPr/>
          <p:nvPr/>
        </p:nvSpPr>
        <p:spPr>
          <a:xfrm>
            <a:off x="12344400" y="7197498"/>
            <a:ext cx="5629701" cy="1200329"/>
          </a:xfrm>
          <a:prstGeom prst="rect">
            <a:avLst/>
          </a:prstGeom>
          <a:solidFill>
            <a:srgbClr val="FFC000"/>
          </a:solidFill>
        </p:spPr>
        <p:txBody>
          <a:bodyPr wrap="square">
            <a:spAutoFit/>
          </a:bodyPr>
          <a:lstStyle/>
          <a:p>
            <a:pPr algn="just"/>
            <a:r>
              <a:rPr lang="en-US" sz="2400" dirty="0"/>
              <a:t>	</a:t>
            </a:r>
          </a:p>
          <a:p>
            <a:pPr algn="just"/>
            <a:r>
              <a:rPr lang="en-US" sz="2400" dirty="0"/>
              <a:t>	The slide helps to see your vision in action with a clear demonstration</a:t>
            </a:r>
            <a:endParaRPr lang="en-US" sz="2400" b="1" dirty="0">
              <a:latin typeface="+mj-lt"/>
            </a:endParaRPr>
          </a:p>
        </p:txBody>
      </p:sp>
      <p:pic>
        <p:nvPicPr>
          <p:cNvPr id="7" name="Graphic 27" descr="Target with solid fill">
            <a:extLst>
              <a:ext uri="{FF2B5EF4-FFF2-40B4-BE49-F238E27FC236}">
                <a16:creationId xmlns:a16="http://schemas.microsoft.com/office/drawing/2014/main" id="{0A6ECB55-4CA0-4244-AFAF-47071920EBDB}"/>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49200" y="7197498"/>
            <a:ext cx="655576" cy="858078"/>
          </a:xfrm>
          <a:prstGeom prst="rect">
            <a:avLst/>
          </a:prstGeom>
        </p:spPr>
      </p:pic>
    </p:spTree>
    <p:extLst>
      <p:ext uri="{BB962C8B-B14F-4D97-AF65-F5344CB8AC3E}">
        <p14:creationId xmlns:p14="http://schemas.microsoft.com/office/powerpoint/2010/main" val="3232031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3">
            <a:extLst>
              <a:ext uri="{FF2B5EF4-FFF2-40B4-BE49-F238E27FC236}">
                <a16:creationId xmlns:a16="http://schemas.microsoft.com/office/drawing/2014/main" id="{3CAEC04B-1429-4612-89DB-5CA4F4B031FD}"/>
              </a:ext>
            </a:extLst>
          </p:cNvPr>
          <p:cNvSpPr txBox="1">
            <a:spLocks/>
          </p:cNvSpPr>
          <p:nvPr/>
        </p:nvSpPr>
        <p:spPr>
          <a:xfrm>
            <a:off x="376232" y="330449"/>
            <a:ext cx="15087600" cy="1266400"/>
          </a:xfrm>
          <a:prstGeom prst="rect">
            <a:avLst/>
          </a:prstGeom>
        </p:spPr>
        <p:txBody>
          <a:bodyPr vert="horz" lIns="137160" tIns="68580" rIns="137160" bIns="6858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8747"/>
              </a:lnSpc>
              <a:buClrTx/>
              <a:buFontTx/>
              <a:buNone/>
            </a:pPr>
            <a:r>
              <a:rPr lang="en-GB" sz="3000" b="1" dirty="0">
                <a:solidFill>
                  <a:prstClr val="black"/>
                </a:solidFill>
                <a:latin typeface="Raleway"/>
              </a:rPr>
              <a:t>  </a:t>
            </a:r>
            <a:r>
              <a:rPr lang="en-GB" sz="6000" dirty="0">
                <a:solidFill>
                  <a:schemeClr val="accent2"/>
                </a:solidFill>
                <a:latin typeface="Antonio Bold"/>
                <a:ea typeface="+mn-ea"/>
                <a:cs typeface="+mn-cs"/>
              </a:rPr>
              <a:t>MVP Validation</a:t>
            </a:r>
            <a:endParaRPr lang="en-US" sz="6000" dirty="0">
              <a:solidFill>
                <a:schemeClr val="accent2"/>
              </a:solidFill>
              <a:latin typeface="Antonio Bold"/>
              <a:ea typeface="+mn-ea"/>
              <a:cs typeface="+mn-cs"/>
            </a:endParaRPr>
          </a:p>
        </p:txBody>
      </p:sp>
      <p:sp>
        <p:nvSpPr>
          <p:cNvPr id="110" name="Rectangle 109">
            <a:extLst>
              <a:ext uri="{FF2B5EF4-FFF2-40B4-BE49-F238E27FC236}">
                <a16:creationId xmlns:a16="http://schemas.microsoft.com/office/drawing/2014/main" id="{51D08DA0-06DC-8B4E-BD66-A9F65085D413}"/>
              </a:ext>
            </a:extLst>
          </p:cNvPr>
          <p:cNvSpPr/>
          <p:nvPr/>
        </p:nvSpPr>
        <p:spPr>
          <a:xfrm>
            <a:off x="475578" y="1546164"/>
            <a:ext cx="16709136" cy="8294121"/>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latin typeface="Barlow" panose="00000800000000000000" pitchFamily="2" charset="0"/>
            </a:endParaRPr>
          </a:p>
        </p:txBody>
      </p:sp>
      <p:cxnSp>
        <p:nvCxnSpPr>
          <p:cNvPr id="133" name="Straight Connector 132">
            <a:extLst>
              <a:ext uri="{FF2B5EF4-FFF2-40B4-BE49-F238E27FC236}">
                <a16:creationId xmlns:a16="http://schemas.microsoft.com/office/drawing/2014/main" id="{97A66D7F-E190-4448-B607-C21D56C9EC0E}"/>
              </a:ext>
            </a:extLst>
          </p:cNvPr>
          <p:cNvCxnSpPr>
            <a:cxnSpLocks/>
          </p:cNvCxnSpPr>
          <p:nvPr/>
        </p:nvCxnSpPr>
        <p:spPr>
          <a:xfrm flipH="1" flipV="1">
            <a:off x="9486473" y="2138069"/>
            <a:ext cx="0" cy="79584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4" name="TextBox 133">
            <a:extLst>
              <a:ext uri="{FF2B5EF4-FFF2-40B4-BE49-F238E27FC236}">
                <a16:creationId xmlns:a16="http://schemas.microsoft.com/office/drawing/2014/main" id="{1671FBED-F807-C244-997A-A62DD004EDFB}"/>
              </a:ext>
            </a:extLst>
          </p:cNvPr>
          <p:cNvSpPr txBox="1"/>
          <p:nvPr/>
        </p:nvSpPr>
        <p:spPr>
          <a:xfrm>
            <a:off x="652488" y="2577445"/>
            <a:ext cx="3299254" cy="338554"/>
          </a:xfrm>
          <a:prstGeom prst="rect">
            <a:avLst/>
          </a:prstGeom>
          <a:noFill/>
        </p:spPr>
        <p:txBody>
          <a:bodyPr wrap="square" rtlCol="0">
            <a:spAutoFit/>
          </a:bodyPr>
          <a:lstStyle/>
          <a:p>
            <a:r>
              <a:rPr lang="en-GB" sz="1600" b="1" dirty="0">
                <a:latin typeface="Barlow" panose="00000800000000000000" pitchFamily="2" charset="0"/>
              </a:rPr>
              <a:t>Test Details:</a:t>
            </a:r>
          </a:p>
        </p:txBody>
      </p:sp>
      <p:sp>
        <p:nvSpPr>
          <p:cNvPr id="135" name="TextBox 134">
            <a:extLst>
              <a:ext uri="{FF2B5EF4-FFF2-40B4-BE49-F238E27FC236}">
                <a16:creationId xmlns:a16="http://schemas.microsoft.com/office/drawing/2014/main" id="{FEA05CF0-7156-F54C-B0C2-FBC0374002EC}"/>
              </a:ext>
            </a:extLst>
          </p:cNvPr>
          <p:cNvSpPr txBox="1"/>
          <p:nvPr/>
        </p:nvSpPr>
        <p:spPr>
          <a:xfrm>
            <a:off x="730785" y="4945627"/>
            <a:ext cx="3299254" cy="338554"/>
          </a:xfrm>
          <a:prstGeom prst="rect">
            <a:avLst/>
          </a:prstGeom>
          <a:noFill/>
        </p:spPr>
        <p:txBody>
          <a:bodyPr wrap="square" rtlCol="0">
            <a:spAutoFit/>
          </a:bodyPr>
          <a:lstStyle/>
          <a:p>
            <a:r>
              <a:rPr lang="en-GB" sz="1600" b="1" dirty="0">
                <a:latin typeface="Barlow" panose="00000800000000000000" pitchFamily="2" charset="0"/>
              </a:rPr>
              <a:t>Results of Test:</a:t>
            </a:r>
          </a:p>
        </p:txBody>
      </p:sp>
      <p:sp>
        <p:nvSpPr>
          <p:cNvPr id="136" name="TextBox 135">
            <a:extLst>
              <a:ext uri="{FF2B5EF4-FFF2-40B4-BE49-F238E27FC236}">
                <a16:creationId xmlns:a16="http://schemas.microsoft.com/office/drawing/2014/main" id="{28E58E65-6693-2848-B580-E0CC47E8C136}"/>
              </a:ext>
            </a:extLst>
          </p:cNvPr>
          <p:cNvSpPr txBox="1"/>
          <p:nvPr/>
        </p:nvSpPr>
        <p:spPr>
          <a:xfrm>
            <a:off x="9993726" y="2292334"/>
            <a:ext cx="3299254" cy="338554"/>
          </a:xfrm>
          <a:prstGeom prst="rect">
            <a:avLst/>
          </a:prstGeom>
          <a:noFill/>
        </p:spPr>
        <p:txBody>
          <a:bodyPr wrap="square" rtlCol="0">
            <a:spAutoFit/>
          </a:bodyPr>
          <a:lstStyle/>
          <a:p>
            <a:r>
              <a:rPr lang="en-GB" sz="1600" b="1" dirty="0">
                <a:latin typeface="Barlow" panose="00000800000000000000" pitchFamily="2" charset="0"/>
              </a:rPr>
              <a:t>Conclusion:</a:t>
            </a:r>
          </a:p>
        </p:txBody>
      </p:sp>
      <p:sp>
        <p:nvSpPr>
          <p:cNvPr id="137" name="TextBox 136">
            <a:extLst>
              <a:ext uri="{FF2B5EF4-FFF2-40B4-BE49-F238E27FC236}">
                <a16:creationId xmlns:a16="http://schemas.microsoft.com/office/drawing/2014/main" id="{7430E071-9B96-1446-8F6F-64CD7A481BC2}"/>
              </a:ext>
            </a:extLst>
          </p:cNvPr>
          <p:cNvSpPr txBox="1"/>
          <p:nvPr/>
        </p:nvSpPr>
        <p:spPr>
          <a:xfrm>
            <a:off x="9858263" y="5076840"/>
            <a:ext cx="3299254" cy="338554"/>
          </a:xfrm>
          <a:prstGeom prst="rect">
            <a:avLst/>
          </a:prstGeom>
          <a:noFill/>
        </p:spPr>
        <p:txBody>
          <a:bodyPr wrap="square" rtlCol="0">
            <a:spAutoFit/>
          </a:bodyPr>
          <a:lstStyle/>
          <a:p>
            <a:r>
              <a:rPr lang="en-GB" sz="1600" b="1" dirty="0">
                <a:latin typeface="Barlow" panose="00000800000000000000" pitchFamily="2" charset="0"/>
              </a:rPr>
              <a:t>Realizations / Insights:</a:t>
            </a:r>
          </a:p>
        </p:txBody>
      </p:sp>
      <p:sp>
        <p:nvSpPr>
          <p:cNvPr id="138" name="TextBox 137">
            <a:extLst>
              <a:ext uri="{FF2B5EF4-FFF2-40B4-BE49-F238E27FC236}">
                <a16:creationId xmlns:a16="http://schemas.microsoft.com/office/drawing/2014/main" id="{2C2B3B00-73BC-054E-9F8B-8D188EEB2FB0}"/>
              </a:ext>
            </a:extLst>
          </p:cNvPr>
          <p:cNvSpPr txBox="1"/>
          <p:nvPr/>
        </p:nvSpPr>
        <p:spPr>
          <a:xfrm>
            <a:off x="9827372" y="7220234"/>
            <a:ext cx="4658499" cy="338554"/>
          </a:xfrm>
          <a:prstGeom prst="rect">
            <a:avLst/>
          </a:prstGeom>
          <a:noFill/>
        </p:spPr>
        <p:txBody>
          <a:bodyPr wrap="square" rtlCol="0">
            <a:spAutoFit/>
          </a:bodyPr>
          <a:lstStyle/>
          <a:p>
            <a:r>
              <a:rPr lang="en-GB" sz="1600" b="1" dirty="0">
                <a:latin typeface="Barlow" panose="00000800000000000000" pitchFamily="2" charset="0"/>
              </a:rPr>
              <a:t>Next Steps:</a:t>
            </a:r>
          </a:p>
        </p:txBody>
      </p:sp>
      <p:sp>
        <p:nvSpPr>
          <p:cNvPr id="139" name="TextBox 138">
            <a:extLst>
              <a:ext uri="{FF2B5EF4-FFF2-40B4-BE49-F238E27FC236}">
                <a16:creationId xmlns:a16="http://schemas.microsoft.com/office/drawing/2014/main" id="{85F8CBB3-C33D-0B4D-8BEA-8C46D5F70F1E}"/>
              </a:ext>
            </a:extLst>
          </p:cNvPr>
          <p:cNvSpPr txBox="1"/>
          <p:nvPr/>
        </p:nvSpPr>
        <p:spPr>
          <a:xfrm>
            <a:off x="739477" y="3279691"/>
            <a:ext cx="4011034" cy="338554"/>
          </a:xfrm>
          <a:prstGeom prst="rect">
            <a:avLst/>
          </a:prstGeom>
          <a:noFill/>
        </p:spPr>
        <p:txBody>
          <a:bodyPr wrap="none" rtlCol="0">
            <a:spAutoFit/>
          </a:bodyPr>
          <a:lstStyle/>
          <a:p>
            <a:r>
              <a:rPr lang="en-GB" sz="1600" b="1" dirty="0">
                <a:latin typeface="Barlow" panose="00000800000000000000" pitchFamily="2" charset="0"/>
              </a:rPr>
              <a:t>How long will we test this MVP?</a:t>
            </a:r>
          </a:p>
        </p:txBody>
      </p:sp>
      <p:sp>
        <p:nvSpPr>
          <p:cNvPr id="140" name="TextBox 139">
            <a:extLst>
              <a:ext uri="{FF2B5EF4-FFF2-40B4-BE49-F238E27FC236}">
                <a16:creationId xmlns:a16="http://schemas.microsoft.com/office/drawing/2014/main" id="{F64229BF-1A85-6D45-B2B7-855A518F1B89}"/>
              </a:ext>
            </a:extLst>
          </p:cNvPr>
          <p:cNvSpPr txBox="1"/>
          <p:nvPr/>
        </p:nvSpPr>
        <p:spPr>
          <a:xfrm>
            <a:off x="739477" y="4339883"/>
            <a:ext cx="4257897" cy="338554"/>
          </a:xfrm>
          <a:prstGeom prst="rect">
            <a:avLst/>
          </a:prstGeom>
          <a:noFill/>
        </p:spPr>
        <p:txBody>
          <a:bodyPr wrap="none" rtlCol="0">
            <a:spAutoFit/>
          </a:bodyPr>
          <a:lstStyle/>
          <a:p>
            <a:r>
              <a:rPr lang="en-GB" sz="1600" b="1" dirty="0">
                <a:latin typeface="Barlow" panose="00000800000000000000" pitchFamily="2" charset="0"/>
              </a:rPr>
              <a:t>How will we get to that audience?</a:t>
            </a:r>
          </a:p>
        </p:txBody>
      </p:sp>
      <p:sp>
        <p:nvSpPr>
          <p:cNvPr id="141" name="TextBox 140">
            <a:extLst>
              <a:ext uri="{FF2B5EF4-FFF2-40B4-BE49-F238E27FC236}">
                <a16:creationId xmlns:a16="http://schemas.microsoft.com/office/drawing/2014/main" id="{18EC7D1D-EFBB-2E4F-9EFB-AB531420D6FC}"/>
              </a:ext>
            </a:extLst>
          </p:cNvPr>
          <p:cNvSpPr txBox="1"/>
          <p:nvPr/>
        </p:nvSpPr>
        <p:spPr>
          <a:xfrm>
            <a:off x="739477" y="3875141"/>
            <a:ext cx="7343677" cy="338554"/>
          </a:xfrm>
          <a:prstGeom prst="rect">
            <a:avLst/>
          </a:prstGeom>
          <a:noFill/>
        </p:spPr>
        <p:txBody>
          <a:bodyPr wrap="none" rtlCol="0">
            <a:spAutoFit/>
          </a:bodyPr>
          <a:lstStyle/>
          <a:p>
            <a:r>
              <a:rPr lang="en-GB" sz="1600" b="1" dirty="0">
                <a:latin typeface="Barlow" panose="00000800000000000000" pitchFamily="2" charset="0"/>
              </a:rPr>
              <a:t>Who is our target audience for the test? How many of them?</a:t>
            </a:r>
          </a:p>
        </p:txBody>
      </p:sp>
      <p:sp>
        <p:nvSpPr>
          <p:cNvPr id="142" name="Rectangle 141">
            <a:extLst>
              <a:ext uri="{FF2B5EF4-FFF2-40B4-BE49-F238E27FC236}">
                <a16:creationId xmlns:a16="http://schemas.microsoft.com/office/drawing/2014/main" id="{DCB024B3-A3D8-5942-AD22-2BBF7AC46378}"/>
              </a:ext>
            </a:extLst>
          </p:cNvPr>
          <p:cNvSpPr/>
          <p:nvPr/>
        </p:nvSpPr>
        <p:spPr>
          <a:xfrm>
            <a:off x="10165494" y="3077597"/>
            <a:ext cx="212991" cy="20762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latin typeface="Barlow" panose="00000800000000000000" pitchFamily="2" charset="0"/>
            </a:endParaRPr>
          </a:p>
        </p:txBody>
      </p:sp>
      <p:sp>
        <p:nvSpPr>
          <p:cNvPr id="143" name="TextBox 142">
            <a:extLst>
              <a:ext uri="{FF2B5EF4-FFF2-40B4-BE49-F238E27FC236}">
                <a16:creationId xmlns:a16="http://schemas.microsoft.com/office/drawing/2014/main" id="{B01EE1C5-A970-0647-A387-B5E639C06D66}"/>
              </a:ext>
            </a:extLst>
          </p:cNvPr>
          <p:cNvSpPr txBox="1"/>
          <p:nvPr/>
        </p:nvSpPr>
        <p:spPr>
          <a:xfrm>
            <a:off x="10412440" y="2673706"/>
            <a:ext cx="1295547" cy="338554"/>
          </a:xfrm>
          <a:prstGeom prst="rect">
            <a:avLst/>
          </a:prstGeom>
          <a:noFill/>
        </p:spPr>
        <p:txBody>
          <a:bodyPr wrap="none" rtlCol="0">
            <a:spAutoFit/>
          </a:bodyPr>
          <a:lstStyle/>
          <a:p>
            <a:r>
              <a:rPr lang="en-GB" sz="1600" dirty="0">
                <a:latin typeface="Barlow" panose="00000800000000000000" pitchFamily="2" charset="0"/>
              </a:rPr>
              <a:t>Persevere</a:t>
            </a:r>
          </a:p>
        </p:txBody>
      </p:sp>
      <p:sp>
        <p:nvSpPr>
          <p:cNvPr id="144" name="TextBox 143">
            <a:extLst>
              <a:ext uri="{FF2B5EF4-FFF2-40B4-BE49-F238E27FC236}">
                <a16:creationId xmlns:a16="http://schemas.microsoft.com/office/drawing/2014/main" id="{2E6F00F6-742E-C24C-92EB-6D9513CB41D0}"/>
              </a:ext>
            </a:extLst>
          </p:cNvPr>
          <p:cNvSpPr txBox="1"/>
          <p:nvPr/>
        </p:nvSpPr>
        <p:spPr>
          <a:xfrm>
            <a:off x="10412440" y="3030521"/>
            <a:ext cx="801823" cy="338554"/>
          </a:xfrm>
          <a:prstGeom prst="rect">
            <a:avLst/>
          </a:prstGeom>
          <a:noFill/>
        </p:spPr>
        <p:txBody>
          <a:bodyPr wrap="none" rtlCol="0">
            <a:spAutoFit/>
          </a:bodyPr>
          <a:lstStyle/>
          <a:p>
            <a:r>
              <a:rPr lang="en-GB" sz="1600" dirty="0">
                <a:latin typeface="Barlow" panose="00000800000000000000" pitchFamily="2" charset="0"/>
              </a:rPr>
              <a:t>Pivot</a:t>
            </a:r>
          </a:p>
        </p:txBody>
      </p:sp>
      <p:sp>
        <p:nvSpPr>
          <p:cNvPr id="145" name="TextBox 144">
            <a:extLst>
              <a:ext uri="{FF2B5EF4-FFF2-40B4-BE49-F238E27FC236}">
                <a16:creationId xmlns:a16="http://schemas.microsoft.com/office/drawing/2014/main" id="{60063187-BB1B-A444-B619-E14E03BA62DF}"/>
              </a:ext>
            </a:extLst>
          </p:cNvPr>
          <p:cNvSpPr txBox="1"/>
          <p:nvPr/>
        </p:nvSpPr>
        <p:spPr>
          <a:xfrm>
            <a:off x="10388995" y="3390844"/>
            <a:ext cx="1912703" cy="338554"/>
          </a:xfrm>
          <a:prstGeom prst="rect">
            <a:avLst/>
          </a:prstGeom>
          <a:noFill/>
        </p:spPr>
        <p:txBody>
          <a:bodyPr wrap="none" rtlCol="0">
            <a:spAutoFit/>
          </a:bodyPr>
          <a:lstStyle/>
          <a:p>
            <a:r>
              <a:rPr lang="en-GB" sz="1600" dirty="0">
                <a:latin typeface="Barlow" panose="00000800000000000000" pitchFamily="2" charset="0"/>
              </a:rPr>
              <a:t>Not conclusive</a:t>
            </a:r>
          </a:p>
        </p:txBody>
      </p:sp>
      <p:sp>
        <p:nvSpPr>
          <p:cNvPr id="146" name="Rectangle 145">
            <a:extLst>
              <a:ext uri="{FF2B5EF4-FFF2-40B4-BE49-F238E27FC236}">
                <a16:creationId xmlns:a16="http://schemas.microsoft.com/office/drawing/2014/main" id="{B6E6BF1D-5E5B-5243-AA5E-F55C0BC6CB58}"/>
              </a:ext>
            </a:extLst>
          </p:cNvPr>
          <p:cNvSpPr/>
          <p:nvPr/>
        </p:nvSpPr>
        <p:spPr>
          <a:xfrm>
            <a:off x="10170879" y="3439245"/>
            <a:ext cx="212991" cy="20762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latin typeface="Barlow" panose="00000800000000000000" pitchFamily="2" charset="0"/>
            </a:endParaRPr>
          </a:p>
        </p:txBody>
      </p:sp>
      <p:sp>
        <p:nvSpPr>
          <p:cNvPr id="147" name="Rectangle 146">
            <a:extLst>
              <a:ext uri="{FF2B5EF4-FFF2-40B4-BE49-F238E27FC236}">
                <a16:creationId xmlns:a16="http://schemas.microsoft.com/office/drawing/2014/main" id="{AAE7E61C-15D7-594A-94D7-75068E7F9D29}"/>
              </a:ext>
            </a:extLst>
          </p:cNvPr>
          <p:cNvSpPr/>
          <p:nvPr/>
        </p:nvSpPr>
        <p:spPr>
          <a:xfrm>
            <a:off x="10169611" y="2711009"/>
            <a:ext cx="212991" cy="20762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latin typeface="Barlow" panose="00000800000000000000" pitchFamily="2" charset="0"/>
            </a:endParaRPr>
          </a:p>
        </p:txBody>
      </p:sp>
      <p:sp>
        <p:nvSpPr>
          <p:cNvPr id="148" name="TextBox 147">
            <a:extLst>
              <a:ext uri="{FF2B5EF4-FFF2-40B4-BE49-F238E27FC236}">
                <a16:creationId xmlns:a16="http://schemas.microsoft.com/office/drawing/2014/main" id="{9118EE0E-947B-0F47-A725-AA544F75E946}"/>
              </a:ext>
            </a:extLst>
          </p:cNvPr>
          <p:cNvSpPr txBox="1"/>
          <p:nvPr/>
        </p:nvSpPr>
        <p:spPr>
          <a:xfrm>
            <a:off x="708403" y="2160985"/>
            <a:ext cx="3299254" cy="338554"/>
          </a:xfrm>
          <a:prstGeom prst="rect">
            <a:avLst/>
          </a:prstGeom>
          <a:noFill/>
        </p:spPr>
        <p:txBody>
          <a:bodyPr wrap="square" rtlCol="0">
            <a:spAutoFit/>
          </a:bodyPr>
          <a:lstStyle/>
          <a:p>
            <a:r>
              <a:rPr lang="en-GB" sz="1600" b="1" dirty="0">
                <a:latin typeface="Barlow" panose="00000800000000000000" pitchFamily="2" charset="0"/>
              </a:rPr>
              <a:t>What is your MVP</a:t>
            </a:r>
          </a:p>
        </p:txBody>
      </p:sp>
      <p:sp>
        <p:nvSpPr>
          <p:cNvPr id="149" name="TextBox 148">
            <a:extLst>
              <a:ext uri="{FF2B5EF4-FFF2-40B4-BE49-F238E27FC236}">
                <a16:creationId xmlns:a16="http://schemas.microsoft.com/office/drawing/2014/main" id="{65F1A852-0296-784A-8B55-666EC2213AD5}"/>
              </a:ext>
            </a:extLst>
          </p:cNvPr>
          <p:cNvSpPr txBox="1"/>
          <p:nvPr/>
        </p:nvSpPr>
        <p:spPr>
          <a:xfrm>
            <a:off x="708403" y="5423538"/>
            <a:ext cx="5245347" cy="338554"/>
          </a:xfrm>
          <a:prstGeom prst="rect">
            <a:avLst/>
          </a:prstGeom>
          <a:noFill/>
        </p:spPr>
        <p:txBody>
          <a:bodyPr wrap="none" rtlCol="0">
            <a:spAutoFit/>
          </a:bodyPr>
          <a:lstStyle/>
          <a:p>
            <a:r>
              <a:rPr lang="en-GB" sz="1600" b="1" dirty="0">
                <a:latin typeface="Barlow" panose="00000800000000000000" pitchFamily="2" charset="0"/>
              </a:rPr>
              <a:t>Did enough customers buy? Why or why not?</a:t>
            </a:r>
          </a:p>
        </p:txBody>
      </p:sp>
      <p:sp>
        <p:nvSpPr>
          <p:cNvPr id="150" name="TextBox 149">
            <a:extLst>
              <a:ext uri="{FF2B5EF4-FFF2-40B4-BE49-F238E27FC236}">
                <a16:creationId xmlns:a16="http://schemas.microsoft.com/office/drawing/2014/main" id="{E19D8FFA-C619-0B4F-92CF-D27367E4FAE7}"/>
              </a:ext>
            </a:extLst>
          </p:cNvPr>
          <p:cNvSpPr txBox="1"/>
          <p:nvPr/>
        </p:nvSpPr>
        <p:spPr>
          <a:xfrm>
            <a:off x="763522" y="6355786"/>
            <a:ext cx="7096815" cy="338554"/>
          </a:xfrm>
          <a:prstGeom prst="rect">
            <a:avLst/>
          </a:prstGeom>
          <a:noFill/>
        </p:spPr>
        <p:txBody>
          <a:bodyPr wrap="none" rtlCol="0">
            <a:spAutoFit/>
          </a:bodyPr>
          <a:lstStyle/>
          <a:p>
            <a:r>
              <a:rPr lang="en-GB" sz="1600" b="1" dirty="0">
                <a:latin typeface="Barlow" panose="00000800000000000000" pitchFamily="2" charset="0"/>
              </a:rPr>
              <a:t>Did customers pay the price we expected? Why or why not?</a:t>
            </a:r>
          </a:p>
        </p:txBody>
      </p:sp>
      <p:sp>
        <p:nvSpPr>
          <p:cNvPr id="151" name="TextBox 150">
            <a:extLst>
              <a:ext uri="{FF2B5EF4-FFF2-40B4-BE49-F238E27FC236}">
                <a16:creationId xmlns:a16="http://schemas.microsoft.com/office/drawing/2014/main" id="{57EDA9B1-7A7D-DC46-85AD-020525D3F1D1}"/>
              </a:ext>
            </a:extLst>
          </p:cNvPr>
          <p:cNvSpPr txBox="1"/>
          <p:nvPr/>
        </p:nvSpPr>
        <p:spPr>
          <a:xfrm>
            <a:off x="708403" y="7294893"/>
            <a:ext cx="7222042" cy="584775"/>
          </a:xfrm>
          <a:prstGeom prst="rect">
            <a:avLst/>
          </a:prstGeom>
          <a:noFill/>
        </p:spPr>
        <p:txBody>
          <a:bodyPr wrap="square" rtlCol="0">
            <a:spAutoFit/>
          </a:bodyPr>
          <a:lstStyle/>
          <a:p>
            <a:r>
              <a:rPr lang="en-GB" sz="1600" b="1" dirty="0">
                <a:latin typeface="Barlow" panose="00000800000000000000" pitchFamily="2" charset="0"/>
              </a:rPr>
              <a:t>Did customers come back to our product or show interest in doing so? Why or why not?</a:t>
            </a:r>
          </a:p>
        </p:txBody>
      </p:sp>
      <p:sp>
        <p:nvSpPr>
          <p:cNvPr id="152" name="TextBox 151">
            <a:extLst>
              <a:ext uri="{FF2B5EF4-FFF2-40B4-BE49-F238E27FC236}">
                <a16:creationId xmlns:a16="http://schemas.microsoft.com/office/drawing/2014/main" id="{CB6141DC-819C-2A45-B9F6-A119949D60F3}"/>
              </a:ext>
            </a:extLst>
          </p:cNvPr>
          <p:cNvSpPr txBox="1"/>
          <p:nvPr/>
        </p:nvSpPr>
        <p:spPr>
          <a:xfrm>
            <a:off x="652488" y="8865768"/>
            <a:ext cx="6321323" cy="584775"/>
          </a:xfrm>
          <a:prstGeom prst="rect">
            <a:avLst/>
          </a:prstGeom>
          <a:noFill/>
        </p:spPr>
        <p:txBody>
          <a:bodyPr wrap="square" rtlCol="0">
            <a:spAutoFit/>
          </a:bodyPr>
          <a:lstStyle/>
          <a:p>
            <a:r>
              <a:rPr lang="en-GB" sz="1600" b="1" dirty="0">
                <a:latin typeface="Barlow" panose="00000800000000000000" pitchFamily="2" charset="0"/>
              </a:rPr>
              <a:t>Did customers recommend our product to others or evangelize about it? Why or why not? </a:t>
            </a:r>
          </a:p>
        </p:txBody>
      </p:sp>
      <p:cxnSp>
        <p:nvCxnSpPr>
          <p:cNvPr id="153" name="Straight Connector 152"/>
          <p:cNvCxnSpPr/>
          <p:nvPr/>
        </p:nvCxnSpPr>
        <p:spPr>
          <a:xfrm flipV="1">
            <a:off x="714912" y="4762500"/>
            <a:ext cx="1643413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2461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5"/>
          <p:cNvSpPr txBox="1"/>
          <p:nvPr/>
        </p:nvSpPr>
        <p:spPr>
          <a:xfrm>
            <a:off x="204200" y="-13647"/>
            <a:ext cx="12338484" cy="1019574"/>
          </a:xfrm>
          <a:prstGeom prst="rect">
            <a:avLst/>
          </a:prstGeom>
        </p:spPr>
        <p:txBody>
          <a:bodyPr wrap="square" lIns="0" tIns="0" rIns="0" bIns="0" rtlCol="0" anchor="t">
            <a:spAutoFit/>
          </a:bodyPr>
          <a:lstStyle/>
          <a:p>
            <a:pPr>
              <a:lnSpc>
                <a:spcPts val="8747"/>
              </a:lnSpc>
            </a:pPr>
            <a:r>
              <a:rPr lang="en-US" sz="5400" b="1" dirty="0">
                <a:cs typeface="Times New Roman" panose="02020603050405020304" pitchFamily="18" charset="0"/>
              </a:rPr>
              <a:t>Team Composition</a:t>
            </a:r>
          </a:p>
        </p:txBody>
      </p:sp>
      <p:sp>
        <p:nvSpPr>
          <p:cNvPr id="37" name="Rectangle 36">
            <a:extLst>
              <a:ext uri="{FF2B5EF4-FFF2-40B4-BE49-F238E27FC236}">
                <a16:creationId xmlns:a16="http://schemas.microsoft.com/office/drawing/2014/main" id="{5DE34494-019C-4AF1-907B-33245967C575}"/>
              </a:ext>
            </a:extLst>
          </p:cNvPr>
          <p:cNvSpPr/>
          <p:nvPr/>
        </p:nvSpPr>
        <p:spPr>
          <a:xfrm>
            <a:off x="16120030" y="815582"/>
            <a:ext cx="1695221" cy="1288685"/>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solidFill>
              <a:schemeClr val="accent6"/>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45" name="Rectangle 44">
            <a:extLst>
              <a:ext uri="{FF2B5EF4-FFF2-40B4-BE49-F238E27FC236}">
                <a16:creationId xmlns:a16="http://schemas.microsoft.com/office/drawing/2014/main" id="{FE41B64D-B44D-44C6-BDBC-3EBF35934BD5}"/>
              </a:ext>
            </a:extLst>
          </p:cNvPr>
          <p:cNvSpPr/>
          <p:nvPr/>
        </p:nvSpPr>
        <p:spPr>
          <a:xfrm>
            <a:off x="533400" y="2633248"/>
            <a:ext cx="2085259" cy="214752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w="25400" cap="flat" cmpd="sng" algn="ctr">
            <a:solidFill>
              <a:schemeClr val="accent6"/>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ZA" sz="105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6" name="Rectangle 45">
            <a:extLst>
              <a:ext uri="{FF2B5EF4-FFF2-40B4-BE49-F238E27FC236}">
                <a16:creationId xmlns:a16="http://schemas.microsoft.com/office/drawing/2014/main" id="{56942A5F-346B-4A9B-8B0F-4CA8E26F5936}"/>
              </a:ext>
            </a:extLst>
          </p:cNvPr>
          <p:cNvSpPr/>
          <p:nvPr/>
        </p:nvSpPr>
        <p:spPr>
          <a:xfrm>
            <a:off x="4267200" y="2653060"/>
            <a:ext cx="1676400" cy="2126692"/>
          </a:xfrm>
          <a:prstGeom prst="rect">
            <a:avLst/>
          </a:prstGeom>
          <a:blipFill dpi="0" rotWithShape="1">
            <a:blip r:embed="rId4" cstate="print">
              <a:extLst>
                <a:ext uri="{28A0092B-C50C-407E-A947-70E740481C1C}">
                  <a14:useLocalDpi xmlns:a14="http://schemas.microsoft.com/office/drawing/2010/main" val="0"/>
                </a:ext>
              </a:extLst>
            </a:blip>
            <a:srcRect/>
            <a:stretch>
              <a:fillRect/>
            </a:stretch>
          </a:blipFill>
          <a:ln w="25400" cap="flat" cmpd="sng" algn="ctr">
            <a:solidFill>
              <a:schemeClr val="accent6"/>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ZA" sz="105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8" name="Rectangle 47">
            <a:extLst>
              <a:ext uri="{FF2B5EF4-FFF2-40B4-BE49-F238E27FC236}">
                <a16:creationId xmlns:a16="http://schemas.microsoft.com/office/drawing/2014/main" id="{0EA7884A-0608-4E8F-AEEB-438C18DE1534}"/>
              </a:ext>
            </a:extLst>
          </p:cNvPr>
          <p:cNvSpPr/>
          <p:nvPr/>
        </p:nvSpPr>
        <p:spPr>
          <a:xfrm>
            <a:off x="7620000" y="2565628"/>
            <a:ext cx="1752600" cy="2370738"/>
          </a:xfrm>
          <a:prstGeom prst="rect">
            <a:avLst/>
          </a:prstGeom>
          <a:blipFill dpi="0" rotWithShape="1">
            <a:blip r:embed="rId5" cstate="print">
              <a:extLst>
                <a:ext uri="{28A0092B-C50C-407E-A947-70E740481C1C}">
                  <a14:useLocalDpi xmlns:a14="http://schemas.microsoft.com/office/drawing/2010/main" val="0"/>
                </a:ext>
              </a:extLst>
            </a:blip>
            <a:srcRect/>
            <a:stretch>
              <a:fillRect/>
            </a:stretch>
          </a:blipFill>
          <a:ln w="25400" cap="flat" cmpd="sng" algn="ctr">
            <a:solidFill>
              <a:schemeClr val="accent6"/>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ZA" sz="105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7" name="Rectangle 6"/>
          <p:cNvSpPr/>
          <p:nvPr/>
        </p:nvSpPr>
        <p:spPr>
          <a:xfrm>
            <a:off x="758428" y="2098215"/>
            <a:ext cx="1162947" cy="369332"/>
          </a:xfrm>
          <a:prstGeom prst="rect">
            <a:avLst/>
          </a:prstGeom>
        </p:spPr>
        <p:txBody>
          <a:bodyPr wrap="none">
            <a:spAutoFit/>
          </a:bodyPr>
          <a:lstStyle/>
          <a:p>
            <a:r>
              <a:rPr lang="en-US" dirty="0"/>
              <a:t>JAYANTH S</a:t>
            </a:r>
          </a:p>
        </p:txBody>
      </p:sp>
      <p:sp>
        <p:nvSpPr>
          <p:cNvPr id="24" name="Rectangle 23"/>
          <p:cNvSpPr/>
          <p:nvPr/>
        </p:nvSpPr>
        <p:spPr>
          <a:xfrm>
            <a:off x="4422856" y="2098215"/>
            <a:ext cx="2052535" cy="369332"/>
          </a:xfrm>
          <a:prstGeom prst="rect">
            <a:avLst/>
          </a:prstGeom>
        </p:spPr>
        <p:txBody>
          <a:bodyPr wrap="square">
            <a:spAutoFit/>
          </a:bodyPr>
          <a:lstStyle/>
          <a:p>
            <a:r>
              <a:rPr lang="en-US" dirty="0"/>
              <a:t>ADITHYA V</a:t>
            </a:r>
          </a:p>
        </p:txBody>
      </p:sp>
      <p:sp>
        <p:nvSpPr>
          <p:cNvPr id="25" name="Rectangle 24"/>
          <p:cNvSpPr/>
          <p:nvPr/>
        </p:nvSpPr>
        <p:spPr>
          <a:xfrm>
            <a:off x="7059549" y="2058047"/>
            <a:ext cx="2389251" cy="369332"/>
          </a:xfrm>
          <a:prstGeom prst="rect">
            <a:avLst/>
          </a:prstGeom>
        </p:spPr>
        <p:txBody>
          <a:bodyPr wrap="square">
            <a:spAutoFit/>
          </a:bodyPr>
          <a:lstStyle/>
          <a:p>
            <a:pPr algn="ctr"/>
            <a:r>
              <a:rPr lang="en-US" dirty="0"/>
              <a:t>DARSHAN GOWDA M </a:t>
            </a:r>
          </a:p>
        </p:txBody>
      </p:sp>
      <p:sp>
        <p:nvSpPr>
          <p:cNvPr id="8" name="Rectangle 7"/>
          <p:cNvSpPr/>
          <p:nvPr/>
        </p:nvSpPr>
        <p:spPr>
          <a:xfrm>
            <a:off x="1302836" y="5121768"/>
            <a:ext cx="569002" cy="369332"/>
          </a:xfrm>
          <a:prstGeom prst="rect">
            <a:avLst/>
          </a:prstGeom>
          <a:ln>
            <a:solidFill>
              <a:schemeClr val="tx1"/>
            </a:solidFill>
          </a:ln>
        </p:spPr>
        <p:txBody>
          <a:bodyPr wrap="none">
            <a:spAutoFit/>
          </a:bodyPr>
          <a:lstStyle/>
          <a:p>
            <a:pPr algn="ctr"/>
            <a:r>
              <a:rPr lang="en-US" dirty="0"/>
              <a:t>CEO</a:t>
            </a:r>
          </a:p>
        </p:txBody>
      </p:sp>
      <p:sp>
        <p:nvSpPr>
          <p:cNvPr id="29" name="Rectangle 28"/>
          <p:cNvSpPr/>
          <p:nvPr/>
        </p:nvSpPr>
        <p:spPr>
          <a:xfrm>
            <a:off x="4299342" y="5160608"/>
            <a:ext cx="1568058" cy="369332"/>
          </a:xfrm>
          <a:prstGeom prst="rect">
            <a:avLst/>
          </a:prstGeom>
          <a:ln>
            <a:solidFill>
              <a:schemeClr val="tx1"/>
            </a:solidFill>
          </a:ln>
        </p:spPr>
        <p:txBody>
          <a:bodyPr wrap="none">
            <a:spAutoFit/>
          </a:bodyPr>
          <a:lstStyle/>
          <a:p>
            <a:r>
              <a:rPr lang="en-US" dirty="0"/>
              <a:t>Technical head</a:t>
            </a:r>
          </a:p>
        </p:txBody>
      </p:sp>
      <p:sp>
        <p:nvSpPr>
          <p:cNvPr id="30" name="Rectangle 29"/>
          <p:cNvSpPr/>
          <p:nvPr/>
        </p:nvSpPr>
        <p:spPr>
          <a:xfrm>
            <a:off x="7162800" y="5149464"/>
            <a:ext cx="2862643" cy="369332"/>
          </a:xfrm>
          <a:prstGeom prst="rect">
            <a:avLst/>
          </a:prstGeom>
          <a:ln>
            <a:solidFill>
              <a:schemeClr val="tx1"/>
            </a:solidFill>
          </a:ln>
        </p:spPr>
        <p:txBody>
          <a:bodyPr wrap="none">
            <a:spAutoFit/>
          </a:bodyPr>
          <a:lstStyle/>
          <a:p>
            <a:pPr algn="ctr"/>
            <a:r>
              <a:rPr lang="en-US" dirty="0"/>
              <a:t>Finance and marketing Head</a:t>
            </a:r>
          </a:p>
        </p:txBody>
      </p:sp>
      <p:sp>
        <p:nvSpPr>
          <p:cNvPr id="31" name="Rectangle 30"/>
          <p:cNvSpPr/>
          <p:nvPr/>
        </p:nvSpPr>
        <p:spPr>
          <a:xfrm>
            <a:off x="204200" y="6515100"/>
            <a:ext cx="2884997" cy="2585323"/>
          </a:xfrm>
          <a:prstGeom prst="rect">
            <a:avLst/>
          </a:prstGeom>
          <a:ln>
            <a:solidFill>
              <a:schemeClr val="tx1"/>
            </a:solidFill>
          </a:ln>
        </p:spPr>
        <p:txBody>
          <a:bodyPr wrap="square">
            <a:spAutoFit/>
          </a:bodyPr>
          <a:lstStyle/>
          <a:p>
            <a:r>
              <a:rPr lang="en-US" dirty="0"/>
              <a:t>Key Strengths and abilities </a:t>
            </a:r>
          </a:p>
          <a:p>
            <a:endParaRPr lang="en-US" dirty="0"/>
          </a:p>
          <a:p>
            <a:r>
              <a:rPr lang="en-US" dirty="0"/>
              <a:t>-Leadership and decision making</a:t>
            </a:r>
          </a:p>
          <a:p>
            <a:r>
              <a:rPr lang="en-US" dirty="0"/>
              <a:t>-Problem-solving ability</a:t>
            </a:r>
          </a:p>
          <a:p>
            <a:r>
              <a:rPr lang="en-US" dirty="0"/>
              <a:t>-Managing team and Planning</a:t>
            </a:r>
          </a:p>
          <a:p>
            <a:endParaRPr lang="en-US" dirty="0"/>
          </a:p>
          <a:p>
            <a:endParaRPr lang="en-US" dirty="0"/>
          </a:p>
        </p:txBody>
      </p:sp>
      <p:sp>
        <p:nvSpPr>
          <p:cNvPr id="32" name="Rectangle 31"/>
          <p:cNvSpPr/>
          <p:nvPr/>
        </p:nvSpPr>
        <p:spPr>
          <a:xfrm>
            <a:off x="3784372" y="6515100"/>
            <a:ext cx="2845028" cy="2585323"/>
          </a:xfrm>
          <a:prstGeom prst="rect">
            <a:avLst/>
          </a:prstGeom>
          <a:ln>
            <a:solidFill>
              <a:schemeClr val="tx1"/>
            </a:solidFill>
          </a:ln>
        </p:spPr>
        <p:txBody>
          <a:bodyPr wrap="square">
            <a:spAutoFit/>
          </a:bodyPr>
          <a:lstStyle/>
          <a:p>
            <a:r>
              <a:rPr lang="en-US" dirty="0"/>
              <a:t>Key Strengths and abilities </a:t>
            </a:r>
          </a:p>
          <a:p>
            <a:endParaRPr lang="en-US" dirty="0"/>
          </a:p>
          <a:p>
            <a:r>
              <a:rPr lang="en-US" dirty="0"/>
              <a:t>-Technical knowledge</a:t>
            </a:r>
          </a:p>
          <a:p>
            <a:r>
              <a:rPr lang="en-US" dirty="0"/>
              <a:t>-Innovation and creativity</a:t>
            </a:r>
          </a:p>
          <a:p>
            <a:r>
              <a:rPr lang="en-US" dirty="0"/>
              <a:t>-ensuring system works properly</a:t>
            </a:r>
          </a:p>
          <a:p>
            <a:endParaRPr lang="en-US" dirty="0"/>
          </a:p>
          <a:p>
            <a:endParaRPr lang="en-US" dirty="0"/>
          </a:p>
          <a:p>
            <a:endParaRPr lang="en-US" dirty="0"/>
          </a:p>
        </p:txBody>
      </p:sp>
      <p:sp>
        <p:nvSpPr>
          <p:cNvPr id="33" name="Rectangle 32"/>
          <p:cNvSpPr/>
          <p:nvPr/>
        </p:nvSpPr>
        <p:spPr>
          <a:xfrm>
            <a:off x="7286865" y="6535299"/>
            <a:ext cx="2628546" cy="2585323"/>
          </a:xfrm>
          <a:prstGeom prst="rect">
            <a:avLst/>
          </a:prstGeom>
          <a:ln>
            <a:solidFill>
              <a:schemeClr val="tx1"/>
            </a:solidFill>
          </a:ln>
        </p:spPr>
        <p:txBody>
          <a:bodyPr wrap="square">
            <a:spAutoFit/>
          </a:bodyPr>
          <a:lstStyle/>
          <a:p>
            <a:r>
              <a:rPr lang="en-US" dirty="0"/>
              <a:t>Key Strengths and abilities </a:t>
            </a:r>
          </a:p>
          <a:p>
            <a:endParaRPr lang="en-US" dirty="0"/>
          </a:p>
          <a:p>
            <a:r>
              <a:rPr lang="en-US" dirty="0"/>
              <a:t>-Understanding customer needs</a:t>
            </a:r>
          </a:p>
          <a:p>
            <a:r>
              <a:rPr lang="en-US" dirty="0"/>
              <a:t>-Pricing and Profit skills</a:t>
            </a:r>
          </a:p>
          <a:p>
            <a:r>
              <a:rPr lang="en-US" dirty="0"/>
              <a:t>-selling and communication skills</a:t>
            </a:r>
          </a:p>
          <a:p>
            <a:endParaRPr lang="en-US" dirty="0"/>
          </a:p>
          <a:p>
            <a:endParaRPr lang="en-US" dirty="0"/>
          </a:p>
        </p:txBody>
      </p:sp>
      <p:sp>
        <p:nvSpPr>
          <p:cNvPr id="15" name="Rectangle 14"/>
          <p:cNvSpPr/>
          <p:nvPr/>
        </p:nvSpPr>
        <p:spPr>
          <a:xfrm>
            <a:off x="10696364" y="3592685"/>
            <a:ext cx="6942926" cy="1749197"/>
          </a:xfrm>
          <a:prstGeom prst="rect">
            <a:avLst/>
          </a:prstGeom>
          <a:ln>
            <a:solidFill>
              <a:schemeClr val="tx1"/>
            </a:solidFill>
          </a:ln>
        </p:spPr>
        <p:txBody>
          <a:bodyPr wrap="none">
            <a:spAutoFit/>
          </a:bodyPr>
          <a:lstStyle/>
          <a:p>
            <a:pPr>
              <a:lnSpc>
                <a:spcPct val="90000"/>
              </a:lnSpc>
              <a:spcBef>
                <a:spcPts val="750"/>
              </a:spcBef>
              <a:buClr>
                <a:srgbClr val="000000"/>
              </a:buClr>
              <a:buFont typeface="Arial"/>
              <a:buNone/>
            </a:pPr>
            <a:r>
              <a:rPr lang="en-GB" b="1" kern="0" dirty="0">
                <a:solidFill>
                  <a:srgbClr val="000000"/>
                </a:solidFill>
                <a:latin typeface="Arial"/>
                <a:ea typeface="+mn-lt"/>
                <a:cs typeface="Arial"/>
                <a:sym typeface="Arial"/>
              </a:rPr>
              <a:t>What makes us a good team to solve the problem we chose?</a:t>
            </a:r>
          </a:p>
          <a:p>
            <a:pPr marL="285750" indent="-285750">
              <a:lnSpc>
                <a:spcPct val="90000"/>
              </a:lnSpc>
              <a:spcBef>
                <a:spcPts val="750"/>
              </a:spcBef>
              <a:buClr>
                <a:srgbClr val="000000"/>
              </a:buClr>
              <a:buFont typeface="Wingdings" panose="05000000000000000000" pitchFamily="2" charset="2"/>
              <a:buChar char="n"/>
            </a:pPr>
            <a:r>
              <a:rPr lang="en-GB" b="1" kern="0" dirty="0">
                <a:solidFill>
                  <a:srgbClr val="000000"/>
                </a:solidFill>
                <a:latin typeface="Arial"/>
                <a:ea typeface="+mn-lt"/>
                <a:cs typeface="Arial"/>
                <a:sym typeface="Arial"/>
              </a:rPr>
              <a:t>Our team has a good combination of skills ,teamwork and </a:t>
            </a:r>
          </a:p>
          <a:p>
            <a:pPr>
              <a:lnSpc>
                <a:spcPct val="90000"/>
              </a:lnSpc>
              <a:spcBef>
                <a:spcPts val="750"/>
              </a:spcBef>
              <a:buClr>
                <a:srgbClr val="000000"/>
              </a:buClr>
            </a:pPr>
            <a:r>
              <a:rPr lang="en-GB" b="1" kern="0" dirty="0">
                <a:solidFill>
                  <a:srgbClr val="000000"/>
                </a:solidFill>
                <a:latin typeface="Arial"/>
                <a:ea typeface="+mn-lt"/>
                <a:cs typeface="Arial"/>
                <a:sym typeface="Arial"/>
              </a:rPr>
              <a:t>Communication, which helps us to solve problems effectively</a:t>
            </a:r>
          </a:p>
          <a:p>
            <a:pPr>
              <a:lnSpc>
                <a:spcPct val="90000"/>
              </a:lnSpc>
              <a:spcBef>
                <a:spcPts val="750"/>
              </a:spcBef>
              <a:buClr>
                <a:srgbClr val="000000"/>
              </a:buClr>
              <a:buFont typeface="Arial"/>
              <a:buNone/>
            </a:pPr>
            <a:endParaRPr lang="en-GB" b="1" kern="0" dirty="0">
              <a:solidFill>
                <a:srgbClr val="000000"/>
              </a:solidFill>
              <a:latin typeface="Arial"/>
              <a:ea typeface="+mn-lt"/>
              <a:cs typeface="Arial"/>
              <a:sym typeface="Arial"/>
            </a:endParaRPr>
          </a:p>
          <a:p>
            <a:pPr>
              <a:lnSpc>
                <a:spcPct val="90000"/>
              </a:lnSpc>
              <a:spcBef>
                <a:spcPts val="750"/>
              </a:spcBef>
              <a:buClr>
                <a:srgbClr val="000000"/>
              </a:buClr>
              <a:buFont typeface="Arial"/>
              <a:buNone/>
            </a:pPr>
            <a:endParaRPr lang="en-GB" kern="0" dirty="0">
              <a:solidFill>
                <a:srgbClr val="000000"/>
              </a:solidFill>
              <a:latin typeface="Arial"/>
              <a:ea typeface="+mn-lt"/>
              <a:cs typeface="Arial"/>
              <a:sym typeface="Arial"/>
            </a:endParaRPr>
          </a:p>
        </p:txBody>
      </p:sp>
    </p:spTree>
    <p:extLst>
      <p:ext uri="{BB962C8B-B14F-4D97-AF65-F5344CB8AC3E}">
        <p14:creationId xmlns:p14="http://schemas.microsoft.com/office/powerpoint/2010/main" val="3057889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0" y="19380"/>
            <a:ext cx="18310194" cy="10287000"/>
          </a:xfrm>
          <a:prstGeom prst="rect">
            <a:avLst/>
          </a:prstGeom>
        </p:spPr>
      </p:pic>
      <p:pic>
        <p:nvPicPr>
          <p:cNvPr id="4" name="Picture 4"/>
          <p:cNvPicPr>
            <a:picLocks noChangeAspect="1"/>
          </p:cNvPicPr>
          <p:nvPr/>
        </p:nvPicPr>
        <p:blipFill>
          <a:blip r:embed="rId4"/>
          <a:srcRect/>
          <a:stretch>
            <a:fillRect/>
          </a:stretch>
        </p:blipFill>
        <p:spPr>
          <a:xfrm>
            <a:off x="15544800" y="419100"/>
            <a:ext cx="2278599" cy="1131276"/>
          </a:xfrm>
          <a:prstGeom prst="rect">
            <a:avLst/>
          </a:prstGeom>
        </p:spPr>
      </p:pic>
      <p:sp>
        <p:nvSpPr>
          <p:cNvPr id="6" name="TextBox 6"/>
          <p:cNvSpPr txBox="1"/>
          <p:nvPr/>
        </p:nvSpPr>
        <p:spPr>
          <a:xfrm>
            <a:off x="3581400" y="3898619"/>
            <a:ext cx="9147307" cy="3847207"/>
          </a:xfrm>
          <a:prstGeom prst="rect">
            <a:avLst/>
          </a:prstGeom>
        </p:spPr>
        <p:txBody>
          <a:bodyPr lIns="0" tIns="0" rIns="0" bIns="0" rtlCol="0" anchor="t">
            <a:spAutoFit/>
          </a:bodyPr>
          <a:lstStyle/>
          <a:p>
            <a:pPr algn="ctr">
              <a:lnSpc>
                <a:spcPts val="15000"/>
              </a:lnSpc>
            </a:pPr>
            <a:r>
              <a:rPr lang="en-US" sz="15000" dirty="0">
                <a:solidFill>
                  <a:srgbClr val="FFFFFF"/>
                </a:solidFill>
                <a:latin typeface="Agrandir Wide Black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8884</TotalTime>
  <Words>2211</Words>
  <Application>Microsoft Office PowerPoint</Application>
  <PresentationFormat>Custom</PresentationFormat>
  <Paragraphs>418</Paragraphs>
  <Slides>14</Slides>
  <Notes>3</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14</vt:i4>
      </vt:variant>
    </vt:vector>
  </HeadingPairs>
  <TitlesOfParts>
    <vt:vector size="29" baseType="lpstr">
      <vt:lpstr>Wingdings</vt:lpstr>
      <vt:lpstr>Avenir</vt:lpstr>
      <vt:lpstr>charter</vt:lpstr>
      <vt:lpstr>Montserrat</vt:lpstr>
      <vt:lpstr>Raleway</vt:lpstr>
      <vt:lpstr>Calibri</vt:lpstr>
      <vt:lpstr>Arial</vt:lpstr>
      <vt:lpstr>Verdana</vt:lpstr>
      <vt:lpstr>Times New Roman</vt:lpstr>
      <vt:lpstr>Agrandir Wide Black Bold</vt:lpstr>
      <vt:lpstr>Antonio Bold</vt:lpstr>
      <vt:lpstr>Gill Sans</vt:lpstr>
      <vt:lpstr>Lexend Deca</vt:lpstr>
      <vt:lpstr>Barlow</vt:lpstr>
      <vt:lpstr>Office Theme</vt:lpstr>
      <vt:lpstr>PowerPoint Presentation</vt:lpstr>
      <vt:lpstr>PowerPoint Presentation</vt:lpstr>
      <vt:lpstr>Problem/Opportunity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MVP</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Next-Gen 2021: Global Program Overview Editable Deck</dc:title>
  <dc:creator>R.Sujatha</dc:creator>
  <cp:lastModifiedBy>Adithya Vijay</cp:lastModifiedBy>
  <cp:revision>239</cp:revision>
  <dcterms:created xsi:type="dcterms:W3CDTF">2006-08-16T00:00:00Z</dcterms:created>
  <dcterms:modified xsi:type="dcterms:W3CDTF">2026-06-03T10:28:33Z</dcterms:modified>
  <dc:identifier>DAEgz1I4riU</dc:identifier>
</cp:coreProperties>
</file>